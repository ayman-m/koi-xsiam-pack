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for an operator, not a content developer. Every test names the tenant-side setup it needs before it can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by dependency, not just by order, so a tester who is blocked on one prerequisite can still make progress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Egress is the single most common deployment problem and it is not obvious from the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 one thing testers misread as a duplication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state-changing action in the pack. Treat this as the production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must run before Scan. An empty tracker means Scan has nothing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Fastest possible demo: no KOI key, no waiting, and the expected numbers are printed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77824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Twelve tests that prove every part of the pack — with the tenant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Pack 1.5.0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the pack</a:t>
            </a:r>
            <a:endParaRPr lang="en-US" sz="3100" dirty="0"/>
          </a:p>
        </p:txBody>
      </p:sp>
      <p:sp>
        <p:nvSpPr>
          <p:cNvPr id="4" name="Shape 2"/>
          <p:cNvSpPr/>
          <p:nvPr/>
        </p:nvSpPr>
        <p:spPr>
          <a:xfrm>
            <a:off x="548640" y="1371600"/>
            <a:ext cx="11064240" cy="585216"/>
          </a:xfrm>
          <a:prstGeom prst="roundRect">
            <a:avLst>
              <a:gd name="adj" fmla="val 7813"/>
            </a:avLst>
          </a:prstGeom>
          <a:solidFill>
            <a:srgbClr val="15171B"/>
          </a:solidFill>
          <a:ln w="12700">
            <a:solidFill>
              <a:srgbClr val="15171B"/>
            </a:solidFill>
            <a:prstDash val="solid"/>
          </a:ln>
        </p:spPr>
      </p:sp>
      <p:sp>
        <p:nvSpPr>
          <p:cNvPr id="5" name="Shape 3"/>
          <p:cNvSpPr/>
          <p:nvPr/>
        </p:nvSpPr>
        <p:spPr>
          <a:xfrm>
            <a:off x="786384" y="1517904"/>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517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463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integration</a:t>
            </a:r>
            <a:endParaRPr lang="en-US" sz="1200" dirty="0"/>
          </a:p>
        </p:txBody>
      </p:sp>
      <p:sp>
        <p:nvSpPr>
          <p:cNvPr id="8" name="Text 6"/>
          <p:cNvSpPr/>
          <p:nvPr/>
        </p:nvSpPr>
        <p:spPr>
          <a:xfrm>
            <a:off x="4754880" y="1481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Event collector plus 26 commands — devices, inventory, catalog risk, governance.</a:t>
            </a:r>
            <a:endParaRPr lang="en-US" sz="1050" dirty="0"/>
          </a:p>
        </p:txBody>
      </p:sp>
      <p:sp>
        <p:nvSpPr>
          <p:cNvPr id="9" name="Shape 7"/>
          <p:cNvSpPr/>
          <p:nvPr/>
        </p:nvSpPr>
        <p:spPr>
          <a:xfrm>
            <a:off x="548640" y="2057400"/>
            <a:ext cx="11064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86384" y="2203704"/>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203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148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13" name="Text 11"/>
          <p:cNvSpPr/>
          <p:nvPr/>
        </p:nvSpPr>
        <p:spPr>
          <a:xfrm>
            <a:off x="4754880" y="2167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a:t>
            </a:r>
            <a:endParaRPr lang="en-US" sz="1050" dirty="0"/>
          </a:p>
        </p:txBody>
      </p:sp>
      <p:sp>
        <p:nvSpPr>
          <p:cNvPr id="14" name="Shape 12"/>
          <p:cNvSpPr/>
          <p:nvPr/>
        </p:nvSpPr>
        <p:spPr>
          <a:xfrm>
            <a:off x="548640" y="2743200"/>
            <a:ext cx="11064240" cy="585216"/>
          </a:xfrm>
          <a:prstGeom prst="roundRect">
            <a:avLst>
              <a:gd name="adj" fmla="val 7813"/>
            </a:avLst>
          </a:prstGeom>
          <a:solidFill>
            <a:srgbClr val="15171B"/>
          </a:solidFill>
          <a:ln w="12700">
            <a:solidFill>
              <a:srgbClr val="15171B"/>
            </a:solidFill>
            <a:prstDash val="solid"/>
          </a:ln>
        </p:spPr>
      </p:sp>
      <p:sp>
        <p:nvSpPr>
          <p:cNvPr id="15" name="Shape 13"/>
          <p:cNvSpPr/>
          <p:nvPr/>
        </p:nvSpPr>
        <p:spPr>
          <a:xfrm>
            <a:off x="786384" y="2889504"/>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28895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28346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8" name="Text 16"/>
          <p:cNvSpPr/>
          <p:nvPr/>
        </p:nvSpPr>
        <p:spPr>
          <a:xfrm>
            <a:off x="4754880" y="28529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9" name="Shape 17"/>
          <p:cNvSpPr/>
          <p:nvPr/>
        </p:nvSpPr>
        <p:spPr>
          <a:xfrm>
            <a:off x="548640" y="3429000"/>
            <a:ext cx="11064240" cy="585216"/>
          </a:xfrm>
          <a:prstGeom prst="roundRect">
            <a:avLst>
              <a:gd name="adj" fmla="val 7813"/>
            </a:avLst>
          </a:prstGeom>
          <a:solidFill>
            <a:srgbClr val="15171B"/>
          </a:solidFill>
          <a:ln w="12700">
            <a:solidFill>
              <a:srgbClr val="15171B"/>
            </a:solidFill>
            <a:prstDash val="solid"/>
          </a:ln>
        </p:spPr>
      </p:sp>
      <p:sp>
        <p:nvSpPr>
          <p:cNvPr id="20" name="Shape 18"/>
          <p:cNvSpPr/>
          <p:nvPr/>
        </p:nvSpPr>
        <p:spPr>
          <a:xfrm>
            <a:off x="786384" y="3575304"/>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5753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5204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754880" y="35387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 playbooks: triage, item and device investigation, gated response, MCP hunt.</a:t>
            </a:r>
            <a:endParaRPr lang="en-US" sz="1050" dirty="0"/>
          </a:p>
        </p:txBody>
      </p:sp>
      <p:sp>
        <p:nvSpPr>
          <p:cNvPr id="24" name="Shape 22"/>
          <p:cNvSpPr/>
          <p:nvPr/>
        </p:nvSpPr>
        <p:spPr>
          <a:xfrm>
            <a:off x="548640" y="4114800"/>
            <a:ext cx="11064240" cy="585216"/>
          </a:xfrm>
          <a:prstGeom prst="roundRect">
            <a:avLst>
              <a:gd name="adj" fmla="val 7813"/>
            </a:avLst>
          </a:prstGeom>
          <a:solidFill>
            <a:srgbClr val="15171B"/>
          </a:solidFill>
          <a:ln w="12700">
            <a:solidFill>
              <a:srgbClr val="15171B"/>
            </a:solidFill>
            <a:prstDash val="solid"/>
          </a:ln>
        </p:spPr>
      </p:sp>
      <p:sp>
        <p:nvSpPr>
          <p:cNvPr id="25" name="Shape 23"/>
          <p:cNvSpPr/>
          <p:nvPr/>
        </p:nvSpPr>
        <p:spPr>
          <a:xfrm>
            <a:off x="786384" y="4261104"/>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261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2062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28" name="Text 26"/>
          <p:cNvSpPr/>
          <p:nvPr/>
        </p:nvSpPr>
        <p:spPr>
          <a:xfrm>
            <a:off x="4754880" y="42245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29" name="Shape 27"/>
          <p:cNvSpPr/>
          <p:nvPr/>
        </p:nvSpPr>
        <p:spPr>
          <a:xfrm>
            <a:off x="548640" y="4800600"/>
            <a:ext cx="11064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786384" y="4946904"/>
            <a:ext cx="292608" cy="292608"/>
          </a:xfrm>
          <a:prstGeom prst="roundRect">
            <a:avLst>
              <a:gd name="adj" fmla="val 28125"/>
            </a:avLst>
          </a:prstGeom>
          <a:solidFill>
            <a:srgbClr val="3FB950"/>
          </a:solidFill>
          <a:ln w="12700">
            <a:solidFill>
              <a:srgbClr val="3FB950"/>
            </a:solidFill>
            <a:prstDash val="solid"/>
          </a:ln>
        </p:spPr>
      </p:sp>
      <p:sp>
        <p:nvSpPr>
          <p:cNvPr id="31" name="Text 29"/>
          <p:cNvSpPr/>
          <p:nvPr/>
        </p:nvSpPr>
        <p:spPr>
          <a:xfrm>
            <a:off x="786384" y="4946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4892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XQL query library</a:t>
            </a:r>
            <a:endParaRPr lang="en-US" sz="1200" dirty="0"/>
          </a:p>
        </p:txBody>
      </p:sp>
      <p:sp>
        <p:nvSpPr>
          <p:cNvPr id="33" name="Text 31"/>
          <p:cNvSpPr/>
          <p:nvPr/>
        </p:nvSpPr>
        <p:spPr>
          <a:xfrm>
            <a:off x="4754880" y="4910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72 saved queries: 26 threat hunts and 46 detections.</a:t>
            </a:r>
            <a:endParaRPr lang="en-US" sz="1050" dirty="0"/>
          </a:p>
        </p:txBody>
      </p:sp>
      <p:sp>
        <p:nvSpPr>
          <p:cNvPr id="34" name="Shape 32"/>
          <p:cNvSpPr/>
          <p:nvPr/>
        </p:nvSpPr>
        <p:spPr>
          <a:xfrm>
            <a:off x="548640" y="5486400"/>
            <a:ext cx="11064240" cy="585216"/>
          </a:xfrm>
          <a:prstGeom prst="roundRect">
            <a:avLst>
              <a:gd name="adj" fmla="val 7813"/>
            </a:avLst>
          </a:prstGeom>
          <a:solidFill>
            <a:srgbClr val="15171B"/>
          </a:solidFill>
          <a:ln w="12700">
            <a:solidFill>
              <a:srgbClr val="15171B"/>
            </a:solidFill>
            <a:prstDash val="solid"/>
          </a:ln>
        </p:spPr>
      </p:sp>
      <p:sp>
        <p:nvSpPr>
          <p:cNvPr id="35" name="Shape 33"/>
          <p:cNvSpPr/>
          <p:nvPr/>
        </p:nvSpPr>
        <p:spPr>
          <a:xfrm>
            <a:off x="786384" y="5632704"/>
            <a:ext cx="292608" cy="292608"/>
          </a:xfrm>
          <a:prstGeom prst="roundRect">
            <a:avLst>
              <a:gd name="adj" fmla="val 28125"/>
            </a:avLst>
          </a:prstGeom>
          <a:solidFill>
            <a:srgbClr val="3FB950"/>
          </a:solidFill>
          <a:ln w="12700">
            <a:solidFill>
              <a:srgbClr val="3FB950"/>
            </a:solidFill>
            <a:prstDash val="solid"/>
          </a:ln>
        </p:spPr>
      </p:sp>
      <p:sp>
        <p:nvSpPr>
          <p:cNvPr id="36" name="Text 34"/>
          <p:cNvSpPr/>
          <p:nvPr/>
        </p:nvSpPr>
        <p:spPr>
          <a:xfrm>
            <a:off x="786384" y="5632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a:t>
            </a:r>
            <a:endParaRPr lang="en-US" sz="1300" dirty="0"/>
          </a:p>
        </p:txBody>
      </p:sp>
      <p:sp>
        <p:nvSpPr>
          <p:cNvPr id="37" name="Text 35"/>
          <p:cNvSpPr/>
          <p:nvPr/>
        </p:nvSpPr>
        <p:spPr>
          <a:xfrm>
            <a:off x="1243584" y="5577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Test tooling</a:t>
            </a:r>
            <a:endParaRPr lang="en-US" sz="1200" dirty="0"/>
          </a:p>
        </p:txBody>
      </p:sp>
      <p:sp>
        <p:nvSpPr>
          <p:cNvPr id="38" name="Text 36"/>
          <p:cNvSpPr/>
          <p:nvPr/>
        </p:nvSpPr>
        <p:spPr>
          <a:xfrm>
            <a:off x="4754880" y="5596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An event simulator, so you can test without waiting for real KOI activity.</a:t>
            </a:r>
            <a:endParaRPr lang="en-US" sz="1050" dirty="0"/>
          </a:p>
        </p:txBody>
      </p:sp>
      <p:sp>
        <p:nvSpPr>
          <p:cNvPr id="39" name="Text 37"/>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Every one of these is covered by a test in this guide.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 an integration instance, a List, a script in Action Center. If something here is missing the test cannot pass, and it will look like a product fault.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Commands to paste are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4 prove data is arriving and correct. Tests 5 to 8 prove the automation. Tests 9 and 10 prove fleet script execution — the only ones needing the Core REST API integration. Tests 11 and 12 are the query library and the simulator, and run any time. Nothing here needs a Cortex XDR integration: XSIAM is the XDR, and its XQL engine is built in.</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the pack depends on, and where to set it up</a:t>
            </a:r>
            <a:endParaRPr lang="en-US" sz="3100" dirty="0"/>
          </a:p>
        </p:txBody>
      </p:sp>
      <p:sp>
        <p:nvSpPr>
          <p:cNvPr id="4" name="Text 2"/>
          <p:cNvSpPr/>
          <p:nvPr/>
        </p:nvSpPr>
        <p:spPr>
          <a:xfrm>
            <a:off x="822960" y="132588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65760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58952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27632"/>
            <a:ext cx="11064240" cy="402336"/>
          </a:xfrm>
          <a:prstGeom prst="roundRect">
            <a:avLst>
              <a:gd name="adj" fmla="val 11364"/>
            </a:avLst>
          </a:prstGeom>
          <a:solidFill>
            <a:srgbClr val="15171B"/>
          </a:solidFill>
          <a:ln w="12700">
            <a:solidFill>
              <a:srgbClr val="15171B"/>
            </a:solidFill>
            <a:prstDash val="solid"/>
          </a:ln>
        </p:spPr>
      </p:sp>
      <p:sp>
        <p:nvSpPr>
          <p:cNvPr id="8" name="Text 6"/>
          <p:cNvSpPr/>
          <p:nvPr/>
        </p:nvSpPr>
        <p:spPr>
          <a:xfrm>
            <a:off x="822960" y="173736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9" name="Text 7"/>
          <p:cNvSpPr/>
          <p:nvPr/>
        </p:nvSpPr>
        <p:spPr>
          <a:xfrm>
            <a:off x="3657600" y="173736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0" name="Text 8"/>
          <p:cNvSpPr/>
          <p:nvPr/>
        </p:nvSpPr>
        <p:spPr>
          <a:xfrm>
            <a:off x="7589520" y="173736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1" name="Shape 9"/>
          <p:cNvSpPr/>
          <p:nvPr/>
        </p:nvSpPr>
        <p:spPr>
          <a:xfrm>
            <a:off x="548640" y="2093976"/>
            <a:ext cx="11064240" cy="402336"/>
          </a:xfrm>
          <a:prstGeom prst="roundRect">
            <a:avLst>
              <a:gd name="adj" fmla="val 11364"/>
            </a:avLst>
          </a:prstGeom>
          <a:solidFill>
            <a:srgbClr val="15171B"/>
          </a:solidFill>
          <a:ln w="12700">
            <a:solidFill>
              <a:srgbClr val="15171B"/>
            </a:solidFill>
            <a:prstDash val="solid"/>
          </a:ln>
        </p:spPr>
      </p:sp>
      <p:sp>
        <p:nvSpPr>
          <p:cNvPr id="12" name="Text 10"/>
          <p:cNvSpPr/>
          <p:nvPr/>
        </p:nvSpPr>
        <p:spPr>
          <a:xfrm>
            <a:off x="822960" y="220370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3" name="Text 11"/>
          <p:cNvSpPr/>
          <p:nvPr/>
        </p:nvSpPr>
        <p:spPr>
          <a:xfrm>
            <a:off x="3657600" y="22037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4" name="Text 12"/>
          <p:cNvSpPr/>
          <p:nvPr/>
        </p:nvSpPr>
        <p:spPr>
          <a:xfrm>
            <a:off x="7589520" y="220370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5" name="Shape 13"/>
          <p:cNvSpPr/>
          <p:nvPr/>
        </p:nvSpPr>
        <p:spPr>
          <a:xfrm>
            <a:off x="548640" y="2560320"/>
            <a:ext cx="11064240" cy="402336"/>
          </a:xfrm>
          <a:prstGeom prst="roundRect">
            <a:avLst>
              <a:gd name="adj" fmla="val 11364"/>
            </a:avLst>
          </a:prstGeom>
          <a:solidFill>
            <a:srgbClr val="15171B"/>
          </a:solidFill>
          <a:ln w="12700">
            <a:solidFill>
              <a:srgbClr val="15171B"/>
            </a:solidFill>
            <a:prstDash val="solid"/>
          </a:ln>
        </p:spPr>
      </p:sp>
      <p:sp>
        <p:nvSpPr>
          <p:cNvPr id="16" name="Text 14"/>
          <p:cNvSpPr/>
          <p:nvPr/>
        </p:nvSpPr>
        <p:spPr>
          <a:xfrm>
            <a:off x="822960" y="267004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17" name="Text 15"/>
          <p:cNvSpPr/>
          <p:nvPr/>
        </p:nvSpPr>
        <p:spPr>
          <a:xfrm>
            <a:off x="3657600" y="267004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18" name="Text 16"/>
          <p:cNvSpPr/>
          <p:nvPr/>
        </p:nvSpPr>
        <p:spPr>
          <a:xfrm>
            <a:off x="7589520" y="2670048"/>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1-8, 11</a:t>
            </a:r>
            <a:endParaRPr lang="en-US" sz="1000" dirty="0"/>
          </a:p>
        </p:txBody>
      </p:sp>
      <p:sp>
        <p:nvSpPr>
          <p:cNvPr id="19" name="Shape 17"/>
          <p:cNvSpPr/>
          <p:nvPr/>
        </p:nvSpPr>
        <p:spPr>
          <a:xfrm>
            <a:off x="548640" y="3026664"/>
            <a:ext cx="11064240" cy="402336"/>
          </a:xfrm>
          <a:prstGeom prst="roundRect">
            <a:avLst>
              <a:gd name="adj" fmla="val 11364"/>
            </a:avLst>
          </a:prstGeom>
          <a:solidFill>
            <a:srgbClr val="15171B"/>
          </a:solidFill>
          <a:ln w="12700">
            <a:solidFill>
              <a:srgbClr val="15171B"/>
            </a:solidFill>
            <a:prstDash val="solid"/>
          </a:ln>
        </p:spPr>
      </p:sp>
      <p:sp>
        <p:nvSpPr>
          <p:cNvPr id="20" name="Text 18"/>
          <p:cNvSpPr/>
          <p:nvPr/>
        </p:nvSpPr>
        <p:spPr>
          <a:xfrm>
            <a:off x="822960" y="3136392"/>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1" name="Text 19"/>
          <p:cNvSpPr/>
          <p:nvPr/>
        </p:nvSpPr>
        <p:spPr>
          <a:xfrm>
            <a:off x="3657600" y="313639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2" name="Text 20"/>
          <p:cNvSpPr/>
          <p:nvPr/>
        </p:nvSpPr>
        <p:spPr>
          <a:xfrm>
            <a:off x="7589520" y="3136392"/>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9-10 only</a:t>
            </a:r>
            <a:endParaRPr lang="en-US" sz="1000" dirty="0"/>
          </a:p>
        </p:txBody>
      </p:sp>
      <p:sp>
        <p:nvSpPr>
          <p:cNvPr id="23" name="Shape 21"/>
          <p:cNvSpPr/>
          <p:nvPr/>
        </p:nvSpPr>
        <p:spPr>
          <a:xfrm>
            <a:off x="548640" y="3493008"/>
            <a:ext cx="11064240" cy="402336"/>
          </a:xfrm>
          <a:prstGeom prst="roundRect">
            <a:avLst>
              <a:gd name="adj" fmla="val 11364"/>
            </a:avLst>
          </a:prstGeom>
          <a:solidFill>
            <a:srgbClr val="15171B"/>
          </a:solidFill>
          <a:ln w="12700">
            <a:solidFill>
              <a:srgbClr val="15171B"/>
            </a:solidFill>
            <a:prstDash val="solid"/>
          </a:ln>
        </p:spPr>
      </p:sp>
      <p:sp>
        <p:nvSpPr>
          <p:cNvPr id="24" name="Text 22"/>
          <p:cNvSpPr/>
          <p:nvPr/>
        </p:nvSpPr>
        <p:spPr>
          <a:xfrm>
            <a:off x="822960" y="3602736"/>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5" name="Text 23"/>
          <p:cNvSpPr/>
          <p:nvPr/>
        </p:nvSpPr>
        <p:spPr>
          <a:xfrm>
            <a:off x="3657600" y="360273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26" name="Text 24"/>
          <p:cNvSpPr/>
          <p:nvPr/>
        </p:nvSpPr>
        <p:spPr>
          <a:xfrm>
            <a:off x="7589520" y="3602736"/>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27" name="Shape 25"/>
          <p:cNvSpPr/>
          <p:nvPr/>
        </p:nvSpPr>
        <p:spPr>
          <a:xfrm>
            <a:off x="548640" y="3959352"/>
            <a:ext cx="11064240" cy="402336"/>
          </a:xfrm>
          <a:prstGeom prst="roundRect">
            <a:avLst>
              <a:gd name="adj" fmla="val 11364"/>
            </a:avLst>
          </a:prstGeom>
          <a:solidFill>
            <a:srgbClr val="15171B"/>
          </a:solidFill>
          <a:ln w="12700">
            <a:solidFill>
              <a:srgbClr val="15171B"/>
            </a:solidFill>
            <a:prstDash val="solid"/>
          </a:ln>
        </p:spPr>
      </p:sp>
      <p:sp>
        <p:nvSpPr>
          <p:cNvPr id="28" name="Text 26"/>
          <p:cNvSpPr/>
          <p:nvPr/>
        </p:nvSpPr>
        <p:spPr>
          <a:xfrm>
            <a:off x="822960" y="406908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29" name="Text 27"/>
          <p:cNvSpPr/>
          <p:nvPr/>
        </p:nvSpPr>
        <p:spPr>
          <a:xfrm>
            <a:off x="3657600" y="40690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Tag the agents, then Endpoints → Endpoint Groups → dynamic</a:t>
            </a:r>
            <a:endParaRPr lang="en-US" sz="1000" dirty="0"/>
          </a:p>
        </p:txBody>
      </p:sp>
      <p:sp>
        <p:nvSpPr>
          <p:cNvPr id="30" name="Text 28"/>
          <p:cNvSpPr/>
          <p:nvPr/>
        </p:nvSpPr>
        <p:spPr>
          <a:xfrm>
            <a:off x="7589520" y="406908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1" name="Shape 29"/>
          <p:cNvSpPr/>
          <p:nvPr/>
        </p:nvSpPr>
        <p:spPr>
          <a:xfrm>
            <a:off x="548640" y="4425696"/>
            <a:ext cx="11064240" cy="402336"/>
          </a:xfrm>
          <a:prstGeom prst="roundRect">
            <a:avLst>
              <a:gd name="adj" fmla="val 11364"/>
            </a:avLst>
          </a:prstGeom>
          <a:solidFill>
            <a:srgbClr val="15171B"/>
          </a:solidFill>
          <a:ln w="12700">
            <a:solidFill>
              <a:srgbClr val="15171B"/>
            </a:solidFill>
            <a:prstDash val="solid"/>
          </a:ln>
        </p:spPr>
      </p:sp>
      <p:sp>
        <p:nvSpPr>
          <p:cNvPr id="32" name="Text 30"/>
          <p:cNvSpPr/>
          <p:nvPr/>
        </p:nvSpPr>
        <p:spPr>
          <a:xfrm>
            <a:off x="822960" y="453542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3" name="Text 31"/>
          <p:cNvSpPr/>
          <p:nvPr/>
        </p:nvSpPr>
        <p:spPr>
          <a:xfrm>
            <a:off x="3657600" y="453542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4" name="Text 32"/>
          <p:cNvSpPr/>
          <p:nvPr/>
        </p:nvSpPr>
        <p:spPr>
          <a:xfrm>
            <a:off x="7589520" y="453542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5" name="Shape 33"/>
          <p:cNvSpPr/>
          <p:nvPr/>
        </p:nvSpPr>
        <p:spPr>
          <a:xfrm>
            <a:off x="548640" y="4892040"/>
            <a:ext cx="11064240" cy="402336"/>
          </a:xfrm>
          <a:prstGeom prst="roundRect">
            <a:avLst>
              <a:gd name="adj" fmla="val 11364"/>
            </a:avLst>
          </a:prstGeom>
          <a:solidFill>
            <a:srgbClr val="15171B"/>
          </a:solidFill>
          <a:ln w="12700">
            <a:solidFill>
              <a:srgbClr val="15171B"/>
            </a:solidFill>
            <a:prstDash val="solid"/>
          </a:ln>
        </p:spPr>
      </p:sp>
      <p:sp>
        <p:nvSpPr>
          <p:cNvPr id="36" name="Text 34"/>
          <p:cNvSpPr/>
          <p:nvPr/>
        </p:nvSpPr>
        <p:spPr>
          <a:xfrm>
            <a:off x="822960" y="500176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Mail sender instance (optional)</a:t>
            </a:r>
            <a:endParaRPr lang="en-US" sz="1050" dirty="0"/>
          </a:p>
        </p:txBody>
      </p:sp>
      <p:sp>
        <p:nvSpPr>
          <p:cNvPr id="37" name="Text 35"/>
          <p:cNvSpPr/>
          <p:nvPr/>
        </p:nvSpPr>
        <p:spPr>
          <a:xfrm>
            <a:off x="3657600" y="500176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a:t>
            </a:r>
            <a:endParaRPr lang="en-US" sz="1000" dirty="0"/>
          </a:p>
        </p:txBody>
      </p:sp>
      <p:sp>
        <p:nvSpPr>
          <p:cNvPr id="38" name="Text 36"/>
          <p:cNvSpPr/>
          <p:nvPr/>
        </p:nvSpPr>
        <p:spPr>
          <a:xfrm>
            <a:off x="7589520" y="5001768"/>
            <a:ext cx="3749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Tests 9-10 notifications</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The Core REST API instance is the one people miss. The Script Runner uses it to read endpoint groups larger than 100 — without it the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Two ways in — only one collects events</a:t>
            </a:r>
            <a:endParaRPr lang="en-US" sz="3100" dirty="0"/>
          </a:p>
        </p:txBody>
      </p:sp>
      <p:sp>
        <p:nvSpPr>
          <p:cNvPr id="4" name="Text 2"/>
          <p:cNvSpPr/>
          <p:nvPr/>
        </p:nvSpPr>
        <p:spPr>
          <a:xfrm>
            <a:off x="822960" y="137160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Method</a:t>
            </a:r>
            <a:endParaRPr lang="en-US" sz="1050" dirty="0"/>
          </a:p>
        </p:txBody>
      </p:sp>
      <p:sp>
        <p:nvSpPr>
          <p:cNvPr id="5" name="Text 3"/>
          <p:cNvSpPr/>
          <p:nvPr/>
        </p:nvSpPr>
        <p:spPr>
          <a:xfrm>
            <a:off x="3749040" y="1371600"/>
            <a:ext cx="47548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8686800" y="1371600"/>
            <a:ext cx="1280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Shape 5"/>
          <p:cNvSpPr/>
          <p:nvPr/>
        </p:nvSpPr>
        <p:spPr>
          <a:xfrm>
            <a:off x="548640" y="1691640"/>
            <a:ext cx="11064240" cy="603504"/>
          </a:xfrm>
          <a:prstGeom prst="roundRect">
            <a:avLst>
              <a:gd name="adj" fmla="val 7576"/>
            </a:avLst>
          </a:prstGeom>
          <a:solidFill>
            <a:srgbClr val="15171B"/>
          </a:solidFill>
          <a:ln w="12700">
            <a:solidFill>
              <a:srgbClr val="15171B"/>
            </a:solidFill>
            <a:prstDash val="solid"/>
          </a:ln>
        </p:spPr>
      </p:sp>
      <p:sp>
        <p:nvSpPr>
          <p:cNvPr id="8" name="Text 6"/>
          <p:cNvSpPr/>
          <p:nvPr/>
        </p:nvSpPr>
        <p:spPr>
          <a:xfrm>
            <a:off x="822960" y="1874520"/>
            <a:ext cx="28346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demisto-sdk upload</a:t>
            </a:r>
            <a:endParaRPr lang="en-US" sz="1200" dirty="0"/>
          </a:p>
        </p:txBody>
      </p:sp>
      <p:sp>
        <p:nvSpPr>
          <p:cNvPr id="9" name="Text 7"/>
          <p:cNvSpPr/>
          <p:nvPr/>
        </p:nvSpPr>
        <p:spPr>
          <a:xfrm>
            <a:off x="3749040" y="1883664"/>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Everything — integration, playbooks, rules, dashboard</a:t>
            </a:r>
            <a:endParaRPr lang="en-US" sz="1050" dirty="0"/>
          </a:p>
        </p:txBody>
      </p:sp>
      <p:sp>
        <p:nvSpPr>
          <p:cNvPr id="10" name="Text 8"/>
          <p:cNvSpPr/>
          <p:nvPr/>
        </p:nvSpPr>
        <p:spPr>
          <a:xfrm>
            <a:off x="8686800" y="1874520"/>
            <a:ext cx="1280160"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 yes</a:t>
            </a:r>
            <a:endParaRPr lang="en-US" sz="1200" dirty="0"/>
          </a:p>
        </p:txBody>
      </p:sp>
      <p:sp>
        <p:nvSpPr>
          <p:cNvPr id="11" name="Shape 9"/>
          <p:cNvSpPr/>
          <p:nvPr/>
        </p:nvSpPr>
        <p:spPr>
          <a:xfrm>
            <a:off x="548640" y="2404872"/>
            <a:ext cx="11064240" cy="603504"/>
          </a:xfrm>
          <a:prstGeom prst="roundRect">
            <a:avLst>
              <a:gd name="adj" fmla="val 7576"/>
            </a:avLst>
          </a:prstGeom>
          <a:solidFill>
            <a:srgbClr val="1C2026"/>
          </a:solidFill>
          <a:ln w="12700">
            <a:solidFill>
              <a:srgbClr val="1C2026"/>
            </a:solidFill>
            <a:prstDash val="solid"/>
          </a:ln>
        </p:spPr>
      </p:sp>
      <p:sp>
        <p:nvSpPr>
          <p:cNvPr id="12" name="Text 10"/>
          <p:cNvSpPr/>
          <p:nvPr/>
        </p:nvSpPr>
        <p:spPr>
          <a:xfrm>
            <a:off x="822960" y="2587752"/>
            <a:ext cx="2834640" cy="274320"/>
          </a:xfrm>
          <a:prstGeom prst="rect">
            <a:avLst/>
          </a:prstGeom>
          <a:noFill/>
          <a:ln/>
        </p:spPr>
        <p:txBody>
          <a:bodyPr wrap="square" lIns="0" tIns="0" rIns="0" bIns="0" rtlCol="0" anchor="t"/>
          <a:lstStyle/>
          <a:p>
            <a:pPr indent="0" marL="0">
              <a:buNone/>
            </a:pPr>
            <a:r>
              <a:rPr lang="en-US" sz="1200" b="1" dirty="0">
                <a:solidFill>
                  <a:srgbClr val="F5A524"/>
                </a:solidFill>
                <a:latin typeface="Calibri" pitchFamily="34" charset="0"/>
                <a:ea typeface="Calibri" pitchFamily="34" charset="-122"/>
                <a:cs typeface="Calibri" pitchFamily="34" charset="-120"/>
              </a:rPr>
              <a:t>Pack zip upload</a:t>
            </a:r>
            <a:endParaRPr lang="en-US" sz="1200" dirty="0"/>
          </a:p>
        </p:txBody>
      </p:sp>
      <p:sp>
        <p:nvSpPr>
          <p:cNvPr id="13" name="Text 11"/>
          <p:cNvSpPr/>
          <p:nvPr/>
        </p:nvSpPr>
        <p:spPr>
          <a:xfrm>
            <a:off x="3749040" y="2596896"/>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Content only. The collector and rules do not activate</a:t>
            </a:r>
            <a:endParaRPr lang="en-US" sz="1050" dirty="0"/>
          </a:p>
        </p:txBody>
      </p:sp>
      <p:sp>
        <p:nvSpPr>
          <p:cNvPr id="14" name="Text 12"/>
          <p:cNvSpPr/>
          <p:nvPr/>
        </p:nvSpPr>
        <p:spPr>
          <a:xfrm>
            <a:off x="8686800" y="2587752"/>
            <a:ext cx="1280160" cy="274320"/>
          </a:xfrm>
          <a:prstGeom prst="rect">
            <a:avLst/>
          </a:prstGeom>
          <a:noFill/>
          <a:ln/>
        </p:spPr>
        <p:txBody>
          <a:bodyPr wrap="square" lIns="0" tIns="0" rIns="0" bIns="0" rtlCol="0" anchor="t"/>
          <a:lstStyle/>
          <a:p>
            <a:pPr indent="0" marL="0">
              <a:buNone/>
            </a:pPr>
            <a:r>
              <a:rPr lang="en-US" sz="1200" b="1" dirty="0">
                <a:solidFill>
                  <a:srgbClr val="F04438"/>
                </a:solidFill>
                <a:latin typeface="Calibri" pitchFamily="34" charset="0"/>
                <a:ea typeface="Calibri" pitchFamily="34" charset="-122"/>
                <a:cs typeface="Calibri" pitchFamily="34" charset="-120"/>
              </a:rPr>
              <a:t>✗ no</a:t>
            </a:r>
            <a:endParaRPr lang="en-US" sz="1200" dirty="0"/>
          </a:p>
        </p:txBody>
      </p:sp>
      <p:sp>
        <p:nvSpPr>
          <p:cNvPr id="15" name="Shape 13"/>
          <p:cNvSpPr/>
          <p:nvPr/>
        </p:nvSpPr>
        <p:spPr>
          <a:xfrm>
            <a:off x="548640" y="3200400"/>
            <a:ext cx="11064240" cy="1234440"/>
          </a:xfrm>
          <a:prstGeom prst="roundRect">
            <a:avLst>
              <a:gd name="adj" fmla="val 3704"/>
            </a:avLst>
          </a:prstGeom>
          <a:solidFill>
            <a:srgbClr val="1C2026"/>
          </a:solidFill>
          <a:ln w="12700">
            <a:solidFill>
              <a:srgbClr val="1C2026"/>
            </a:solidFill>
            <a:prstDash val="solid"/>
          </a:ln>
        </p:spPr>
      </p:sp>
      <p:sp>
        <p:nvSpPr>
          <p:cNvPr id="16" name="Text 14"/>
          <p:cNvSpPr/>
          <p:nvPr/>
        </p:nvSpPr>
        <p:spPr>
          <a:xfrm>
            <a:off x="859536" y="3364992"/>
            <a:ext cx="7315200" cy="274320"/>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Ask whoever sent you the pack to install it</a:t>
            </a:r>
            <a:endParaRPr lang="en-US" sz="1250" dirty="0"/>
          </a:p>
        </p:txBody>
      </p:sp>
      <p:sp>
        <p:nvSpPr>
          <p:cNvPr id="17" name="Text 15"/>
          <p:cNvSpPr/>
          <p:nvPr/>
        </p:nvSpPr>
        <p:spPr>
          <a:xfrm>
            <a:off x="859536" y="3703320"/>
            <a:ext cx="10442448" cy="6400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Installing with demisto-sdk is a developer task and needs a Standard XSIAM API key. If you are testing rather than deploying, have it installed for you and start at Test 1. Nothing else in this guide needs a developer.</a:t>
            </a:r>
            <a:endParaRPr lang="en-US" sz="1100" dirty="0"/>
          </a:p>
        </p:txBody>
      </p:sp>
      <p:sp>
        <p:nvSpPr>
          <p:cNvPr id="18" name="Shape 16"/>
          <p:cNvSpPr/>
          <p:nvPr/>
        </p:nvSpPr>
        <p:spPr>
          <a:xfrm>
            <a:off x="548640" y="4617720"/>
            <a:ext cx="11064240" cy="1371600"/>
          </a:xfrm>
          <a:prstGeom prst="roundRect">
            <a:avLst>
              <a:gd name="adj" fmla="val 3333"/>
            </a:avLst>
          </a:prstGeom>
          <a:solidFill>
            <a:srgbClr val="1C2026"/>
          </a:solidFill>
          <a:ln w="12700">
            <a:solidFill>
              <a:srgbClr val="1C2026"/>
            </a:solidFill>
            <a:prstDash val="solid"/>
          </a:ln>
        </p:spPr>
      </p:sp>
      <p:sp>
        <p:nvSpPr>
          <p:cNvPr id="19" name="Text 17"/>
          <p:cNvSpPr/>
          <p:nvPr/>
        </p:nvSpPr>
        <p:spPr>
          <a:xfrm>
            <a:off x="859536" y="4773168"/>
            <a:ext cx="3657600"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Confirm it landed</a:t>
            </a:r>
            <a:endParaRPr lang="en-US" sz="1250" dirty="0"/>
          </a:p>
        </p:txBody>
      </p:sp>
      <p:sp>
        <p:nvSpPr>
          <p:cNvPr id="20" name="Text 18"/>
          <p:cNvSpPr/>
          <p:nvPr/>
        </p:nvSpPr>
        <p:spPr>
          <a:xfrm>
            <a:off x="859536" y="51206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1152144" y="5120640"/>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 KOI integration is offered.</a:t>
            </a:r>
            <a:endParaRPr lang="en-US" sz="1150" dirty="0"/>
          </a:p>
        </p:txBody>
      </p:sp>
      <p:sp>
        <p:nvSpPr>
          <p:cNvPr id="22" name="Text 20"/>
          <p:cNvSpPr/>
          <p:nvPr/>
        </p:nvSpPr>
        <p:spPr>
          <a:xfrm>
            <a:off x="859536" y="54498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152144" y="5449824"/>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12 playbooks whose names start with KOI.</a:t>
            </a:r>
            <a:endParaRPr lang="en-US" sz="1150" dirty="0"/>
          </a:p>
        </p:txBody>
      </p:sp>
      <p:sp>
        <p:nvSpPr>
          <p:cNvPr id="24" name="Text 22"/>
          <p:cNvSpPr/>
          <p:nvPr/>
        </p:nvSpPr>
        <p:spPr>
          <a:xfrm>
            <a:off x="859536" y="5779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1152144" y="5779008"/>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the KOI Alerts Dashboard exists.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Twelve tests, four groups</a:t>
            </a:r>
            <a:endParaRPr lang="en-US" sz="3100" dirty="0"/>
          </a:p>
        </p:txBody>
      </p:sp>
      <p:sp>
        <p:nvSpPr>
          <p:cNvPr id="4" name="Shape 2"/>
          <p:cNvSpPr/>
          <p:nvPr/>
        </p:nvSpPr>
        <p:spPr>
          <a:xfrm>
            <a:off x="548640" y="1371600"/>
            <a:ext cx="11064240" cy="859536"/>
          </a:xfrm>
          <a:prstGeom prst="roundRect">
            <a:avLst>
              <a:gd name="adj" fmla="val 5319"/>
            </a:avLst>
          </a:prstGeom>
          <a:solidFill>
            <a:srgbClr val="15171B"/>
          </a:solidFill>
          <a:ln w="12700">
            <a:solidFill>
              <a:srgbClr val="15171B"/>
            </a:solidFill>
            <a:prstDash val="solid"/>
          </a:ln>
        </p:spPr>
      </p:sp>
      <p:sp>
        <p:nvSpPr>
          <p:cNvPr id="5" name="Text 3"/>
          <p:cNvSpPr/>
          <p:nvPr/>
        </p:nvSpPr>
        <p:spPr>
          <a:xfrm>
            <a:off x="841248" y="1517904"/>
            <a:ext cx="4572000" cy="256032"/>
          </a:xfrm>
          <a:prstGeom prst="rect">
            <a:avLst/>
          </a:prstGeom>
          <a:noFill/>
          <a:ln/>
        </p:spPr>
        <p:txBody>
          <a:bodyPr wrap="square" lIns="0" tIns="0" rIns="0" bIns="0" rtlCol="0" anchor="t"/>
          <a:lstStyle/>
          <a:p>
            <a:pPr indent="0" marL="0">
              <a:buNone/>
            </a:pPr>
            <a:r>
              <a:rPr lang="en-US" sz="1250" b="1" dirty="0">
                <a:solidFill>
                  <a:srgbClr val="E8551F"/>
                </a:solidFill>
                <a:latin typeface="Calibri" pitchFamily="34" charset="0"/>
                <a:ea typeface="Calibri" pitchFamily="34" charset="-122"/>
                <a:cs typeface="Calibri" pitchFamily="34" charset="-120"/>
              </a:rPr>
              <a:t>Data is arriving and correct</a:t>
            </a:r>
            <a:endParaRPr lang="en-US" sz="1250" dirty="0"/>
          </a:p>
        </p:txBody>
      </p:sp>
      <p:sp>
        <p:nvSpPr>
          <p:cNvPr id="6" name="Text 4"/>
          <p:cNvSpPr/>
          <p:nvPr/>
        </p:nvSpPr>
        <p:spPr>
          <a:xfrm>
            <a:off x="84124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  Connectivity</a:t>
            </a:r>
            <a:endParaRPr lang="en-US" sz="1100" dirty="0"/>
          </a:p>
        </p:txBody>
      </p:sp>
      <p:sp>
        <p:nvSpPr>
          <p:cNvPr id="7" name="Text 5"/>
          <p:cNvSpPr/>
          <p:nvPr/>
        </p:nvSpPr>
        <p:spPr>
          <a:xfrm>
            <a:off x="353872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2  Event collection</a:t>
            </a:r>
            <a:endParaRPr lang="en-US" sz="1100" dirty="0"/>
          </a:p>
        </p:txBody>
      </p:sp>
      <p:sp>
        <p:nvSpPr>
          <p:cNvPr id="8" name="Text 6"/>
          <p:cNvSpPr/>
          <p:nvPr/>
        </p:nvSpPr>
        <p:spPr>
          <a:xfrm>
            <a:off x="623620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3  Parsing &amp; data model</a:t>
            </a:r>
            <a:endParaRPr lang="en-US" sz="1100" dirty="0"/>
          </a:p>
        </p:txBody>
      </p:sp>
      <p:sp>
        <p:nvSpPr>
          <p:cNvPr id="9" name="Text 7"/>
          <p:cNvSpPr/>
          <p:nvPr/>
        </p:nvSpPr>
        <p:spPr>
          <a:xfrm>
            <a:off x="893368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4  Dashboard</a:t>
            </a:r>
            <a:endParaRPr lang="en-US" sz="1100" dirty="0"/>
          </a:p>
        </p:txBody>
      </p:sp>
      <p:sp>
        <p:nvSpPr>
          <p:cNvPr id="10" name="Shape 8"/>
          <p:cNvSpPr/>
          <p:nvPr/>
        </p:nvSpPr>
        <p:spPr>
          <a:xfrm>
            <a:off x="548640" y="2377440"/>
            <a:ext cx="11064240" cy="859536"/>
          </a:xfrm>
          <a:prstGeom prst="roundRect">
            <a:avLst>
              <a:gd name="adj" fmla="val 5319"/>
            </a:avLst>
          </a:prstGeom>
          <a:solidFill>
            <a:srgbClr val="15171B"/>
          </a:solidFill>
          <a:ln w="12700">
            <a:solidFill>
              <a:srgbClr val="15171B"/>
            </a:solidFill>
            <a:prstDash val="solid"/>
          </a:ln>
        </p:spPr>
      </p:sp>
      <p:sp>
        <p:nvSpPr>
          <p:cNvPr id="11" name="Text 9"/>
          <p:cNvSpPr/>
          <p:nvPr/>
        </p:nvSpPr>
        <p:spPr>
          <a:xfrm>
            <a:off x="841248" y="2523744"/>
            <a:ext cx="4572000" cy="256032"/>
          </a:xfrm>
          <a:prstGeom prst="rect">
            <a:avLst/>
          </a:prstGeom>
          <a:noFill/>
          <a:ln/>
        </p:spPr>
        <p:txBody>
          <a:bodyPr wrap="square" lIns="0" tIns="0" rIns="0" bIns="0" rtlCol="0" anchor="t"/>
          <a:lstStyle/>
          <a:p>
            <a:pPr indent="0" marL="0">
              <a:buNone/>
            </a:pPr>
            <a:r>
              <a:rPr lang="en-US" sz="1250" b="1" dirty="0">
                <a:solidFill>
                  <a:srgbClr val="22D3EE"/>
                </a:solidFill>
                <a:latin typeface="Calibri" pitchFamily="34" charset="0"/>
                <a:ea typeface="Calibri" pitchFamily="34" charset="-122"/>
                <a:cs typeface="Calibri" pitchFamily="34" charset="-120"/>
              </a:rPr>
              <a:t>The automation works</a:t>
            </a:r>
            <a:endParaRPr lang="en-US" sz="1250" dirty="0"/>
          </a:p>
        </p:txBody>
      </p:sp>
      <p:sp>
        <p:nvSpPr>
          <p:cNvPr id="12" name="Text 10"/>
          <p:cNvSpPr/>
          <p:nvPr/>
        </p:nvSpPr>
        <p:spPr>
          <a:xfrm>
            <a:off x="84124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5  Alert triage</a:t>
            </a:r>
            <a:endParaRPr lang="en-US" sz="1100" dirty="0"/>
          </a:p>
        </p:txBody>
      </p:sp>
      <p:sp>
        <p:nvSpPr>
          <p:cNvPr id="13" name="Text 11"/>
          <p:cNvSpPr/>
          <p:nvPr/>
        </p:nvSpPr>
        <p:spPr>
          <a:xfrm>
            <a:off x="353872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6  Item &amp; device investigation</a:t>
            </a:r>
            <a:endParaRPr lang="en-US" sz="1100" dirty="0"/>
          </a:p>
        </p:txBody>
      </p:sp>
      <p:sp>
        <p:nvSpPr>
          <p:cNvPr id="14" name="Text 12"/>
          <p:cNvSpPr/>
          <p:nvPr/>
        </p:nvSpPr>
        <p:spPr>
          <a:xfrm>
            <a:off x="623620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7  Gated response</a:t>
            </a:r>
            <a:endParaRPr lang="en-US" sz="1100" dirty="0"/>
          </a:p>
        </p:txBody>
      </p:sp>
      <p:sp>
        <p:nvSpPr>
          <p:cNvPr id="15" name="Text 13"/>
          <p:cNvSpPr/>
          <p:nvPr/>
        </p:nvSpPr>
        <p:spPr>
          <a:xfrm>
            <a:off x="893368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8  MCP server hunt</a:t>
            </a:r>
            <a:endParaRPr lang="en-US" sz="1100" dirty="0"/>
          </a:p>
        </p:txBody>
      </p:sp>
      <p:sp>
        <p:nvSpPr>
          <p:cNvPr id="16" name="Shape 14"/>
          <p:cNvSpPr/>
          <p:nvPr/>
        </p:nvSpPr>
        <p:spPr>
          <a:xfrm>
            <a:off x="548640" y="3383280"/>
            <a:ext cx="11064240" cy="859536"/>
          </a:xfrm>
          <a:prstGeom prst="roundRect">
            <a:avLst>
              <a:gd name="adj" fmla="val 5319"/>
            </a:avLst>
          </a:prstGeom>
          <a:solidFill>
            <a:srgbClr val="15171B"/>
          </a:solidFill>
          <a:ln w="12700">
            <a:solidFill>
              <a:srgbClr val="15171B"/>
            </a:solidFill>
            <a:prstDash val="solid"/>
          </a:ln>
        </p:spPr>
      </p:sp>
      <p:sp>
        <p:nvSpPr>
          <p:cNvPr id="17" name="Text 15"/>
          <p:cNvSpPr/>
          <p:nvPr/>
        </p:nvSpPr>
        <p:spPr>
          <a:xfrm>
            <a:off x="841248" y="3529584"/>
            <a:ext cx="4572000" cy="256032"/>
          </a:xfrm>
          <a:prstGeom prst="rect">
            <a:avLst/>
          </a:prstGeom>
          <a:noFill/>
          <a:ln/>
        </p:spPr>
        <p:txBody>
          <a:bodyPr wrap="square" lIns="0" tIns="0" rIns="0" bIns="0" rtlCol="0" anchor="t"/>
          <a:lstStyle/>
          <a:p>
            <a:pPr indent="0" marL="0">
              <a:buNone/>
            </a:pPr>
            <a:r>
              <a:rPr lang="en-US" sz="1250" b="1" dirty="0">
                <a:solidFill>
                  <a:srgbClr val="F5A524"/>
                </a:solidFill>
                <a:latin typeface="Calibri" pitchFamily="34" charset="0"/>
                <a:ea typeface="Calibri" pitchFamily="34" charset="-122"/>
                <a:cs typeface="Calibri" pitchFamily="34" charset="-120"/>
              </a:rPr>
              <a:t>Fleet script execution</a:t>
            </a:r>
            <a:endParaRPr lang="en-US" sz="1250" dirty="0"/>
          </a:p>
        </p:txBody>
      </p:sp>
      <p:sp>
        <p:nvSpPr>
          <p:cNvPr id="18" name="Text 16"/>
          <p:cNvSpPr/>
          <p:nvPr/>
        </p:nvSpPr>
        <p:spPr>
          <a:xfrm>
            <a:off x="84124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9  Refresh the tracker</a:t>
            </a:r>
            <a:endParaRPr lang="en-US" sz="1100" dirty="0"/>
          </a:p>
        </p:txBody>
      </p:sp>
      <p:sp>
        <p:nvSpPr>
          <p:cNvPr id="19" name="Text 17"/>
          <p:cNvSpPr/>
          <p:nvPr/>
        </p:nvSpPr>
        <p:spPr>
          <a:xfrm>
            <a:off x="353872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10  Scan due endpoints</a:t>
            </a:r>
            <a:endParaRPr lang="en-US" sz="1100" dirty="0"/>
          </a:p>
        </p:txBody>
      </p:sp>
      <p:sp>
        <p:nvSpPr>
          <p:cNvPr id="20" name="Shape 18"/>
          <p:cNvSpPr/>
          <p:nvPr/>
        </p:nvSpPr>
        <p:spPr>
          <a:xfrm>
            <a:off x="548640" y="4389120"/>
            <a:ext cx="11064240" cy="859536"/>
          </a:xfrm>
          <a:prstGeom prst="roundRect">
            <a:avLst>
              <a:gd name="adj" fmla="val 5319"/>
            </a:avLst>
          </a:prstGeom>
          <a:solidFill>
            <a:srgbClr val="15171B"/>
          </a:solidFill>
          <a:ln w="12700">
            <a:solidFill>
              <a:srgbClr val="15171B"/>
            </a:solidFill>
            <a:prstDash val="solid"/>
          </a:ln>
        </p:spPr>
      </p:sp>
      <p:sp>
        <p:nvSpPr>
          <p:cNvPr id="21" name="Text 19"/>
          <p:cNvSpPr/>
          <p:nvPr/>
        </p:nvSpPr>
        <p:spPr>
          <a:xfrm>
            <a:off x="841248" y="4535424"/>
            <a:ext cx="4572000" cy="256032"/>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Extras, any time</a:t>
            </a:r>
            <a:endParaRPr lang="en-US" sz="1250" dirty="0"/>
          </a:p>
        </p:txBody>
      </p:sp>
      <p:sp>
        <p:nvSpPr>
          <p:cNvPr id="22" name="Text 20"/>
          <p:cNvSpPr/>
          <p:nvPr/>
        </p:nvSpPr>
        <p:spPr>
          <a:xfrm>
            <a:off x="84124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11  Threat-hunting library</a:t>
            </a:r>
            <a:endParaRPr lang="en-US" sz="1100" dirty="0"/>
          </a:p>
        </p:txBody>
      </p:sp>
      <p:sp>
        <p:nvSpPr>
          <p:cNvPr id="23" name="Text 21"/>
          <p:cNvSpPr/>
          <p:nvPr/>
        </p:nvSpPr>
        <p:spPr>
          <a:xfrm>
            <a:off x="353872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12  Simulated test data</a:t>
            </a:r>
            <a:endParaRPr lang="en-US" sz="1100" dirty="0"/>
          </a:p>
        </p:txBody>
      </p:sp>
      <p:sp>
        <p:nvSpPr>
          <p:cNvPr id="24" name="Shape 22"/>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25" name="Shape 23"/>
          <p:cNvSpPr/>
          <p:nvPr/>
        </p:nvSpPr>
        <p:spPr>
          <a:xfrm>
            <a:off x="786384" y="560527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56052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5541264"/>
            <a:ext cx="10058400" cy="50292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Only tests 9 and 10 need the Core REST API integration. Only tests 1-8 and 11 need a KOI API key. Test 12 needs neither and is the fastest way to see the pack working.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API key (KOI console → Settings → API Access)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Permission to add an integration instance in XSIAM</a:t>
            </a:r>
            <a:endParaRPr lang="en-US" sz="1050" dirty="0"/>
          </a:p>
        </p:txBody>
      </p:sp>
      <p:sp>
        <p:nvSpPr>
          <p:cNvPr id="10" name="Shape 8"/>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Optionally set a Tenant Name label.</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Click Test, then Save.</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at the bottom of any incident and run:</a:t>
            </a:r>
            <a:endParaRPr lang="en-US" sz="1150" dirty="0"/>
          </a:p>
        </p:txBody>
      </p:sp>
      <p:sp>
        <p:nvSpPr>
          <p:cNvPr id="22" name="Text 20"/>
          <p:cNvSpPr/>
          <p:nvPr/>
        </p:nvSpPr>
        <p:spPr>
          <a:xfrm>
            <a:off x="859536" y="44348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3" name="Text 21"/>
          <p:cNvSpPr/>
          <p:nvPr/>
        </p:nvSpPr>
        <p:spPr>
          <a:xfrm>
            <a:off x="1152144" y="44348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24" name="Shape 22"/>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25" name="Text 23"/>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8" name="Text 26"/>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1181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up to five devices.</a:t>
            </a:r>
            <a:endParaRPr lang="en-US" sz="1150" dirty="0"/>
          </a:p>
        </p:txBody>
      </p:sp>
      <p:sp>
        <p:nvSpPr>
          <p:cNvPr id="30" name="Text 28"/>
          <p:cNvSpPr/>
          <p:nvPr/>
        </p:nvSpPr>
        <p:spPr>
          <a:xfrm>
            <a:off x="7626096" y="36347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6347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If you set a Tenant Name it will appear on collected events later.</a:t>
            </a:r>
            <a:endParaRPr lang="en-US" sz="1150" dirty="0"/>
          </a:p>
        </p:txBody>
      </p:sp>
      <p:sp>
        <p:nvSpPr>
          <p:cNvPr id="32" name="Shape 30"/>
          <p:cNvSpPr/>
          <p:nvPr/>
        </p:nvSpPr>
        <p:spPr>
          <a:xfrm>
            <a:off x="548640" y="5129784"/>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312664"/>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31266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23951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not a bad key: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Fetch events enabled on the KOI instance</a:t>
            </a:r>
            <a:endParaRPr lang="en-US" sz="1050" dirty="0"/>
          </a:p>
        </p:txBody>
      </p:sp>
      <p:sp>
        <p:nvSpPr>
          <p:cNvPr id="10" name="Shape 8"/>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Choose which event types to collect, then Save.</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Incident Response → Investigation → Query Builder and run:</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2" name="Text 20"/>
          <p:cNvSpPr/>
          <p:nvPr/>
        </p:nvSpPr>
        <p:spPr>
          <a:xfrm>
            <a:off x="859536" y="44348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3" name="Text 21"/>
          <p:cNvSpPr/>
          <p:nvPr/>
        </p:nvSpPr>
        <p:spPr>
          <a:xfrm>
            <a:off x="1152144" y="44348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4" name="Shape 22"/>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25" name="Text 23"/>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28" name="Text 26"/>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1181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30" name="Shape 28"/>
          <p:cNvSpPr/>
          <p:nvPr/>
        </p:nvSpPr>
        <p:spPr>
          <a:xfrm>
            <a:off x="548640" y="5129784"/>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312664"/>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31266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23951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 rows at all usually means fetch was only just enabled — give it two cycles. Audit missing on its own means the Audit types filter is narrowed; leave it empty for all types.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Parsing and the data model</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 in koi_koi_raw</a:t>
            </a:r>
            <a:endParaRPr lang="en-US" sz="1050" dirty="0"/>
          </a:p>
        </p:txBody>
      </p:sp>
      <p:sp>
        <p:nvSpPr>
          <p:cNvPr id="8" name="Shape 6"/>
          <p:cNvSpPr/>
          <p:nvPr/>
        </p:nvSpPr>
        <p:spPr>
          <a:xfrm>
            <a:off x="548640" y="2007108"/>
            <a:ext cx="6400800" cy="2619756"/>
          </a:xfrm>
          <a:prstGeom prst="roundRect">
            <a:avLst>
              <a:gd name="adj" fmla="val 1745"/>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count real alerts rather than rows:</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16" name="Text 14"/>
          <p:cNvSpPr/>
          <p:nvPr/>
        </p:nvSpPr>
        <p:spPr>
          <a:xfrm>
            <a:off x="859536" y="35615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3561588"/>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alter nid = json_extract_scalar(metadata, "$.notification_event_id")</a:t>
            </a:r>
            <a:endParaRPr lang="en-US" sz="1050" dirty="0"/>
          </a:p>
        </p:txBody>
      </p:sp>
      <p:sp>
        <p:nvSpPr>
          <p:cNvPr id="18" name="Text 16"/>
          <p:cNvSpPr/>
          <p:nvPr/>
        </p:nvSpPr>
        <p:spPr>
          <a:xfrm>
            <a:off x="859536" y="40782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0782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count_distinct(nid) as real_alerts</a:t>
            </a:r>
            <a:endParaRPr lang="en-US" sz="1050" dirty="0"/>
          </a:p>
        </p:txBody>
      </p:sp>
      <p:sp>
        <p:nvSpPr>
          <p:cNvPr id="20" name="Shape 18"/>
          <p:cNvSpPr/>
          <p:nvPr/>
        </p:nvSpPr>
        <p:spPr>
          <a:xfrm>
            <a:off x="7315200" y="2007108"/>
            <a:ext cx="4297680" cy="2619756"/>
          </a:xfrm>
          <a:prstGeom prst="roundRect">
            <a:avLst>
              <a:gd name="adj" fmla="val 1745"/>
            </a:avLst>
          </a:prstGeom>
          <a:solidFill>
            <a:srgbClr val="1C2026"/>
          </a:solidFill>
          <a:ln w="12700">
            <a:solidFill>
              <a:srgbClr val="1C2026"/>
            </a:solidFill>
            <a:prstDash val="solid"/>
          </a:ln>
        </p:spPr>
      </p:sp>
      <p:sp>
        <p:nvSpPr>
          <p:cNvPr id="21" name="Text 19"/>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57403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numbers return.</a:t>
            </a:r>
            <a:endParaRPr lang="en-US" sz="1150" dirty="0"/>
          </a:p>
        </p:txBody>
      </p:sp>
      <p:sp>
        <p:nvSpPr>
          <p:cNvPr id="24" name="Text 22"/>
          <p:cNvSpPr/>
          <p:nvPr/>
        </p:nvSpPr>
        <p:spPr>
          <a:xfrm>
            <a:off x="7626096" y="29032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9032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larger than real_alerts — often much larger.</a:t>
            </a:r>
            <a:endParaRPr lang="en-US" sz="1150" dirty="0"/>
          </a:p>
        </p:txBody>
      </p:sp>
      <p:sp>
        <p:nvSpPr>
          <p:cNvPr id="26" name="Text 24"/>
          <p:cNvSpPr/>
          <p:nvPr/>
        </p:nvSpPr>
        <p:spPr>
          <a:xfrm>
            <a:off x="7626096" y="34198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4198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alert_hostname and risk_level are populated and directly queryable.</a:t>
            </a:r>
            <a:endParaRPr lang="en-US" sz="1150" dirty="0"/>
          </a:p>
        </p:txBody>
      </p:sp>
      <p:sp>
        <p:nvSpPr>
          <p:cNvPr id="28" name="Shape 26"/>
          <p:cNvSpPr/>
          <p:nvPr/>
        </p:nvSpPr>
        <p:spPr>
          <a:xfrm>
            <a:off x="548640" y="4773168"/>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956048"/>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9560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88289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far exceeding real_alerts is CORRECT. KOI re-sends every still-open alert on each fetch, so a row is a delivery, not an alert. Anything counting alerts must count distinct notification ids — the dashboard already does.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a:t>
            </a:r>
            <a:endParaRPr lang="en-US" sz="1050" dirty="0"/>
          </a:p>
        </p:txBody>
      </p:sp>
      <p:sp>
        <p:nvSpPr>
          <p:cNvPr id="8" name="Shape 6"/>
          <p:cNvSpPr/>
          <p:nvPr/>
        </p:nvSpPr>
        <p:spPr>
          <a:xfrm>
            <a:off x="548640" y="2007108"/>
            <a:ext cx="6400800" cy="2148840"/>
          </a:xfrm>
          <a:prstGeom prst="roundRect">
            <a:avLst>
              <a:gd name="adj" fmla="val 2128"/>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the KOI Alerts Dashboard.</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alert totals, risk mix and top items.</a:t>
            </a:r>
            <a:endParaRPr lang="en-US" sz="11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Come back after another collection cycle and compare.</a:t>
            </a:r>
            <a:endParaRPr lang="en-US" sz="1150" dirty="0"/>
          </a:p>
        </p:txBody>
      </p:sp>
      <p:sp>
        <p:nvSpPr>
          <p:cNvPr id="16" name="Shape 14"/>
          <p:cNvSpPr/>
          <p:nvPr/>
        </p:nvSpPr>
        <p:spPr>
          <a:xfrm>
            <a:off x="7315200" y="2007108"/>
            <a:ext cx="4297680" cy="2148840"/>
          </a:xfrm>
          <a:prstGeom prst="roundRect">
            <a:avLst>
              <a:gd name="adj" fmla="val 2128"/>
            </a:avLst>
          </a:prstGeom>
          <a:solidFill>
            <a:srgbClr val="1C2026"/>
          </a:solidFill>
          <a:ln w="12700">
            <a:solidFill>
              <a:srgbClr val="1C2026"/>
            </a:solidFill>
            <a:prstDash val="solid"/>
          </a:ln>
        </p:spPr>
      </p:sp>
      <p:sp>
        <p:nvSpPr>
          <p:cNvPr id="17" name="Text 15"/>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18" name="Text 16"/>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57403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a:t>
            </a:r>
            <a:endParaRPr lang="en-US" sz="1150" dirty="0"/>
          </a:p>
        </p:txBody>
      </p:sp>
      <p:sp>
        <p:nvSpPr>
          <p:cNvPr id="20" name="Text 18"/>
          <p:cNvSpPr/>
          <p:nvPr/>
        </p:nvSpPr>
        <p:spPr>
          <a:xfrm>
            <a:off x="7626096" y="29032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9032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counts are far lower than the raw row count from Test 3.</a:t>
            </a:r>
            <a:endParaRPr lang="en-US" sz="1150" dirty="0"/>
          </a:p>
        </p:txBody>
      </p:sp>
      <p:sp>
        <p:nvSpPr>
          <p:cNvPr id="22" name="Text 20"/>
          <p:cNvSpPr/>
          <p:nvPr/>
        </p:nvSpPr>
        <p:spPr>
          <a:xfrm>
            <a:off x="7626096" y="34198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4198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 — they do not climb on their own.</a:t>
            </a:r>
            <a:endParaRPr lang="en-US" sz="1150" dirty="0"/>
          </a:p>
        </p:txBody>
      </p:sp>
      <p:sp>
        <p:nvSpPr>
          <p:cNvPr id="24" name="Shape 22"/>
          <p:cNvSpPr/>
          <p:nvPr/>
        </p:nvSpPr>
        <p:spPr>
          <a:xfrm>
            <a:off x="548640" y="4302252"/>
            <a:ext cx="11064240" cy="658368"/>
          </a:xfrm>
          <a:prstGeom prst="roundRect">
            <a:avLst>
              <a:gd name="adj" fmla="val 6944"/>
            </a:avLst>
          </a:prstGeom>
          <a:solidFill>
            <a:srgbClr val="1C2026"/>
          </a:solidFill>
          <a:ln w="12700">
            <a:solidFill>
              <a:srgbClr val="1C2026"/>
            </a:solidFill>
            <a:prstDash val="solid"/>
          </a:ln>
        </p:spPr>
      </p:sp>
      <p:sp>
        <p:nvSpPr>
          <p:cNvPr id="25" name="Shape 23"/>
          <p:cNvSpPr/>
          <p:nvPr/>
        </p:nvSpPr>
        <p:spPr>
          <a:xfrm>
            <a:off x="786384" y="448513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448513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441198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widget whose number climbs steadily while nothing new happens in KOI would be counting deliveries rather than alerts. Every widget in this pack de-duplicates first.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 — the KOI integration answers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alert in XSIAM (a correlation rule over koi_koi_raw, or Test 12 for simulated data)</a:t>
            </a:r>
            <a:endParaRPr lang="en-US" sz="1050" dirty="0"/>
          </a:p>
        </p:txBody>
      </p:sp>
      <p:sp>
        <p:nvSpPr>
          <p:cNvPr id="10" name="Shape 8"/>
          <p:cNvSpPr/>
          <p:nvPr/>
        </p:nvSpPr>
        <p:spPr>
          <a:xfrm>
            <a:off x="548640" y="2221992"/>
            <a:ext cx="6400800" cy="2665476"/>
          </a:xfrm>
          <a:prstGeom prst="roundRect">
            <a:avLst>
              <a:gd name="adj" fmla="val 1715"/>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 from the CLI:</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IR - Alert Triage"</a:t>
            </a:r>
            <a:endParaRPr lang="en-US" sz="10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0" name="Shape 18"/>
          <p:cNvSpPr/>
          <p:nvPr/>
        </p:nvSpPr>
        <p:spPr>
          <a:xfrm>
            <a:off x="7315200" y="2221992"/>
            <a:ext cx="4297680" cy="2665476"/>
          </a:xfrm>
          <a:prstGeom prst="roundRect">
            <a:avLst>
              <a:gd name="adj" fmla="val 1715"/>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item, marketplace, risk, host.</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28" name="Text 26"/>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3388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Medium and pending stay open for a human.</a:t>
            </a:r>
            <a:endParaRPr lang="en-US" sz="1150" dirty="0"/>
          </a:p>
        </p:txBody>
      </p:sp>
      <p:sp>
        <p:nvSpPr>
          <p:cNvPr id="30" name="Shape 28"/>
          <p:cNvSpPr/>
          <p:nvPr/>
        </p:nvSpPr>
        <p:spPr>
          <a:xfrm>
            <a:off x="548640" y="5033772"/>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216652"/>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2166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14350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Everything coming out Suspicious usually means the alert carried no KOI detail for the playbook to read. Check the correlation rule passes the KOI fields through. Pending means KOI has not finished scoring — it deliberately never auto-closes.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its marketplace, and a device id — both visible on any KOI alert</a:t>
            </a:r>
            <a:endParaRPr lang="en-US" sz="1050" dirty="0"/>
          </a:p>
        </p:txBody>
      </p:sp>
      <p:sp>
        <p:nvSpPr>
          <p:cNvPr id="10" name="Shape 8"/>
          <p:cNvSpPr/>
          <p:nvPr/>
        </p:nvSpPr>
        <p:spPr>
          <a:xfrm>
            <a:off x="548640" y="2221992"/>
            <a:ext cx="6400800" cy="2852928"/>
          </a:xfrm>
          <a:prstGeom prst="roundRect">
            <a:avLst>
              <a:gd name="adj" fmla="val 1603"/>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IR - Investigate Item → Run.</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IR - Investigate Device and a device id.</a:t>
            </a:r>
            <a:endParaRPr lang="en-US" sz="1150" dirty="0"/>
          </a:p>
        </p:txBody>
      </p:sp>
      <p:sp>
        <p:nvSpPr>
          <p:cNvPr id="18" name="Shape 16"/>
          <p:cNvSpPr/>
          <p:nvPr/>
        </p:nvSpPr>
        <p:spPr>
          <a:xfrm>
            <a:off x="7315200" y="222199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0" name="Text 18"/>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catalog risk and an AI-written summary.</a:t>
            </a:r>
            <a:endParaRPr lang="en-US" sz="1150" dirty="0"/>
          </a:p>
        </p:txBody>
      </p:sp>
      <p:sp>
        <p:nvSpPr>
          <p:cNvPr id="22" name="Text 20"/>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Organisation exposure: installs, endpoints, affected users.</a:t>
            </a:r>
            <a:endParaRPr lang="en-US" sz="1150" dirty="0"/>
          </a:p>
        </p:txBody>
      </p:sp>
      <p:sp>
        <p:nvSpPr>
          <p:cNvPr id="24" name="Text 22"/>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26" name="Text 24"/>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For the device: everything installed on that host, and which of it is risky.</a:t>
            </a:r>
            <a:endParaRPr lang="en-US" sz="1150" dirty="0"/>
          </a:p>
        </p:txBody>
      </p:sp>
      <p:sp>
        <p:nvSpPr>
          <p:cNvPr id="28" name="Shape 26"/>
          <p:cNvSpPr/>
          <p:nvPr/>
        </p:nvSpPr>
        <p:spPr>
          <a:xfrm>
            <a:off x="548640" y="5221224"/>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5404104"/>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5404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533095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Both governance counts matter. Zero blocklist hits alone does not mean nobody has governed the item — it may have been explicitly allowed, and blocking it would override that decision.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316736"/>
            <a:ext cx="11064240" cy="918972"/>
          </a:xfrm>
          <a:prstGeom prst="roundRect">
            <a:avLst>
              <a:gd name="adj" fmla="val 4975"/>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marketplace</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Permission to approve a task</a:t>
            </a:r>
            <a:endParaRPr lang="en-US" sz="1050" dirty="0"/>
          </a:p>
        </p:txBody>
      </p:sp>
      <p:sp>
        <p:nvSpPr>
          <p:cNvPr id="12" name="Shape 10"/>
          <p:cNvSpPr/>
          <p:nvPr/>
        </p:nvSpPr>
        <p:spPr>
          <a:xfrm>
            <a:off x="548640" y="2436876"/>
            <a:ext cx="6400800" cy="2665476"/>
          </a:xfrm>
          <a:prstGeom prst="roundRect">
            <a:avLst>
              <a:gd name="adj" fmla="val 1715"/>
            </a:avLst>
          </a:prstGeom>
          <a:solidFill>
            <a:srgbClr val="15171B"/>
          </a:solidFill>
          <a:ln w="12700">
            <a:solidFill>
              <a:srgbClr val="15171B"/>
            </a:solidFill>
            <a:prstDash val="solid"/>
          </a:ln>
        </p:spPr>
      </p:sp>
      <p:sp>
        <p:nvSpPr>
          <p:cNvPr id="13" name="Text 11"/>
          <p:cNvSpPr/>
          <p:nvPr/>
        </p:nvSpPr>
        <p:spPr>
          <a:xfrm>
            <a:off x="859536" y="26380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4" name="Text 12"/>
          <p:cNvSpPr/>
          <p:nvPr/>
        </p:nvSpPr>
        <p:spPr>
          <a:xfrm>
            <a:off x="859536" y="30038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5" name="Text 13"/>
          <p:cNvSpPr/>
          <p:nvPr/>
        </p:nvSpPr>
        <p:spPr>
          <a:xfrm>
            <a:off x="1152144" y="30038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IR - Block and Remediate → Run.</a:t>
            </a:r>
            <a:endParaRPr lang="en-US" sz="1150" dirty="0"/>
          </a:p>
        </p:txBody>
      </p:sp>
      <p:sp>
        <p:nvSpPr>
          <p:cNvPr id="16" name="Text 14"/>
          <p:cNvSpPr/>
          <p:nvPr/>
        </p:nvSpPr>
        <p:spPr>
          <a:xfrm>
            <a:off x="859536" y="33329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7" name="Text 15"/>
          <p:cNvSpPr/>
          <p:nvPr/>
        </p:nvSpPr>
        <p:spPr>
          <a:xfrm>
            <a:off x="1152144" y="33329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8" name="Text 16"/>
          <p:cNvSpPr/>
          <p:nvPr/>
        </p:nvSpPr>
        <p:spPr>
          <a:xfrm>
            <a:off x="859536" y="36621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9" name="Text 17"/>
          <p:cNvSpPr/>
          <p:nvPr/>
        </p:nvSpPr>
        <p:spPr>
          <a:xfrm>
            <a:off x="1152144" y="36621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0" name="Text 18"/>
          <p:cNvSpPr/>
          <p:nvPr/>
        </p:nvSpPr>
        <p:spPr>
          <a:xfrm>
            <a:off x="859536" y="39913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1" name="Text 19"/>
          <p:cNvSpPr/>
          <p:nvPr/>
        </p:nvSpPr>
        <p:spPr>
          <a:xfrm>
            <a:off x="1152144" y="39913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2" name="Shape 20"/>
          <p:cNvSpPr/>
          <p:nvPr/>
        </p:nvSpPr>
        <p:spPr>
          <a:xfrm>
            <a:off x="7315200" y="2436876"/>
            <a:ext cx="4297680" cy="2665476"/>
          </a:xfrm>
          <a:prstGeom prst="roundRect">
            <a:avLst>
              <a:gd name="adj" fmla="val 1715"/>
            </a:avLst>
          </a:prstGeom>
          <a:solidFill>
            <a:srgbClr val="1C2026"/>
          </a:solidFill>
          <a:ln w="12700">
            <a:solidFill>
              <a:srgbClr val="1C2026"/>
            </a:solidFill>
            <a:prstDash val="solid"/>
          </a:ln>
        </p:spPr>
      </p:sp>
      <p:sp>
        <p:nvSpPr>
          <p:cNvPr id="23" name="Text 21"/>
          <p:cNvSpPr/>
          <p:nvPr/>
        </p:nvSpPr>
        <p:spPr>
          <a:xfrm>
            <a:off x="7626096" y="26380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30038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038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26" name="Text 24"/>
          <p:cNvSpPr/>
          <p:nvPr/>
        </p:nvSpPr>
        <p:spPr>
          <a:xfrm>
            <a:off x="7626096" y="33329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3329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 and both governance counts.</a:t>
            </a:r>
            <a:endParaRPr lang="en-US" sz="1150" dirty="0"/>
          </a:p>
        </p:txBody>
      </p:sp>
      <p:sp>
        <p:nvSpPr>
          <p:cNvPr id="28" name="Text 26"/>
          <p:cNvSpPr/>
          <p:nvPr/>
        </p:nvSpPr>
        <p:spPr>
          <a:xfrm>
            <a:off x="7626096" y="3849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849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0" name="Text 28"/>
          <p:cNvSpPr/>
          <p:nvPr/>
        </p:nvSpPr>
        <p:spPr>
          <a:xfrm>
            <a:off x="7626096" y="4366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3662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 instead of being added twice.</a:t>
            </a:r>
            <a:endParaRPr lang="en-US" sz="1150" dirty="0"/>
          </a:p>
        </p:txBody>
      </p:sp>
      <p:sp>
        <p:nvSpPr>
          <p:cNvPr id="32" name="Shape 30"/>
          <p:cNvSpPr/>
          <p:nvPr/>
        </p:nvSpPr>
        <p:spPr>
          <a:xfrm>
            <a:off x="548640" y="5248656"/>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431536"/>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4315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35838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the test to repeat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MCP server hunt</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 — the KOI integration answers</a:t>
            </a:r>
            <a:endParaRPr lang="en-US" sz="1050" dirty="0"/>
          </a:p>
        </p:txBody>
      </p:sp>
      <p:sp>
        <p:nvSpPr>
          <p:cNvPr id="8" name="Shape 6"/>
          <p:cNvSpPr/>
          <p:nvPr/>
        </p:nvSpPr>
        <p:spPr>
          <a:xfrm>
            <a:off x="548640" y="2007108"/>
            <a:ext cx="6400800" cy="2103120"/>
          </a:xfrm>
          <a:prstGeom prst="roundRect">
            <a:avLst>
              <a:gd name="adj" fmla="val 2174"/>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Hunting - MCP Server Audit → Run.</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risk_levels (default high, critical).</a:t>
            </a:r>
            <a:endParaRPr lang="en-US" sz="11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table.</a:t>
            </a:r>
            <a:endParaRPr lang="en-US" sz="1150" dirty="0"/>
          </a:p>
        </p:txBody>
      </p:sp>
      <p:sp>
        <p:nvSpPr>
          <p:cNvPr id="16" name="Text 14"/>
          <p:cNvSpPr/>
          <p:nvPr/>
        </p:nvSpPr>
        <p:spPr>
          <a:xfrm>
            <a:off x="859536" y="35615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35615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To schedule it: Automation → Jobs → New Job, time-triggered.</a:t>
            </a:r>
            <a:endParaRPr lang="en-US" sz="1150" dirty="0"/>
          </a:p>
        </p:txBody>
      </p:sp>
      <p:sp>
        <p:nvSpPr>
          <p:cNvPr id="18" name="Shape 16"/>
          <p:cNvSpPr/>
          <p:nvPr/>
        </p:nvSpPr>
        <p:spPr>
          <a:xfrm>
            <a:off x="7315200" y="2007108"/>
            <a:ext cx="4297680" cy="2103120"/>
          </a:xfrm>
          <a:prstGeom prst="roundRect">
            <a:avLst>
              <a:gd name="adj" fmla="val 2174"/>
            </a:avLst>
          </a:prstGeom>
          <a:solidFill>
            <a:srgbClr val="1C2026"/>
          </a:solidFill>
          <a:ln w="12700">
            <a:solidFill>
              <a:srgbClr val="1C2026"/>
            </a:solidFill>
            <a:prstDash val="solid"/>
          </a:ln>
        </p:spPr>
      </p:sp>
      <p:sp>
        <p:nvSpPr>
          <p:cNvPr id="19" name="Text 17"/>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0" name="Text 18"/>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574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table of MCP servers at or above the risk threshold.</a:t>
            </a:r>
            <a:endParaRPr lang="en-US" sz="1150" dirty="0"/>
          </a:p>
        </p:txBody>
      </p:sp>
      <p:sp>
        <p:nvSpPr>
          <p:cNvPr id="22" name="Text 20"/>
          <p:cNvSpPr/>
          <p:nvPr/>
        </p:nvSpPr>
        <p:spPr>
          <a:xfrm>
            <a:off x="7626096" y="3090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90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empty table is a valid result — it means nothing risky is installed.</a:t>
            </a:r>
            <a:endParaRPr lang="en-US" sz="1150" dirty="0"/>
          </a:p>
        </p:txBody>
      </p:sp>
      <p:sp>
        <p:nvSpPr>
          <p:cNvPr id="24" name="Shape 22"/>
          <p:cNvSpPr/>
          <p:nvPr/>
        </p:nvSpPr>
        <p:spPr>
          <a:xfrm>
            <a:off x="548640" y="4256532"/>
            <a:ext cx="11064240" cy="658368"/>
          </a:xfrm>
          <a:prstGeom prst="roundRect">
            <a:avLst>
              <a:gd name="adj" fmla="val 6944"/>
            </a:avLst>
          </a:prstGeom>
          <a:solidFill>
            <a:srgbClr val="1C2026"/>
          </a:solidFill>
          <a:ln w="12700">
            <a:solidFill>
              <a:srgbClr val="1C2026"/>
            </a:solidFill>
            <a:prstDash val="solid"/>
          </a:ln>
        </p:spPr>
      </p:sp>
      <p:sp>
        <p:nvSpPr>
          <p:cNvPr id="25" name="Shape 23"/>
          <p:cNvSpPr/>
          <p:nvPr/>
        </p:nvSpPr>
        <p:spPr>
          <a:xfrm>
            <a:off x="786384" y="443941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443941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436626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asks KOI what it has already scored. It finds risky agentic-AI assets without waiting for an alert about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316736"/>
            <a:ext cx="11064240" cy="1133856"/>
          </a:xfrm>
          <a:prstGeom prst="roundRect">
            <a:avLst>
              <a:gd name="adj" fmla="val 4032"/>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Core REST API integration instance configured  ← the one people miss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script uploaded in Action Center → Scripts Library (it must take no parameters)</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endpoint group — easiest is to tag the agents, then make a dynamic group on that tag</a:t>
            </a:r>
            <a:endParaRPr lang="en-US" sz="1050" dirty="0"/>
          </a:p>
        </p:txBody>
      </p:sp>
      <p:sp>
        <p:nvSpPr>
          <p:cNvPr id="12" name="Text 10"/>
          <p:cNvSpPr/>
          <p:nvPr/>
        </p:nvSpPr>
        <p:spPr>
          <a:xfrm>
            <a:off x="3749040" y="2061972"/>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3950208" y="2061972"/>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JSON List named exactly "Koi Script Runner"</a:t>
            </a:r>
            <a:endParaRPr lang="en-US" sz="1050" dirty="0"/>
          </a:p>
        </p:txBody>
      </p:sp>
      <p:sp>
        <p:nvSpPr>
          <p:cNvPr id="14" name="Shape 12"/>
          <p:cNvSpPr/>
          <p:nvPr/>
        </p:nvSpPr>
        <p:spPr>
          <a:xfrm>
            <a:off x="548640" y="2651760"/>
            <a:ext cx="6400800" cy="2665476"/>
          </a:xfrm>
          <a:prstGeom prst="roundRect">
            <a:avLst>
              <a:gd name="adj" fmla="val 1715"/>
            </a:avLst>
          </a:prstGeom>
          <a:solidFill>
            <a:srgbClr val="15171B"/>
          </a:solidFill>
          <a:ln w="12700">
            <a:solidFill>
              <a:srgbClr val="15171B"/>
            </a:solidFill>
            <a:prstDash val="solid"/>
          </a:ln>
        </p:spPr>
      </p:sp>
      <p:sp>
        <p:nvSpPr>
          <p:cNvPr id="15" name="Text 13"/>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6" name="Text 14"/>
          <p:cNvSpPr/>
          <p:nvPr/>
        </p:nvSpPr>
        <p:spPr>
          <a:xfrm>
            <a:off x="859536" y="32186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7" name="Text 15"/>
          <p:cNvSpPr/>
          <p:nvPr/>
        </p:nvSpPr>
        <p:spPr>
          <a:xfrm>
            <a:off x="1152144" y="321868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Koi Script Runner.</a:t>
            </a:r>
            <a:endParaRPr lang="en-US" sz="1150" dirty="0"/>
          </a:p>
        </p:txBody>
      </p:sp>
      <p:sp>
        <p:nvSpPr>
          <p:cNvPr id="18" name="Text 16"/>
          <p:cNvSpPr/>
          <p:nvPr/>
        </p:nvSpPr>
        <p:spPr>
          <a:xfrm>
            <a:off x="859536" y="37353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9" name="Text 17"/>
          <p:cNvSpPr/>
          <p:nvPr/>
        </p:nvSpPr>
        <p:spPr>
          <a:xfrm>
            <a:off x="1152144" y="373532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Give each entry a script name, endpoint_os, endpoint group, tracker_list and rescan_interval_hours.</a:t>
            </a:r>
            <a:endParaRPr lang="en-US" sz="1150" dirty="0"/>
          </a:p>
        </p:txBody>
      </p:sp>
      <p:sp>
        <p:nvSpPr>
          <p:cNvPr id="20" name="Text 18"/>
          <p:cNvSpPr/>
          <p:nvPr/>
        </p:nvSpPr>
        <p:spPr>
          <a:xfrm>
            <a:off x="859536" y="42519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1" name="Text 19"/>
          <p:cNvSpPr/>
          <p:nvPr/>
        </p:nvSpPr>
        <p:spPr>
          <a:xfrm>
            <a:off x="1152144" y="425196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Script Runner - Refresh Job.</a:t>
            </a:r>
            <a:endParaRPr lang="en-US" sz="1150" dirty="0"/>
          </a:p>
        </p:txBody>
      </p:sp>
      <p:sp>
        <p:nvSpPr>
          <p:cNvPr id="22" name="Text 20"/>
          <p:cNvSpPr/>
          <p:nvPr/>
        </p:nvSpPr>
        <p:spPr>
          <a:xfrm>
            <a:off x="859536" y="47685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3" name="Text 21"/>
          <p:cNvSpPr/>
          <p:nvPr/>
        </p:nvSpPr>
        <p:spPr>
          <a:xfrm>
            <a:off x="1152144" y="47685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use Run now.</a:t>
            </a:r>
            <a:endParaRPr lang="en-US" sz="1150" dirty="0"/>
          </a:p>
        </p:txBody>
      </p:sp>
      <p:sp>
        <p:nvSpPr>
          <p:cNvPr id="24" name="Shape 22"/>
          <p:cNvSpPr/>
          <p:nvPr/>
        </p:nvSpPr>
        <p:spPr>
          <a:xfrm>
            <a:off x="7315200" y="2651760"/>
            <a:ext cx="4297680" cy="2665476"/>
          </a:xfrm>
          <a:prstGeom prst="roundRect">
            <a:avLst>
              <a:gd name="adj" fmla="val 1715"/>
            </a:avLst>
          </a:prstGeom>
          <a:solidFill>
            <a:srgbClr val="1C2026"/>
          </a:solidFill>
          <a:ln w="12700">
            <a:solidFill>
              <a:srgbClr val="1C2026"/>
            </a:solidFill>
            <a:prstDash val="solid"/>
          </a:ln>
        </p:spPr>
      </p:sp>
      <p:sp>
        <p:nvSpPr>
          <p:cNvPr id="25" name="Text 23"/>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32186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2186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28" name="Text 26"/>
          <p:cNvSpPr/>
          <p:nvPr/>
        </p:nvSpPr>
        <p:spPr>
          <a:xfrm>
            <a:off x="7626096" y="37353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7353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30" name="Text 28"/>
          <p:cNvSpPr/>
          <p:nvPr/>
        </p:nvSpPr>
        <p:spPr>
          <a:xfrm>
            <a:off x="7626096" y="42519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2519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32" name="Shape 30"/>
          <p:cNvSpPr/>
          <p:nvPr/>
        </p:nvSpPr>
        <p:spPr>
          <a:xfrm>
            <a:off x="548640" y="5463540"/>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646420"/>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6464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57326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The tracker simply stays empty, which looks like a broken playbook.</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9 passing — the tracker List has rows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50" dirty="0"/>
          </a:p>
        </p:txBody>
      </p:sp>
      <p:sp>
        <p:nvSpPr>
          <p:cNvPr id="10" name="Shape 8"/>
          <p:cNvSpPr/>
          <p:nvPr/>
        </p:nvSpPr>
        <p:spPr>
          <a:xfrm>
            <a:off x="548640" y="2221992"/>
            <a:ext cx="6400800" cy="2852928"/>
          </a:xfrm>
          <a:prstGeom prst="roundRect">
            <a:avLst>
              <a:gd name="adj" fmla="val 1603"/>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Script Runner - Scan Job.</a:t>
            </a:r>
            <a:endParaRPr lang="en-US" sz="1150" dirty="0"/>
          </a:p>
        </p:txBody>
      </p:sp>
      <p:sp>
        <p:nvSpPr>
          <p:cNvPr id="14" name="Text 12"/>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16" name="Text 14"/>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18" name="Text 16"/>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0" name="Shape 18"/>
          <p:cNvSpPr/>
          <p:nvPr/>
        </p:nvSpPr>
        <p:spPr>
          <a:xfrm>
            <a:off x="7315200" y="2221992"/>
            <a:ext cx="4297680" cy="2852928"/>
          </a:xfrm>
          <a:prstGeom prst="roundRect">
            <a:avLst>
              <a:gd name="adj" fmla="val 1603"/>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wrong-OS and unknown endpoints stay due and retry later.</a:t>
            </a:r>
            <a:endParaRPr lang="en-US" sz="1150" dirty="0"/>
          </a:p>
        </p:txBody>
      </p:sp>
      <p:sp>
        <p:nvSpPr>
          <p:cNvPr id="28" name="Text 26"/>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everything is inside the rescan interval.</a:t>
            </a:r>
            <a:endParaRPr lang="en-US" sz="1150" dirty="0"/>
          </a:p>
        </p:txBody>
      </p:sp>
      <p:sp>
        <p:nvSpPr>
          <p:cNvPr id="30" name="Shape 28"/>
          <p:cNvSpPr/>
          <p:nvPr/>
        </p:nvSpPr>
        <p:spPr>
          <a:xfrm>
            <a:off x="548640" y="5221224"/>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404104"/>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404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33095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Threat-hunting query library</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Nothing else — the cross-dataset hunts read xdr_data, which XSIAM holds natively</a:t>
            </a:r>
            <a:endParaRPr lang="en-US" sz="1050" dirty="0"/>
          </a:p>
        </p:txBody>
      </p:sp>
      <p:sp>
        <p:nvSpPr>
          <p:cNvPr id="10" name="Shape 8"/>
          <p:cNvSpPr/>
          <p:nvPr/>
        </p:nvSpPr>
        <p:spPr>
          <a:xfrm>
            <a:off x="548640" y="2221992"/>
            <a:ext cx="6400800" cy="2148840"/>
          </a:xfrm>
          <a:prstGeom prst="roundRect">
            <a:avLst>
              <a:gd name="adj" fmla="val 2128"/>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docs/xql in the pack you were sent.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QUERY_LIBRARY.md first — it explains the rules.</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a hunt into Query Builder, starting with H2.1.</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Try a detection too, for example A1.</a:t>
            </a:r>
            <a:endParaRPr lang="en-US" sz="1150" dirty="0"/>
          </a:p>
        </p:txBody>
      </p:sp>
      <p:sp>
        <p:nvSpPr>
          <p:cNvPr id="20" name="Shape 18"/>
          <p:cNvSpPr/>
          <p:nvPr/>
        </p:nvSpPr>
        <p:spPr>
          <a:xfrm>
            <a:off x="7315200" y="2221992"/>
            <a:ext cx="4297680" cy="2148840"/>
          </a:xfrm>
          <a:prstGeom prst="roundRect">
            <a:avLst>
              <a:gd name="adj" fmla="val 2128"/>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query runs and returns rows, or a clean empty result.</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Hunts surface findings KOI scored that nobody actioned.</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26 hunts and 46 detections are included.</a:t>
            </a:r>
            <a:endParaRPr lang="en-US" sz="1150" dirty="0"/>
          </a:p>
        </p:txBody>
      </p:sp>
      <p:sp>
        <p:nvSpPr>
          <p:cNvPr id="28" name="Shape 26"/>
          <p:cNvSpPr/>
          <p:nvPr/>
        </p:nvSpPr>
        <p:spPr>
          <a:xfrm>
            <a:off x="548640" y="4517136"/>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700016"/>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70001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62686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These read raw event fields, so they keep working regardless of the modeling rule. An empty result is a valid answer, not a failure.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Simulated test data</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KoiSimulateEvents automation imported (ships in TestTools)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No KOI API key and no Core REST API needed</a:t>
            </a:r>
            <a:endParaRPr lang="en-US" sz="1050" dirty="0"/>
          </a:p>
        </p:txBody>
      </p:sp>
      <p:sp>
        <p:nvSpPr>
          <p:cNvPr id="10" name="Shape 8"/>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!KoiSimulateEvents alerts=40 duplicate_factor=8 audit=60</a:t>
            </a:r>
            <a:endParaRPr lang="en-US" sz="10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summary it prints — it tells you the answers in advance.</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Query koisim_koisim_raw to check them.</a:t>
            </a:r>
            <a:endParaRPr lang="en-US" sz="1150" dirty="0"/>
          </a:p>
        </p:txBody>
      </p:sp>
      <p:sp>
        <p:nvSpPr>
          <p:cNvPr id="22" name="Shape 20"/>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3" name="Text 21"/>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380 events land in koisim_koisim_raw.</a:t>
            </a:r>
            <a:endParaRPr lang="en-US" sz="1150" dirty="0"/>
          </a:p>
        </p:txBody>
      </p:sp>
      <p:sp>
        <p:nvSpPr>
          <p:cNvPr id="26" name="Text 24"/>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1181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40 distinct alerts delivered 8 times each, as real KOI does.</a:t>
            </a:r>
            <a:endParaRPr lang="en-US" sz="1150" dirty="0"/>
          </a:p>
        </p:txBody>
      </p:sp>
      <p:sp>
        <p:nvSpPr>
          <p:cNvPr id="28" name="Text 26"/>
          <p:cNvSpPr/>
          <p:nvPr/>
        </p:nvSpPr>
        <p:spPr>
          <a:xfrm>
            <a:off x="7626096" y="36347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6347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counts you measure match the summary exactly.</a:t>
            </a:r>
            <a:endParaRPr lang="en-US" sz="1150" dirty="0"/>
          </a:p>
        </p:txBody>
      </p:sp>
      <p:sp>
        <p:nvSpPr>
          <p:cNvPr id="30" name="Shape 28"/>
          <p:cNvSpPr/>
          <p:nvPr/>
        </p:nvSpPr>
        <p:spPr>
          <a:xfrm>
            <a:off x="548640" y="4800600"/>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4983480"/>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49834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49103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 writes to its own dataset, never koi_koi_raw, so it cannot disturb real data. Use it to see the pack working before real KOI activity exists.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401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API key itself</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Re-create the key with the xt-Administrator role</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Engine is not connected</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Cortex engine is offline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Every koi- command fails before reaching KOI. Restart the engine</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No events after enabling fetch</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Only one cycle has run</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Wait two cycles, then re-check Test 2</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as Suspicious</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9 cannot pass without it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Scan run does nothing</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Refresh has not run yet</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Refresh job first; an empty tracker means nothing is due</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Six of these eight are tenant setup, not the pack. Check the amber panel on the test before raising a defect.</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17320"/>
            <a:ext cx="5349240" cy="548640"/>
          </a:xfrm>
          <a:prstGeom prst="roundRect">
            <a:avLst>
              <a:gd name="adj" fmla="val 8333"/>
            </a:avLst>
          </a:prstGeom>
          <a:solidFill>
            <a:srgbClr val="15171B"/>
          </a:solidFill>
          <a:ln w="12700">
            <a:solidFill>
              <a:srgbClr val="15171B"/>
            </a:solidFill>
            <a:prstDash val="solid"/>
          </a:ln>
        </p:spPr>
      </p:sp>
      <p:sp>
        <p:nvSpPr>
          <p:cNvPr id="6" name="Shape 4"/>
          <p:cNvSpPr/>
          <p:nvPr/>
        </p:nvSpPr>
        <p:spPr>
          <a:xfrm>
            <a:off x="749808" y="1536192"/>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devices list returns rows</a:t>
            </a:r>
            <a:endParaRPr lang="en-US" sz="1050" dirty="0"/>
          </a:p>
        </p:txBody>
      </p:sp>
      <p:sp>
        <p:nvSpPr>
          <p:cNvPr id="9" name="Shape 7"/>
          <p:cNvSpPr/>
          <p:nvPr/>
        </p:nvSpPr>
        <p:spPr>
          <a:xfrm>
            <a:off x="548640" y="2075688"/>
            <a:ext cx="5349240" cy="548640"/>
          </a:xfrm>
          <a:prstGeom prst="roundRect">
            <a:avLst>
              <a:gd name="adj" fmla="val 8333"/>
            </a:avLst>
          </a:prstGeom>
          <a:solidFill>
            <a:srgbClr val="15171B"/>
          </a:solidFill>
          <a:ln w="12700">
            <a:solidFill>
              <a:srgbClr val="15171B"/>
            </a:solidFill>
            <a:prstDash val="solid"/>
          </a:ln>
        </p:spPr>
      </p:sp>
      <p:sp>
        <p:nvSpPr>
          <p:cNvPr id="10" name="Shape 8"/>
          <p:cNvSpPr/>
          <p:nvPr/>
        </p:nvSpPr>
        <p:spPr>
          <a:xfrm>
            <a:off x="749808" y="2194560"/>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between collection cycles</a:t>
            </a:r>
            <a:endParaRPr lang="en-US" sz="1050" dirty="0"/>
          </a:p>
        </p:txBody>
      </p:sp>
      <p:sp>
        <p:nvSpPr>
          <p:cNvPr id="13" name="Shape 11"/>
          <p:cNvSpPr/>
          <p:nvPr/>
        </p:nvSpPr>
        <p:spPr>
          <a:xfrm>
            <a:off x="548640" y="2734056"/>
            <a:ext cx="5349240" cy="548640"/>
          </a:xfrm>
          <a:prstGeom prst="roundRect">
            <a:avLst>
              <a:gd name="adj" fmla="val 8333"/>
            </a:avLst>
          </a:prstGeom>
          <a:solidFill>
            <a:srgbClr val="15171B"/>
          </a:solidFill>
          <a:ln w="12700">
            <a:solidFill>
              <a:srgbClr val="15171B"/>
            </a:solidFill>
            <a:prstDash val="solid"/>
          </a:ln>
        </p:spPr>
      </p:sp>
      <p:sp>
        <p:nvSpPr>
          <p:cNvPr id="14" name="Shape 12"/>
          <p:cNvSpPr/>
          <p:nvPr/>
        </p:nvSpPr>
        <p:spPr>
          <a:xfrm>
            <a:off x="749808" y="2852928"/>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 and that is correct</a:t>
            </a:r>
            <a:endParaRPr lang="en-US" sz="1050" dirty="0"/>
          </a:p>
        </p:txBody>
      </p:sp>
      <p:sp>
        <p:nvSpPr>
          <p:cNvPr id="17" name="Shape 15"/>
          <p:cNvSpPr/>
          <p:nvPr/>
        </p:nvSpPr>
        <p:spPr>
          <a:xfrm>
            <a:off x="548640" y="3392424"/>
            <a:ext cx="5349240" cy="548640"/>
          </a:xfrm>
          <a:prstGeom prst="roundRect">
            <a:avLst>
              <a:gd name="adj" fmla="val 8333"/>
            </a:avLst>
          </a:prstGeom>
          <a:solidFill>
            <a:srgbClr val="15171B"/>
          </a:solidFill>
          <a:ln w="12700">
            <a:solidFill>
              <a:srgbClr val="15171B"/>
            </a:solidFill>
            <a:prstDash val="solid"/>
          </a:ln>
        </p:spPr>
      </p:sp>
      <p:sp>
        <p:nvSpPr>
          <p:cNvPr id="18" name="Shape 16"/>
          <p:cNvSpPr/>
          <p:nvPr/>
        </p:nvSpPr>
        <p:spPr>
          <a:xfrm>
            <a:off x="749808" y="3511296"/>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Dashboard renders; counts stay stable across fetches</a:t>
            </a:r>
            <a:endParaRPr lang="en-US" sz="1050" dirty="0"/>
          </a:p>
        </p:txBody>
      </p:sp>
      <p:sp>
        <p:nvSpPr>
          <p:cNvPr id="21" name="Shape 19"/>
          <p:cNvSpPr/>
          <p:nvPr/>
        </p:nvSpPr>
        <p:spPr>
          <a:xfrm>
            <a:off x="548640" y="4050792"/>
            <a:ext cx="5349240" cy="548640"/>
          </a:xfrm>
          <a:prstGeom prst="roundRect">
            <a:avLst>
              <a:gd name="adj" fmla="val 8333"/>
            </a:avLst>
          </a:prstGeom>
          <a:solidFill>
            <a:srgbClr val="15171B"/>
          </a:solidFill>
          <a:ln w="12700">
            <a:solidFill>
              <a:srgbClr val="15171B"/>
            </a:solidFill>
            <a:prstDash val="solid"/>
          </a:ln>
        </p:spPr>
      </p:sp>
      <p:sp>
        <p:nvSpPr>
          <p:cNvPr id="22" name="Shape 20"/>
          <p:cNvSpPr/>
          <p:nvPr/>
        </p:nvSpPr>
        <p:spPr>
          <a:xfrm>
            <a:off x="749808" y="416966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5" name="Shape 23"/>
          <p:cNvSpPr/>
          <p:nvPr/>
        </p:nvSpPr>
        <p:spPr>
          <a:xfrm>
            <a:off x="548640" y="4709160"/>
            <a:ext cx="5349240" cy="548640"/>
          </a:xfrm>
          <a:prstGeom prst="roundRect">
            <a:avLst>
              <a:gd name="adj" fmla="val 8333"/>
            </a:avLst>
          </a:prstGeom>
          <a:solidFill>
            <a:srgbClr val="15171B"/>
          </a:solidFill>
          <a:ln w="12700">
            <a:solidFill>
              <a:srgbClr val="15171B"/>
            </a:solidFill>
            <a:prstDash val="solid"/>
          </a:ln>
        </p:spPr>
      </p:sp>
      <p:sp>
        <p:nvSpPr>
          <p:cNvPr id="26" name="Shape 24"/>
          <p:cNvSpPr/>
          <p:nvPr/>
        </p:nvSpPr>
        <p:spPr>
          <a:xfrm>
            <a:off x="749808" y="4828032"/>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749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1225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catalog risk and both governance counts</a:t>
            </a:r>
            <a:endParaRPr lang="en-US" sz="1050" dirty="0"/>
          </a:p>
        </p:txBody>
      </p:sp>
      <p:sp>
        <p:nvSpPr>
          <p:cNvPr id="29" name="Shape 27"/>
          <p:cNvSpPr/>
          <p:nvPr/>
        </p:nvSpPr>
        <p:spPr>
          <a:xfrm>
            <a:off x="6263640" y="1417320"/>
            <a:ext cx="5349240" cy="548640"/>
          </a:xfrm>
          <a:prstGeom prst="roundRect">
            <a:avLst>
              <a:gd name="adj" fmla="val 8333"/>
            </a:avLst>
          </a:prstGeom>
          <a:solidFill>
            <a:srgbClr val="15171B"/>
          </a:solidFill>
          <a:ln w="12700">
            <a:solidFill>
              <a:srgbClr val="15171B"/>
            </a:solidFill>
            <a:prstDash val="solid"/>
          </a:ln>
        </p:spPr>
      </p:sp>
      <p:sp>
        <p:nvSpPr>
          <p:cNvPr id="30" name="Shape 28"/>
          <p:cNvSpPr/>
          <p:nvPr/>
        </p:nvSpPr>
        <p:spPr>
          <a:xfrm>
            <a:off x="6464808" y="1536192"/>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 until approved</a:t>
            </a:r>
            <a:endParaRPr lang="en-US" sz="1050" dirty="0"/>
          </a:p>
        </p:txBody>
      </p:sp>
      <p:sp>
        <p:nvSpPr>
          <p:cNvPr id="33" name="Shape 31"/>
          <p:cNvSpPr/>
          <p:nvPr/>
        </p:nvSpPr>
        <p:spPr>
          <a:xfrm>
            <a:off x="6263640" y="2075688"/>
            <a:ext cx="5349240" cy="548640"/>
          </a:xfrm>
          <a:prstGeom prst="roundRect">
            <a:avLst>
              <a:gd name="adj" fmla="val 8333"/>
            </a:avLst>
          </a:prstGeom>
          <a:solidFill>
            <a:srgbClr val="15171B"/>
          </a:solidFill>
          <a:ln w="12700">
            <a:solidFill>
              <a:srgbClr val="15171B"/>
            </a:solidFill>
            <a:prstDash val="solid"/>
          </a:ln>
        </p:spPr>
      </p:sp>
      <p:sp>
        <p:nvSpPr>
          <p:cNvPr id="34" name="Shape 32"/>
          <p:cNvSpPr/>
          <p:nvPr/>
        </p:nvSpPr>
        <p:spPr>
          <a:xfrm>
            <a:off x="6464808" y="2194560"/>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at or above the threshold</a:t>
            </a:r>
            <a:endParaRPr lang="en-US" sz="1050" dirty="0"/>
          </a:p>
        </p:txBody>
      </p:sp>
      <p:sp>
        <p:nvSpPr>
          <p:cNvPr id="37" name="Shape 35"/>
          <p:cNvSpPr/>
          <p:nvPr/>
        </p:nvSpPr>
        <p:spPr>
          <a:xfrm>
            <a:off x="6263640" y="2734056"/>
            <a:ext cx="5349240" cy="548640"/>
          </a:xfrm>
          <a:prstGeom prst="roundRect">
            <a:avLst>
              <a:gd name="adj" fmla="val 8333"/>
            </a:avLst>
          </a:prstGeom>
          <a:solidFill>
            <a:srgbClr val="15171B"/>
          </a:solidFill>
          <a:ln w="12700">
            <a:solidFill>
              <a:srgbClr val="15171B"/>
            </a:solidFill>
            <a:prstDash val="solid"/>
          </a:ln>
        </p:spPr>
      </p:sp>
      <p:sp>
        <p:nvSpPr>
          <p:cNvPr id="38" name="Shape 36"/>
          <p:cNvSpPr/>
          <p:nvPr/>
        </p:nvSpPr>
        <p:spPr>
          <a:xfrm>
            <a:off x="6464808" y="2852928"/>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41" name="Shape 39"/>
          <p:cNvSpPr/>
          <p:nvPr/>
        </p:nvSpPr>
        <p:spPr>
          <a:xfrm>
            <a:off x="6263640" y="3392424"/>
            <a:ext cx="5349240" cy="548640"/>
          </a:xfrm>
          <a:prstGeom prst="roundRect">
            <a:avLst>
              <a:gd name="adj" fmla="val 8333"/>
            </a:avLst>
          </a:prstGeom>
          <a:solidFill>
            <a:srgbClr val="15171B"/>
          </a:solidFill>
          <a:ln w="12700">
            <a:solidFill>
              <a:srgbClr val="15171B"/>
            </a:solidFill>
            <a:prstDash val="solid"/>
          </a:ln>
        </p:spPr>
      </p:sp>
      <p:sp>
        <p:nvSpPr>
          <p:cNvPr id="42" name="Shape 40"/>
          <p:cNvSpPr/>
          <p:nvPr/>
        </p:nvSpPr>
        <p:spPr>
          <a:xfrm>
            <a:off x="6464808" y="3511296"/>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 re-run is a no-op</a:t>
            </a:r>
            <a:endParaRPr lang="en-US" sz="1050" dirty="0"/>
          </a:p>
        </p:txBody>
      </p:sp>
      <p:sp>
        <p:nvSpPr>
          <p:cNvPr id="45" name="Shape 43"/>
          <p:cNvSpPr/>
          <p:nvPr/>
        </p:nvSpPr>
        <p:spPr>
          <a:xfrm>
            <a:off x="6263640" y="4050792"/>
            <a:ext cx="5349240" cy="548640"/>
          </a:xfrm>
          <a:prstGeom prst="roundRect">
            <a:avLst>
              <a:gd name="adj" fmla="val 8333"/>
            </a:avLst>
          </a:prstGeom>
          <a:solidFill>
            <a:srgbClr val="15171B"/>
          </a:solidFill>
          <a:ln w="12700">
            <a:solidFill>
              <a:srgbClr val="15171B"/>
            </a:solidFill>
            <a:prstDash val="solid"/>
          </a:ln>
        </p:spPr>
      </p:sp>
      <p:sp>
        <p:nvSpPr>
          <p:cNvPr id="46" name="Shape 44"/>
          <p:cNvSpPr/>
          <p:nvPr/>
        </p:nvSpPr>
        <p:spPr>
          <a:xfrm>
            <a:off x="6464808" y="4169664"/>
            <a:ext cx="310896" cy="310896"/>
          </a:xfrm>
          <a:prstGeom prst="roundRect">
            <a:avLst>
              <a:gd name="adj" fmla="val 26471"/>
            </a:avLst>
          </a:prstGeom>
          <a:solidFill>
            <a:srgbClr val="3FB950"/>
          </a:solidFill>
          <a:ln w="12700">
            <a:solidFill>
              <a:srgbClr val="3FB950"/>
            </a:solidFill>
            <a:prstDash val="solid"/>
          </a:ln>
        </p:spPr>
      </p:sp>
      <p:sp>
        <p:nvSpPr>
          <p:cNvPr id="47" name="Text 45"/>
          <p:cNvSpPr/>
          <p:nvPr/>
        </p:nvSpPr>
        <p:spPr>
          <a:xfrm>
            <a:off x="6464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8" name="Text 46"/>
          <p:cNvSpPr/>
          <p:nvPr/>
        </p:nvSpPr>
        <p:spPr>
          <a:xfrm>
            <a:off x="6940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Library queries run and return results</a:t>
            </a:r>
            <a:endParaRPr lang="en-US" sz="1050" dirty="0"/>
          </a:p>
        </p:txBody>
      </p:sp>
      <p:sp>
        <p:nvSpPr>
          <p:cNvPr id="49" name="Shape 47"/>
          <p:cNvSpPr/>
          <p:nvPr/>
        </p:nvSpPr>
        <p:spPr>
          <a:xfrm>
            <a:off x="6263640" y="4709160"/>
            <a:ext cx="5349240" cy="548640"/>
          </a:xfrm>
          <a:prstGeom prst="roundRect">
            <a:avLst>
              <a:gd name="adj" fmla="val 8333"/>
            </a:avLst>
          </a:prstGeom>
          <a:solidFill>
            <a:srgbClr val="15171B"/>
          </a:solidFill>
          <a:ln w="12700">
            <a:solidFill>
              <a:srgbClr val="15171B"/>
            </a:solidFill>
            <a:prstDash val="solid"/>
          </a:ln>
        </p:spPr>
      </p:sp>
      <p:sp>
        <p:nvSpPr>
          <p:cNvPr id="50" name="Shape 48"/>
          <p:cNvSpPr/>
          <p:nvPr/>
        </p:nvSpPr>
        <p:spPr>
          <a:xfrm>
            <a:off x="6464808" y="4828032"/>
            <a:ext cx="310896" cy="310896"/>
          </a:xfrm>
          <a:prstGeom prst="roundRect">
            <a:avLst>
              <a:gd name="adj" fmla="val 26471"/>
            </a:avLst>
          </a:prstGeom>
          <a:solidFill>
            <a:srgbClr val="3FB950"/>
          </a:solidFill>
          <a:ln w="12700">
            <a:solidFill>
              <a:srgbClr val="3FB950"/>
            </a:solidFill>
            <a:prstDash val="solid"/>
          </a:ln>
        </p:spPr>
      </p:sp>
      <p:sp>
        <p:nvSpPr>
          <p:cNvPr id="51" name="Text 49"/>
          <p:cNvSpPr/>
          <p:nvPr/>
        </p:nvSpPr>
        <p:spPr>
          <a:xfrm>
            <a:off x="6464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52" name="Text 50"/>
          <p:cNvSpPr/>
          <p:nvPr/>
        </p:nvSpPr>
        <p:spPr>
          <a:xfrm>
            <a:off x="6940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Simulated counts match the summary exactly</a:t>
            </a:r>
            <a:endParaRPr lang="en-US" sz="1050" dirty="0"/>
          </a:p>
        </p:txBody>
      </p:sp>
      <p:sp>
        <p:nvSpPr>
          <p:cNvPr id="53" name="Shape 51"/>
          <p:cNvSpPr/>
          <p:nvPr/>
        </p:nvSpPr>
        <p:spPr>
          <a:xfrm>
            <a:off x="548640" y="5440680"/>
            <a:ext cx="11064240" cy="685800"/>
          </a:xfrm>
          <a:prstGeom prst="roundRect">
            <a:avLst>
              <a:gd name="adj" fmla="val 6667"/>
            </a:avLst>
          </a:prstGeom>
          <a:solidFill>
            <a:srgbClr val="1C2026"/>
          </a:solidFill>
          <a:ln w="12700">
            <a:solidFill>
              <a:srgbClr val="1C2026"/>
            </a:solidFill>
            <a:prstDash val="solid"/>
          </a:ln>
        </p:spPr>
      </p:sp>
      <p:sp>
        <p:nvSpPr>
          <p:cNvPr id="54" name="Text 52"/>
          <p:cNvSpPr/>
          <p:nvPr/>
        </p:nvSpPr>
        <p:spPr>
          <a:xfrm>
            <a:off x="859536" y="5623560"/>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twelve green — the pack is ready for production use.</a:t>
            </a:r>
            <a:endParaRPr lang="en-US" sz="1300" dirty="0"/>
          </a:p>
        </p:txBody>
      </p:sp>
      <p:sp>
        <p:nvSpPr>
          <p:cNvPr id="55" name="Text 53"/>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Full detail in KOI_Integration_Customer_Guide_v1.4.0. Diagnostics in the troubleshooting guide.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2026-07-26T06:25:48Z</dcterms:created>
  <dcterms:modified xsi:type="dcterms:W3CDTF">2026-07-26T06:25:48Z</dcterms:modified>
</cp:coreProperties>
</file>