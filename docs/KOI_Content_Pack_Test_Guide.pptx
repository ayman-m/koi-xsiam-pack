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for an operator, not a content developer. Every test names the tenant-side setup it needs before it can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Grouping by dependency, not just by order, so a tester who is blocked on one prerequisite can still make progress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Egress is the single most common deployment problem and it is not obvious from the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 one thing testers misread as a duplication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state-changing action in the pack. Treat this as the production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must run before Scan. An empty tracker means Scan has nothing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Fastest possible demo: no KOI key, no waiting, and the expected numbers are printed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778240" y="-2377440"/>
            <a:ext cx="5852160" cy="5852160"/>
          </a:xfrm>
          <a:prstGeom prst="ellipse">
            <a:avLst/>
          </a:prstGeom>
          <a:solidFill>
            <a:srgbClr val="E8551F">
              <a:alpha val="10000"/>
            </a:srgbClr>
          </a:solidFill>
          <a:ln w="12700">
            <a:solidFill>
              <a:srgbClr val="E8551F"/>
            </a:solidFill>
            <a:prstDash val="solid"/>
          </a:ln>
        </p:spPr>
      </p:sp>
      <p:sp>
        <p:nvSpPr>
          <p:cNvPr id="3" name="Text 1"/>
          <p:cNvSpPr/>
          <p:nvPr/>
        </p:nvSpPr>
        <p:spPr>
          <a:xfrm>
            <a:off x="548640" y="22860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a:t>
            </a:r>
            <a:endParaRPr lang="en-US" sz="1200" dirty="0"/>
          </a:p>
        </p:txBody>
      </p:sp>
      <p:sp>
        <p:nvSpPr>
          <p:cNvPr id="4" name="Text 2"/>
          <p:cNvSpPr/>
          <p:nvPr/>
        </p:nvSpPr>
        <p:spPr>
          <a:xfrm>
            <a:off x="548640" y="2651760"/>
            <a:ext cx="1106424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Test Guide</a:t>
            </a:r>
            <a:endParaRPr lang="en-US" sz="4800" dirty="0"/>
          </a:p>
        </p:txBody>
      </p:sp>
      <p:sp>
        <p:nvSpPr>
          <p:cNvPr id="5" name="Text 3"/>
          <p:cNvSpPr/>
          <p:nvPr/>
        </p:nvSpPr>
        <p:spPr>
          <a:xfrm>
            <a:off x="548640" y="3611880"/>
            <a:ext cx="8778240" cy="365760"/>
          </a:xfrm>
          <a:prstGeom prst="rect">
            <a:avLst/>
          </a:prstGeom>
          <a:noFill/>
          <a:ln/>
        </p:spPr>
        <p:txBody>
          <a:bodyPr wrap="square" lIns="0" tIns="0" rIns="0" bIns="0" rtlCol="0" anchor="t"/>
          <a:lstStyle/>
          <a:p>
            <a:pPr indent="0" marL="0">
              <a:buNone/>
            </a:pPr>
            <a:r>
              <a:rPr lang="en-US" sz="1500" dirty="0">
                <a:solidFill>
                  <a:srgbClr val="B4B7BD"/>
                </a:solidFill>
                <a:latin typeface="Calibri" pitchFamily="34" charset="0"/>
                <a:ea typeface="Calibri" pitchFamily="34" charset="-122"/>
                <a:cs typeface="Calibri" pitchFamily="34" charset="-120"/>
              </a:rPr>
              <a:t>Twelve tests that prove every part of the pack — with the tenant setup each one needs</a:t>
            </a:r>
            <a:endParaRPr lang="en-US" sz="1500" dirty="0"/>
          </a:p>
        </p:txBody>
      </p:sp>
      <p:sp>
        <p:nvSpPr>
          <p:cNvPr id="6" name="Text 4"/>
          <p:cNvSpPr/>
          <p:nvPr/>
        </p:nvSpPr>
        <p:spPr>
          <a:xfrm>
            <a:off x="548640" y="4069080"/>
            <a:ext cx="8778240" cy="365760"/>
          </a:xfrm>
          <a:prstGeom prst="rect">
            <a:avLst/>
          </a:prstGeom>
          <a:noFill/>
          <a:ln/>
        </p:spPr>
        <p:txBody>
          <a:bodyPr wrap="square" lIns="0" tIns="0" rIns="0" bIns="0" rtlCol="0" anchor="t"/>
          <a:lstStyle/>
          <a:p>
            <a:pPr indent="0" marL="0">
              <a:buNone/>
            </a:pPr>
            <a:r>
              <a:rPr lang="en-US" sz="1200" i="1" dirty="0">
                <a:solidFill>
                  <a:srgbClr val="6E747E"/>
                </a:solidFill>
                <a:latin typeface="Calibri" pitchFamily="34" charset="0"/>
                <a:ea typeface="Calibri" pitchFamily="34" charset="-122"/>
                <a:cs typeface="Calibri" pitchFamily="34" charset="-120"/>
              </a:rPr>
              <a:t>For anyone comfortable in the Cortex XSIAM console. No content development required.</a:t>
            </a:r>
            <a:endParaRPr lang="en-US" sz="1200" dirty="0"/>
          </a:p>
        </p:txBody>
      </p:sp>
      <p:sp>
        <p:nvSpPr>
          <p:cNvPr id="7" name="Text 5"/>
          <p:cNvSpPr/>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Pack 1.5.0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ships in the pack</a:t>
            </a:r>
            <a:endParaRPr lang="en-US" sz="3100" dirty="0"/>
          </a:p>
        </p:txBody>
      </p:sp>
      <p:sp>
        <p:nvSpPr>
          <p:cNvPr id="4" name="Shape 2"/>
          <p:cNvSpPr/>
          <p:nvPr/>
        </p:nvSpPr>
        <p:spPr>
          <a:xfrm>
            <a:off x="548640" y="1371600"/>
            <a:ext cx="11064240" cy="585216"/>
          </a:xfrm>
          <a:prstGeom prst="roundRect">
            <a:avLst>
              <a:gd name="adj" fmla="val 7813"/>
            </a:avLst>
          </a:prstGeom>
          <a:solidFill>
            <a:srgbClr val="15171B"/>
          </a:solidFill>
          <a:ln w="12700">
            <a:solidFill>
              <a:srgbClr val="15171B"/>
            </a:solidFill>
            <a:prstDash val="solid"/>
          </a:ln>
        </p:spPr>
      </p:sp>
      <p:sp>
        <p:nvSpPr>
          <p:cNvPr id="5" name="Shape 3"/>
          <p:cNvSpPr/>
          <p:nvPr/>
        </p:nvSpPr>
        <p:spPr>
          <a:xfrm>
            <a:off x="786384" y="1517904"/>
            <a:ext cx="292608" cy="292608"/>
          </a:xfrm>
          <a:prstGeom prst="roundRect">
            <a:avLst>
              <a:gd name="adj" fmla="val 28125"/>
            </a:avLst>
          </a:prstGeom>
          <a:solidFill>
            <a:srgbClr val="E8551F"/>
          </a:solidFill>
          <a:ln w="12700">
            <a:solidFill>
              <a:srgbClr val="E8551F"/>
            </a:solidFill>
            <a:prstDash val="solid"/>
          </a:ln>
        </p:spPr>
      </p:sp>
      <p:sp>
        <p:nvSpPr>
          <p:cNvPr id="6" name="Text 4"/>
          <p:cNvSpPr/>
          <p:nvPr/>
        </p:nvSpPr>
        <p:spPr>
          <a:xfrm>
            <a:off x="786384" y="1517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7" name="Text 5"/>
          <p:cNvSpPr/>
          <p:nvPr/>
        </p:nvSpPr>
        <p:spPr>
          <a:xfrm>
            <a:off x="1243584" y="1463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KOI integration</a:t>
            </a:r>
            <a:endParaRPr lang="en-US" sz="1200" dirty="0"/>
          </a:p>
        </p:txBody>
      </p:sp>
      <p:sp>
        <p:nvSpPr>
          <p:cNvPr id="8" name="Text 6"/>
          <p:cNvSpPr/>
          <p:nvPr/>
        </p:nvSpPr>
        <p:spPr>
          <a:xfrm>
            <a:off x="4754880" y="1481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Event collector plus 26 commands — devices, inventory, catalog risk, governance.</a:t>
            </a:r>
            <a:endParaRPr lang="en-US" sz="1050" dirty="0"/>
          </a:p>
        </p:txBody>
      </p:sp>
      <p:sp>
        <p:nvSpPr>
          <p:cNvPr id="9" name="Shape 7"/>
          <p:cNvSpPr/>
          <p:nvPr/>
        </p:nvSpPr>
        <p:spPr>
          <a:xfrm>
            <a:off x="548640" y="2057400"/>
            <a:ext cx="11064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86384" y="2203704"/>
            <a:ext cx="292608" cy="292608"/>
          </a:xfrm>
          <a:prstGeom prst="roundRect">
            <a:avLst>
              <a:gd name="adj" fmla="val 28125"/>
            </a:avLst>
          </a:prstGeom>
          <a:solidFill>
            <a:srgbClr val="E8551F"/>
          </a:solidFill>
          <a:ln w="12700">
            <a:solidFill>
              <a:srgbClr val="E8551F"/>
            </a:solidFill>
            <a:prstDash val="solid"/>
          </a:ln>
        </p:spPr>
      </p:sp>
      <p:sp>
        <p:nvSpPr>
          <p:cNvPr id="11" name="Text 9"/>
          <p:cNvSpPr/>
          <p:nvPr/>
        </p:nvSpPr>
        <p:spPr>
          <a:xfrm>
            <a:off x="786384" y="2203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2" name="Text 10"/>
          <p:cNvSpPr/>
          <p:nvPr/>
        </p:nvSpPr>
        <p:spPr>
          <a:xfrm>
            <a:off x="1243584" y="2148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Parsing &amp; modeling rules</a:t>
            </a:r>
            <a:endParaRPr lang="en-US" sz="1200" dirty="0"/>
          </a:p>
        </p:txBody>
      </p:sp>
      <p:sp>
        <p:nvSpPr>
          <p:cNvPr id="13" name="Text 11"/>
          <p:cNvSpPr/>
          <p:nvPr/>
        </p:nvSpPr>
        <p:spPr>
          <a:xfrm>
            <a:off x="4754880" y="2167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Normalise KOI events and map them to the Cortex Data Model.</a:t>
            </a:r>
            <a:endParaRPr lang="en-US" sz="1050" dirty="0"/>
          </a:p>
        </p:txBody>
      </p:sp>
      <p:sp>
        <p:nvSpPr>
          <p:cNvPr id="14" name="Shape 12"/>
          <p:cNvSpPr/>
          <p:nvPr/>
        </p:nvSpPr>
        <p:spPr>
          <a:xfrm>
            <a:off x="548640" y="2743200"/>
            <a:ext cx="11064240" cy="585216"/>
          </a:xfrm>
          <a:prstGeom prst="roundRect">
            <a:avLst>
              <a:gd name="adj" fmla="val 7813"/>
            </a:avLst>
          </a:prstGeom>
          <a:solidFill>
            <a:srgbClr val="15171B"/>
          </a:solidFill>
          <a:ln w="12700">
            <a:solidFill>
              <a:srgbClr val="15171B"/>
            </a:solidFill>
            <a:prstDash val="solid"/>
          </a:ln>
        </p:spPr>
      </p:sp>
      <p:sp>
        <p:nvSpPr>
          <p:cNvPr id="15" name="Shape 13"/>
          <p:cNvSpPr/>
          <p:nvPr/>
        </p:nvSpPr>
        <p:spPr>
          <a:xfrm>
            <a:off x="786384" y="2889504"/>
            <a:ext cx="292608" cy="292608"/>
          </a:xfrm>
          <a:prstGeom prst="roundRect">
            <a:avLst>
              <a:gd name="adj" fmla="val 28125"/>
            </a:avLst>
          </a:prstGeom>
          <a:solidFill>
            <a:srgbClr val="E8551F"/>
          </a:solidFill>
          <a:ln w="12700">
            <a:solidFill>
              <a:srgbClr val="E8551F"/>
            </a:solidFill>
            <a:prstDash val="solid"/>
          </a:ln>
        </p:spPr>
      </p:sp>
      <p:sp>
        <p:nvSpPr>
          <p:cNvPr id="16" name="Text 14"/>
          <p:cNvSpPr/>
          <p:nvPr/>
        </p:nvSpPr>
        <p:spPr>
          <a:xfrm>
            <a:off x="786384" y="28895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243584" y="28346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dashboard</a:t>
            </a:r>
            <a:endParaRPr lang="en-US" sz="1200" dirty="0"/>
          </a:p>
        </p:txBody>
      </p:sp>
      <p:sp>
        <p:nvSpPr>
          <p:cNvPr id="18" name="Text 16"/>
          <p:cNvSpPr/>
          <p:nvPr/>
        </p:nvSpPr>
        <p:spPr>
          <a:xfrm>
            <a:off x="4754880" y="28529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Ready-made view of KOI alert activity.</a:t>
            </a:r>
            <a:endParaRPr lang="en-US" sz="1050" dirty="0"/>
          </a:p>
        </p:txBody>
      </p:sp>
      <p:sp>
        <p:nvSpPr>
          <p:cNvPr id="19" name="Shape 17"/>
          <p:cNvSpPr/>
          <p:nvPr/>
        </p:nvSpPr>
        <p:spPr>
          <a:xfrm>
            <a:off x="548640" y="3429000"/>
            <a:ext cx="11064240" cy="585216"/>
          </a:xfrm>
          <a:prstGeom prst="roundRect">
            <a:avLst>
              <a:gd name="adj" fmla="val 7813"/>
            </a:avLst>
          </a:prstGeom>
          <a:solidFill>
            <a:srgbClr val="15171B"/>
          </a:solidFill>
          <a:ln w="12700">
            <a:solidFill>
              <a:srgbClr val="15171B"/>
            </a:solidFill>
            <a:prstDash val="solid"/>
          </a:ln>
        </p:spPr>
      </p:sp>
      <p:sp>
        <p:nvSpPr>
          <p:cNvPr id="20" name="Shape 18"/>
          <p:cNvSpPr/>
          <p:nvPr/>
        </p:nvSpPr>
        <p:spPr>
          <a:xfrm>
            <a:off x="786384" y="3575304"/>
            <a:ext cx="292608" cy="292608"/>
          </a:xfrm>
          <a:prstGeom prst="roundRect">
            <a:avLst>
              <a:gd name="adj" fmla="val 28125"/>
            </a:avLst>
          </a:prstGeom>
          <a:solidFill>
            <a:srgbClr val="22D3EE"/>
          </a:solidFill>
          <a:ln w="12700">
            <a:solidFill>
              <a:srgbClr val="22D3EE"/>
            </a:solidFill>
            <a:prstDash val="solid"/>
          </a:ln>
        </p:spPr>
      </p:sp>
      <p:sp>
        <p:nvSpPr>
          <p:cNvPr id="21" name="Text 19"/>
          <p:cNvSpPr/>
          <p:nvPr/>
        </p:nvSpPr>
        <p:spPr>
          <a:xfrm>
            <a:off x="786384" y="35753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p:nvPr/>
        </p:nvSpPr>
        <p:spPr>
          <a:xfrm>
            <a:off x="1243584" y="35204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Triage &amp; investigation playbooks</a:t>
            </a:r>
            <a:endParaRPr lang="en-US" sz="1200" dirty="0"/>
          </a:p>
        </p:txBody>
      </p:sp>
      <p:sp>
        <p:nvSpPr>
          <p:cNvPr id="23" name="Text 21"/>
          <p:cNvSpPr/>
          <p:nvPr/>
        </p:nvSpPr>
        <p:spPr>
          <a:xfrm>
            <a:off x="4754880" y="35387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 playbooks: triage, item and device investigation, gated response, MCP hunt.</a:t>
            </a:r>
            <a:endParaRPr lang="en-US" sz="1050" dirty="0"/>
          </a:p>
        </p:txBody>
      </p:sp>
      <p:sp>
        <p:nvSpPr>
          <p:cNvPr id="24" name="Shape 22"/>
          <p:cNvSpPr/>
          <p:nvPr/>
        </p:nvSpPr>
        <p:spPr>
          <a:xfrm>
            <a:off x="548640" y="4114800"/>
            <a:ext cx="11064240" cy="585216"/>
          </a:xfrm>
          <a:prstGeom prst="roundRect">
            <a:avLst>
              <a:gd name="adj" fmla="val 7813"/>
            </a:avLst>
          </a:prstGeom>
          <a:solidFill>
            <a:srgbClr val="15171B"/>
          </a:solidFill>
          <a:ln w="12700">
            <a:solidFill>
              <a:srgbClr val="15171B"/>
            </a:solidFill>
            <a:prstDash val="solid"/>
          </a:ln>
        </p:spPr>
      </p:sp>
      <p:sp>
        <p:nvSpPr>
          <p:cNvPr id="25" name="Shape 23"/>
          <p:cNvSpPr/>
          <p:nvPr/>
        </p:nvSpPr>
        <p:spPr>
          <a:xfrm>
            <a:off x="786384" y="4261104"/>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86384" y="4261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a:t>
            </a:r>
            <a:endParaRPr lang="en-US" sz="1300" dirty="0"/>
          </a:p>
        </p:txBody>
      </p:sp>
      <p:sp>
        <p:nvSpPr>
          <p:cNvPr id="27" name="Text 25"/>
          <p:cNvSpPr/>
          <p:nvPr/>
        </p:nvSpPr>
        <p:spPr>
          <a:xfrm>
            <a:off x="1243584" y="42062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Script Runner playbooks</a:t>
            </a:r>
            <a:endParaRPr lang="en-US" sz="1200" dirty="0"/>
          </a:p>
        </p:txBody>
      </p:sp>
      <p:sp>
        <p:nvSpPr>
          <p:cNvPr id="28" name="Text 26"/>
          <p:cNvSpPr/>
          <p:nvPr/>
        </p:nvSpPr>
        <p:spPr>
          <a:xfrm>
            <a:off x="4754880" y="42245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5 playbooks plus the KoiScanTracker automation — run KOI scripts fleet-wide.</a:t>
            </a:r>
            <a:endParaRPr lang="en-US" sz="1050" dirty="0"/>
          </a:p>
        </p:txBody>
      </p:sp>
      <p:sp>
        <p:nvSpPr>
          <p:cNvPr id="29" name="Shape 27"/>
          <p:cNvSpPr/>
          <p:nvPr/>
        </p:nvSpPr>
        <p:spPr>
          <a:xfrm>
            <a:off x="548640" y="4800600"/>
            <a:ext cx="11064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786384" y="4946904"/>
            <a:ext cx="292608" cy="292608"/>
          </a:xfrm>
          <a:prstGeom prst="roundRect">
            <a:avLst>
              <a:gd name="adj" fmla="val 28125"/>
            </a:avLst>
          </a:prstGeom>
          <a:solidFill>
            <a:srgbClr val="3FB950"/>
          </a:solidFill>
          <a:ln w="12700">
            <a:solidFill>
              <a:srgbClr val="3FB950"/>
            </a:solidFill>
            <a:prstDash val="solid"/>
          </a:ln>
        </p:spPr>
      </p:sp>
      <p:sp>
        <p:nvSpPr>
          <p:cNvPr id="31" name="Text 29"/>
          <p:cNvSpPr/>
          <p:nvPr/>
        </p:nvSpPr>
        <p:spPr>
          <a:xfrm>
            <a:off x="786384" y="4946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t>
            </a:r>
            <a:endParaRPr lang="en-US" sz="1300" dirty="0"/>
          </a:p>
        </p:txBody>
      </p:sp>
      <p:sp>
        <p:nvSpPr>
          <p:cNvPr id="32" name="Text 30"/>
          <p:cNvSpPr/>
          <p:nvPr/>
        </p:nvSpPr>
        <p:spPr>
          <a:xfrm>
            <a:off x="1243584" y="4892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XQL query library</a:t>
            </a:r>
            <a:endParaRPr lang="en-US" sz="1200" dirty="0"/>
          </a:p>
        </p:txBody>
      </p:sp>
      <p:sp>
        <p:nvSpPr>
          <p:cNvPr id="33" name="Text 31"/>
          <p:cNvSpPr/>
          <p:nvPr/>
        </p:nvSpPr>
        <p:spPr>
          <a:xfrm>
            <a:off x="4754880" y="4910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72 saved queries: 26 threat hunts and 46 detections.</a:t>
            </a:r>
            <a:endParaRPr lang="en-US" sz="1050" dirty="0"/>
          </a:p>
        </p:txBody>
      </p:sp>
      <p:sp>
        <p:nvSpPr>
          <p:cNvPr id="34" name="Shape 32"/>
          <p:cNvSpPr/>
          <p:nvPr/>
        </p:nvSpPr>
        <p:spPr>
          <a:xfrm>
            <a:off x="548640" y="5486400"/>
            <a:ext cx="11064240" cy="585216"/>
          </a:xfrm>
          <a:prstGeom prst="roundRect">
            <a:avLst>
              <a:gd name="adj" fmla="val 7813"/>
            </a:avLst>
          </a:prstGeom>
          <a:solidFill>
            <a:srgbClr val="15171B"/>
          </a:solidFill>
          <a:ln w="12700">
            <a:solidFill>
              <a:srgbClr val="15171B"/>
            </a:solidFill>
            <a:prstDash val="solid"/>
          </a:ln>
        </p:spPr>
      </p:sp>
      <p:sp>
        <p:nvSpPr>
          <p:cNvPr id="35" name="Shape 33"/>
          <p:cNvSpPr/>
          <p:nvPr/>
        </p:nvSpPr>
        <p:spPr>
          <a:xfrm>
            <a:off x="786384" y="5632704"/>
            <a:ext cx="292608" cy="292608"/>
          </a:xfrm>
          <a:prstGeom prst="roundRect">
            <a:avLst>
              <a:gd name="adj" fmla="val 28125"/>
            </a:avLst>
          </a:prstGeom>
          <a:solidFill>
            <a:srgbClr val="3FB950"/>
          </a:solidFill>
          <a:ln w="12700">
            <a:solidFill>
              <a:srgbClr val="3FB950"/>
            </a:solidFill>
            <a:prstDash val="solid"/>
          </a:ln>
        </p:spPr>
      </p:sp>
      <p:sp>
        <p:nvSpPr>
          <p:cNvPr id="36" name="Text 34"/>
          <p:cNvSpPr/>
          <p:nvPr/>
        </p:nvSpPr>
        <p:spPr>
          <a:xfrm>
            <a:off x="786384" y="5632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a:t>
            </a:r>
            <a:endParaRPr lang="en-US" sz="1300" dirty="0"/>
          </a:p>
        </p:txBody>
      </p:sp>
      <p:sp>
        <p:nvSpPr>
          <p:cNvPr id="37" name="Text 35"/>
          <p:cNvSpPr/>
          <p:nvPr/>
        </p:nvSpPr>
        <p:spPr>
          <a:xfrm>
            <a:off x="1243584" y="5577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Test tooling</a:t>
            </a:r>
            <a:endParaRPr lang="en-US" sz="1200" dirty="0"/>
          </a:p>
        </p:txBody>
      </p:sp>
      <p:sp>
        <p:nvSpPr>
          <p:cNvPr id="38" name="Text 36"/>
          <p:cNvSpPr/>
          <p:nvPr/>
        </p:nvSpPr>
        <p:spPr>
          <a:xfrm>
            <a:off x="4754880" y="5596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An event simulator, so you can test without waiting for real KOI activity.</a:t>
            </a:r>
            <a:endParaRPr lang="en-US" sz="1050" dirty="0"/>
          </a:p>
        </p:txBody>
      </p:sp>
      <p:sp>
        <p:nvSpPr>
          <p:cNvPr id="39" name="Text 37"/>
          <p:cNvSpPr/>
          <p:nvPr/>
        </p:nvSpPr>
        <p:spPr>
          <a:xfrm>
            <a:off x="548640" y="617220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Every one of these is covered by a test in this guide.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HOW TO USE THIS GUIDE</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test is laid out the same way</a:t>
            </a:r>
            <a:endParaRPr lang="en-US" sz="3100" dirty="0"/>
          </a:p>
        </p:txBody>
      </p:sp>
      <p:sp>
        <p:nvSpPr>
          <p:cNvPr id="4" name="Shape 2"/>
          <p:cNvSpPr/>
          <p:nvPr/>
        </p:nvSpPr>
        <p:spPr>
          <a:xfrm>
            <a:off x="548640" y="1463040"/>
            <a:ext cx="3505200" cy="2286000"/>
          </a:xfrm>
          <a:prstGeom prst="roundRect">
            <a:avLst>
              <a:gd name="adj" fmla="val 2000"/>
            </a:avLst>
          </a:prstGeom>
          <a:solidFill>
            <a:srgbClr val="1C2026"/>
          </a:solidFill>
          <a:ln w="12700">
            <a:solidFill>
              <a:srgbClr val="1C2026"/>
            </a:solidFill>
            <a:prstDash val="solid"/>
          </a:ln>
        </p:spPr>
      </p:sp>
      <p:sp>
        <p:nvSpPr>
          <p:cNvPr id="5" name="Text 3"/>
          <p:cNvSpPr/>
          <p:nvPr/>
        </p:nvSpPr>
        <p:spPr>
          <a:xfrm>
            <a:off x="822960" y="1691640"/>
            <a:ext cx="2956560" cy="274320"/>
          </a:xfrm>
          <a:prstGeom prst="rect">
            <a:avLst/>
          </a:prstGeom>
          <a:noFill/>
          <a:ln/>
        </p:spPr>
        <p:txBody>
          <a:bodyPr wrap="square" lIns="0" tIns="0" rIns="0" bIns="0" rtlCol="0" anchor="t"/>
          <a:lstStyle/>
          <a:p>
            <a:pPr indent="0" marL="0">
              <a:buNone/>
            </a:pPr>
            <a:r>
              <a:rPr lang="en-US" sz="1100" b="1" spc="150" kern="0" dirty="0">
                <a:solidFill>
                  <a:srgbClr val="F5A524"/>
                </a:solidFill>
                <a:latin typeface="Calibri" pitchFamily="34" charset="0"/>
                <a:ea typeface="Calibri" pitchFamily="34" charset="-122"/>
                <a:cs typeface="Calibri" pitchFamily="34" charset="-120"/>
              </a:rPr>
              <a:t>WHAT YOU NEED FIRST</a:t>
            </a:r>
            <a:endParaRPr lang="en-US" sz="1100" dirty="0"/>
          </a:p>
        </p:txBody>
      </p:sp>
      <p:sp>
        <p:nvSpPr>
          <p:cNvPr id="6" name="Text 4"/>
          <p:cNvSpPr/>
          <p:nvPr/>
        </p:nvSpPr>
        <p:spPr>
          <a:xfrm>
            <a:off x="82296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tenant setup this test depends on — an integration instance, a List, a script in Action Center. If something here is missing the test cannot pass, and it will look like a product fault.</a:t>
            </a:r>
            <a:endParaRPr lang="en-US" sz="1100" dirty="0"/>
          </a:p>
        </p:txBody>
      </p:sp>
      <p:sp>
        <p:nvSpPr>
          <p:cNvPr id="7" name="Shape 5"/>
          <p:cNvSpPr/>
          <p:nvPr/>
        </p:nvSpPr>
        <p:spPr>
          <a:xfrm>
            <a:off x="4328160" y="1463040"/>
            <a:ext cx="3505200" cy="2286000"/>
          </a:xfrm>
          <a:prstGeom prst="roundRect">
            <a:avLst>
              <a:gd name="adj" fmla="val 2000"/>
            </a:avLst>
          </a:prstGeom>
          <a:solidFill>
            <a:srgbClr val="15171B"/>
          </a:solidFill>
          <a:ln w="12700">
            <a:solidFill>
              <a:srgbClr val="15171B"/>
            </a:solidFill>
            <a:prstDash val="solid"/>
          </a:ln>
        </p:spPr>
      </p:sp>
      <p:sp>
        <p:nvSpPr>
          <p:cNvPr id="8" name="Text 6"/>
          <p:cNvSpPr/>
          <p:nvPr/>
        </p:nvSpPr>
        <p:spPr>
          <a:xfrm>
            <a:off x="4602480" y="1691640"/>
            <a:ext cx="2956560" cy="274320"/>
          </a:xfrm>
          <a:prstGeom prst="rect">
            <a:avLst/>
          </a:prstGeom>
          <a:noFill/>
          <a:ln/>
        </p:spPr>
        <p:txBody>
          <a:bodyPr wrap="square" lIns="0" tIns="0" rIns="0" bIns="0" rtlCol="0" anchor="t"/>
          <a:lstStyle/>
          <a:p>
            <a:pPr indent="0" marL="0">
              <a:buNone/>
            </a:pPr>
            <a:r>
              <a:rPr lang="en-US" sz="1100" b="1" spc="150" kern="0" dirty="0">
                <a:solidFill>
                  <a:srgbClr val="E8551F"/>
                </a:solidFill>
                <a:latin typeface="Calibri" pitchFamily="34" charset="0"/>
                <a:ea typeface="Calibri" pitchFamily="34" charset="-122"/>
                <a:cs typeface="Calibri" pitchFamily="34" charset="-120"/>
              </a:rPr>
              <a:t>STEPS</a:t>
            </a:r>
            <a:endParaRPr lang="en-US" sz="1100" dirty="0"/>
          </a:p>
        </p:txBody>
      </p:sp>
      <p:sp>
        <p:nvSpPr>
          <p:cNvPr id="9" name="Text 7"/>
          <p:cNvSpPr/>
          <p:nvPr/>
        </p:nvSpPr>
        <p:spPr>
          <a:xfrm>
            <a:off x="460248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to click, in order, in the Cortex XSIAM console. Commands to paste are shown in monospace.</a:t>
            </a:r>
            <a:endParaRPr lang="en-US" sz="1100" dirty="0"/>
          </a:p>
        </p:txBody>
      </p:sp>
      <p:sp>
        <p:nvSpPr>
          <p:cNvPr id="10" name="Shape 8"/>
          <p:cNvSpPr/>
          <p:nvPr/>
        </p:nvSpPr>
        <p:spPr>
          <a:xfrm>
            <a:off x="8107680" y="1463040"/>
            <a:ext cx="3505200" cy="2286000"/>
          </a:xfrm>
          <a:prstGeom prst="roundRect">
            <a:avLst>
              <a:gd name="adj" fmla="val 2000"/>
            </a:avLst>
          </a:prstGeom>
          <a:solidFill>
            <a:srgbClr val="1C2026"/>
          </a:solidFill>
          <a:ln w="12700">
            <a:solidFill>
              <a:srgbClr val="1C2026"/>
            </a:solidFill>
            <a:prstDash val="solid"/>
          </a:ln>
        </p:spPr>
      </p:sp>
      <p:sp>
        <p:nvSpPr>
          <p:cNvPr id="11" name="Text 9"/>
          <p:cNvSpPr/>
          <p:nvPr/>
        </p:nvSpPr>
        <p:spPr>
          <a:xfrm>
            <a:off x="8382000" y="1691640"/>
            <a:ext cx="2956560" cy="274320"/>
          </a:xfrm>
          <a:prstGeom prst="rect">
            <a:avLst/>
          </a:prstGeom>
          <a:noFill/>
          <a:ln/>
        </p:spPr>
        <p:txBody>
          <a:bodyPr wrap="square" lIns="0" tIns="0" rIns="0" bIns="0" rtlCol="0" anchor="t"/>
          <a:lstStyle/>
          <a:p>
            <a:pPr indent="0" marL="0">
              <a:buNone/>
            </a:pPr>
            <a:r>
              <a:rPr lang="en-US" sz="1100" b="1" spc="150" kern="0" dirty="0">
                <a:solidFill>
                  <a:srgbClr val="3FB950"/>
                </a:solidFill>
                <a:latin typeface="Calibri" pitchFamily="34" charset="0"/>
                <a:ea typeface="Calibri" pitchFamily="34" charset="-122"/>
                <a:cs typeface="Calibri" pitchFamily="34" charset="-120"/>
              </a:rPr>
              <a:t>WHAT TO EXPECT</a:t>
            </a:r>
            <a:endParaRPr lang="en-US" sz="1100" dirty="0"/>
          </a:p>
        </p:txBody>
      </p:sp>
      <p:sp>
        <p:nvSpPr>
          <p:cNvPr id="12" name="Text 10"/>
          <p:cNvSpPr/>
          <p:nvPr/>
        </p:nvSpPr>
        <p:spPr>
          <a:xfrm>
            <a:off x="838200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a passing test looks like. Where a result commonly looks wrong but is correct, it says so.</a:t>
            </a:r>
            <a:endParaRPr lang="en-US" sz="1100" dirty="0"/>
          </a:p>
        </p:txBody>
      </p:sp>
      <p:sp>
        <p:nvSpPr>
          <p:cNvPr id="13" name="Shape 11"/>
          <p:cNvSpPr/>
          <p:nvPr/>
        </p:nvSpPr>
        <p:spPr>
          <a:xfrm>
            <a:off x="548640" y="3977640"/>
            <a:ext cx="11064240" cy="1371600"/>
          </a:xfrm>
          <a:prstGeom prst="roundRect">
            <a:avLst>
              <a:gd name="adj" fmla="val 3333"/>
            </a:avLst>
          </a:prstGeom>
          <a:solidFill>
            <a:srgbClr val="1C2026"/>
          </a:solidFill>
          <a:ln w="12700">
            <a:solidFill>
              <a:srgbClr val="1C2026"/>
            </a:solidFill>
            <a:prstDash val="solid"/>
          </a:ln>
        </p:spPr>
      </p:sp>
      <p:sp>
        <p:nvSpPr>
          <p:cNvPr id="14" name="Text 12"/>
          <p:cNvSpPr/>
          <p:nvPr/>
        </p:nvSpPr>
        <p:spPr>
          <a:xfrm>
            <a:off x="859536" y="4160520"/>
            <a:ext cx="45720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them in order the first time</a:t>
            </a:r>
            <a:endParaRPr lang="en-US" sz="1300" dirty="0"/>
          </a:p>
        </p:txBody>
      </p:sp>
      <p:sp>
        <p:nvSpPr>
          <p:cNvPr id="15" name="Text 13"/>
          <p:cNvSpPr/>
          <p:nvPr/>
        </p:nvSpPr>
        <p:spPr>
          <a:xfrm>
            <a:off x="859536" y="4498848"/>
            <a:ext cx="10442448" cy="73152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Tests 1 to 4 prove data is arriving and correct. Tests 5 to 8 prove the automation. Tests 9 and 10 prove fleet script execution — they are the only ones that need the Core REST API integration. Tests 11 and 12 are the query library and the simulator, and can be run at any time.</a:t>
            </a:r>
            <a:endParaRPr lang="en-US" sz="1100" dirty="0"/>
          </a:p>
        </p:txBody>
      </p:sp>
      <p:sp>
        <p:nvSpPr>
          <p:cNvPr id="16" name="Text 14"/>
          <p:cNvSpPr/>
          <p:nvPr/>
        </p:nvSpPr>
        <p:spPr>
          <a:xfrm>
            <a:off x="548640" y="5623560"/>
            <a:ext cx="11064240" cy="274320"/>
          </a:xfrm>
          <a:prstGeom prst="rect">
            <a:avLst/>
          </a:prstGeom>
          <a:noFill/>
          <a:ln/>
        </p:spPr>
        <p:txBody>
          <a:bodyPr wrap="square" lIns="0" tIns="0" rIns="0" bIns="0" rtlCol="0" anchor="t"/>
          <a:lstStyle/>
          <a:p>
            <a:pPr indent="0" marL="0">
              <a:buNone/>
            </a:pPr>
            <a:r>
              <a:rPr lang="en-US" sz="1100" i="1" dirty="0">
                <a:solidFill>
                  <a:srgbClr val="F5A524"/>
                </a:solidFill>
                <a:latin typeface="Calibri" pitchFamily="34" charset="0"/>
                <a:ea typeface="Calibri" pitchFamily="34" charset="-122"/>
                <a:cs typeface="Calibri" pitchFamily="34" charset="-120"/>
              </a:rPr>
              <a:t>A test that fails on a missing prerequisite is not a product defect — check the amber panel first.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BEGIN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Everything the pack depends on, and where to set it up</a:t>
            </a:r>
            <a:endParaRPr lang="en-US" sz="3100" dirty="0"/>
          </a:p>
        </p:txBody>
      </p:sp>
      <p:sp>
        <p:nvSpPr>
          <p:cNvPr id="4" name="Text 2"/>
          <p:cNvSpPr/>
          <p:nvPr/>
        </p:nvSpPr>
        <p:spPr>
          <a:xfrm>
            <a:off x="822960" y="132588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a:t>
            </a:r>
            <a:endParaRPr lang="en-US" sz="1050" dirty="0"/>
          </a:p>
        </p:txBody>
      </p:sp>
      <p:sp>
        <p:nvSpPr>
          <p:cNvPr id="5" name="Text 3"/>
          <p:cNvSpPr/>
          <p:nvPr/>
        </p:nvSpPr>
        <p:spPr>
          <a:xfrm>
            <a:off x="365760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Where in XSIAM</a:t>
            </a:r>
            <a:endParaRPr lang="en-US" sz="1050" dirty="0"/>
          </a:p>
        </p:txBody>
      </p:sp>
      <p:sp>
        <p:nvSpPr>
          <p:cNvPr id="6" name="Text 4"/>
          <p:cNvSpPr/>
          <p:nvPr/>
        </p:nvSpPr>
        <p:spPr>
          <a:xfrm>
            <a:off x="758952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Needed for</a:t>
            </a:r>
            <a:endParaRPr lang="en-US" sz="1050" dirty="0"/>
          </a:p>
        </p:txBody>
      </p:sp>
      <p:sp>
        <p:nvSpPr>
          <p:cNvPr id="7" name="Shape 5"/>
          <p:cNvSpPr/>
          <p:nvPr/>
        </p:nvSpPr>
        <p:spPr>
          <a:xfrm>
            <a:off x="548640" y="1627632"/>
            <a:ext cx="11064240" cy="402336"/>
          </a:xfrm>
          <a:prstGeom prst="roundRect">
            <a:avLst>
              <a:gd name="adj" fmla="val 11364"/>
            </a:avLst>
          </a:prstGeom>
          <a:solidFill>
            <a:srgbClr val="15171B"/>
          </a:solidFill>
          <a:ln w="12700">
            <a:solidFill>
              <a:srgbClr val="15171B"/>
            </a:solidFill>
            <a:prstDash val="solid"/>
          </a:ln>
        </p:spPr>
      </p:sp>
      <p:sp>
        <p:nvSpPr>
          <p:cNvPr id="8" name="Text 6"/>
          <p:cNvSpPr/>
          <p:nvPr/>
        </p:nvSpPr>
        <p:spPr>
          <a:xfrm>
            <a:off x="822960" y="173736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API key</a:t>
            </a:r>
            <a:endParaRPr lang="en-US" sz="1050" dirty="0"/>
          </a:p>
        </p:txBody>
      </p:sp>
      <p:sp>
        <p:nvSpPr>
          <p:cNvPr id="9" name="Text 7"/>
          <p:cNvSpPr/>
          <p:nvPr/>
        </p:nvSpPr>
        <p:spPr>
          <a:xfrm>
            <a:off x="3657600" y="173736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KOI console → Settings → API Access</a:t>
            </a:r>
            <a:endParaRPr lang="en-US" sz="1000" dirty="0"/>
          </a:p>
        </p:txBody>
      </p:sp>
      <p:sp>
        <p:nvSpPr>
          <p:cNvPr id="10" name="Text 8"/>
          <p:cNvSpPr/>
          <p:nvPr/>
        </p:nvSpPr>
        <p:spPr>
          <a:xfrm>
            <a:off x="7589520" y="173736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1" name="Shape 9"/>
          <p:cNvSpPr/>
          <p:nvPr/>
        </p:nvSpPr>
        <p:spPr>
          <a:xfrm>
            <a:off x="548640" y="2093976"/>
            <a:ext cx="11064240" cy="402336"/>
          </a:xfrm>
          <a:prstGeom prst="roundRect">
            <a:avLst>
              <a:gd name="adj" fmla="val 11364"/>
            </a:avLst>
          </a:prstGeom>
          <a:solidFill>
            <a:srgbClr val="15171B"/>
          </a:solidFill>
          <a:ln w="12700">
            <a:solidFill>
              <a:srgbClr val="15171B"/>
            </a:solidFill>
            <a:prstDash val="solid"/>
          </a:ln>
        </p:spPr>
      </p:sp>
      <p:sp>
        <p:nvSpPr>
          <p:cNvPr id="12" name="Text 10"/>
          <p:cNvSpPr/>
          <p:nvPr/>
        </p:nvSpPr>
        <p:spPr>
          <a:xfrm>
            <a:off x="822960" y="220370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integration instance</a:t>
            </a:r>
            <a:endParaRPr lang="en-US" sz="1050" dirty="0"/>
          </a:p>
        </p:txBody>
      </p:sp>
      <p:sp>
        <p:nvSpPr>
          <p:cNvPr id="13" name="Text 11"/>
          <p:cNvSpPr/>
          <p:nvPr/>
        </p:nvSpPr>
        <p:spPr>
          <a:xfrm>
            <a:off x="3657600" y="220370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KOI</a:t>
            </a:r>
            <a:endParaRPr lang="en-US" sz="1000" dirty="0"/>
          </a:p>
        </p:txBody>
      </p:sp>
      <p:sp>
        <p:nvSpPr>
          <p:cNvPr id="14" name="Text 12"/>
          <p:cNvSpPr/>
          <p:nvPr/>
        </p:nvSpPr>
        <p:spPr>
          <a:xfrm>
            <a:off x="7589520" y="220370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5" name="Shape 13"/>
          <p:cNvSpPr/>
          <p:nvPr/>
        </p:nvSpPr>
        <p:spPr>
          <a:xfrm>
            <a:off x="548640" y="2560320"/>
            <a:ext cx="11064240" cy="402336"/>
          </a:xfrm>
          <a:prstGeom prst="roundRect">
            <a:avLst>
              <a:gd name="adj" fmla="val 11364"/>
            </a:avLst>
          </a:prstGeom>
          <a:solidFill>
            <a:srgbClr val="15171B"/>
          </a:solidFill>
          <a:ln w="12700">
            <a:solidFill>
              <a:srgbClr val="15171B"/>
            </a:solidFill>
            <a:prstDash val="solid"/>
          </a:ln>
        </p:spPr>
      </p:sp>
      <p:sp>
        <p:nvSpPr>
          <p:cNvPr id="16" name="Text 14"/>
          <p:cNvSpPr/>
          <p:nvPr/>
        </p:nvSpPr>
        <p:spPr>
          <a:xfrm>
            <a:off x="822960" y="267004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egress IP KOI accepts</a:t>
            </a:r>
            <a:endParaRPr lang="en-US" sz="1050" dirty="0"/>
          </a:p>
        </p:txBody>
      </p:sp>
      <p:sp>
        <p:nvSpPr>
          <p:cNvPr id="17" name="Text 15"/>
          <p:cNvSpPr/>
          <p:nvPr/>
        </p:nvSpPr>
        <p:spPr>
          <a:xfrm>
            <a:off x="3657600" y="267004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if needed</a:t>
            </a:r>
            <a:endParaRPr lang="en-US" sz="1000" dirty="0"/>
          </a:p>
        </p:txBody>
      </p:sp>
      <p:sp>
        <p:nvSpPr>
          <p:cNvPr id="18" name="Text 16"/>
          <p:cNvSpPr/>
          <p:nvPr/>
        </p:nvSpPr>
        <p:spPr>
          <a:xfrm>
            <a:off x="7589520" y="2670048"/>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1-8, 11</a:t>
            </a:r>
            <a:endParaRPr lang="en-US" sz="1000" dirty="0"/>
          </a:p>
        </p:txBody>
      </p:sp>
      <p:sp>
        <p:nvSpPr>
          <p:cNvPr id="19" name="Shape 17"/>
          <p:cNvSpPr/>
          <p:nvPr/>
        </p:nvSpPr>
        <p:spPr>
          <a:xfrm>
            <a:off x="548640" y="3026664"/>
            <a:ext cx="11064240" cy="402336"/>
          </a:xfrm>
          <a:prstGeom prst="roundRect">
            <a:avLst>
              <a:gd name="adj" fmla="val 11364"/>
            </a:avLst>
          </a:prstGeom>
          <a:solidFill>
            <a:srgbClr val="15171B"/>
          </a:solidFill>
          <a:ln w="12700">
            <a:solidFill>
              <a:srgbClr val="15171B"/>
            </a:solidFill>
            <a:prstDash val="solid"/>
          </a:ln>
        </p:spPr>
      </p:sp>
      <p:sp>
        <p:nvSpPr>
          <p:cNvPr id="20" name="Text 18"/>
          <p:cNvSpPr/>
          <p:nvPr/>
        </p:nvSpPr>
        <p:spPr>
          <a:xfrm>
            <a:off x="822960" y="3136392"/>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Core REST API instance</a:t>
            </a:r>
            <a:endParaRPr lang="en-US" sz="1050" dirty="0"/>
          </a:p>
        </p:txBody>
      </p:sp>
      <p:sp>
        <p:nvSpPr>
          <p:cNvPr id="21" name="Text 19"/>
          <p:cNvSpPr/>
          <p:nvPr/>
        </p:nvSpPr>
        <p:spPr>
          <a:xfrm>
            <a:off x="3657600" y="313639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Core REST API</a:t>
            </a:r>
            <a:endParaRPr lang="en-US" sz="1000" dirty="0"/>
          </a:p>
        </p:txBody>
      </p:sp>
      <p:sp>
        <p:nvSpPr>
          <p:cNvPr id="22" name="Text 20"/>
          <p:cNvSpPr/>
          <p:nvPr/>
        </p:nvSpPr>
        <p:spPr>
          <a:xfrm>
            <a:off x="7589520" y="3136392"/>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9-10 only</a:t>
            </a:r>
            <a:endParaRPr lang="en-US" sz="1000" dirty="0"/>
          </a:p>
        </p:txBody>
      </p:sp>
      <p:sp>
        <p:nvSpPr>
          <p:cNvPr id="23" name="Shape 21"/>
          <p:cNvSpPr/>
          <p:nvPr/>
        </p:nvSpPr>
        <p:spPr>
          <a:xfrm>
            <a:off x="548640" y="3493008"/>
            <a:ext cx="11064240" cy="402336"/>
          </a:xfrm>
          <a:prstGeom prst="roundRect">
            <a:avLst>
              <a:gd name="adj" fmla="val 11364"/>
            </a:avLst>
          </a:prstGeom>
          <a:solidFill>
            <a:srgbClr val="15171B"/>
          </a:solidFill>
          <a:ln w="12700">
            <a:solidFill>
              <a:srgbClr val="15171B"/>
            </a:solidFill>
            <a:prstDash val="solid"/>
          </a:ln>
        </p:spPr>
      </p:sp>
      <p:sp>
        <p:nvSpPr>
          <p:cNvPr id="24" name="Text 22"/>
          <p:cNvSpPr/>
          <p:nvPr/>
        </p:nvSpPr>
        <p:spPr>
          <a:xfrm>
            <a:off x="822960" y="3602736"/>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in Action Center</a:t>
            </a:r>
            <a:endParaRPr lang="en-US" sz="1050" dirty="0"/>
          </a:p>
        </p:txBody>
      </p:sp>
      <p:sp>
        <p:nvSpPr>
          <p:cNvPr id="25" name="Text 23"/>
          <p:cNvSpPr/>
          <p:nvPr/>
        </p:nvSpPr>
        <p:spPr>
          <a:xfrm>
            <a:off x="3657600" y="3602736"/>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Action Center → Scripts Library → upload</a:t>
            </a:r>
            <a:endParaRPr lang="en-US" sz="1000" dirty="0"/>
          </a:p>
        </p:txBody>
      </p:sp>
      <p:sp>
        <p:nvSpPr>
          <p:cNvPr id="26" name="Text 24"/>
          <p:cNvSpPr/>
          <p:nvPr/>
        </p:nvSpPr>
        <p:spPr>
          <a:xfrm>
            <a:off x="7589520" y="3602736"/>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27" name="Shape 25"/>
          <p:cNvSpPr/>
          <p:nvPr/>
        </p:nvSpPr>
        <p:spPr>
          <a:xfrm>
            <a:off x="548640" y="3959352"/>
            <a:ext cx="11064240" cy="402336"/>
          </a:xfrm>
          <a:prstGeom prst="roundRect">
            <a:avLst>
              <a:gd name="adj" fmla="val 11364"/>
            </a:avLst>
          </a:prstGeom>
          <a:solidFill>
            <a:srgbClr val="15171B"/>
          </a:solidFill>
          <a:ln w="12700">
            <a:solidFill>
              <a:srgbClr val="15171B"/>
            </a:solidFill>
            <a:prstDash val="solid"/>
          </a:ln>
        </p:spPr>
      </p:sp>
      <p:sp>
        <p:nvSpPr>
          <p:cNvPr id="28" name="Text 26"/>
          <p:cNvSpPr/>
          <p:nvPr/>
        </p:nvSpPr>
        <p:spPr>
          <a:xfrm>
            <a:off x="822960" y="406908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endpoint group</a:t>
            </a:r>
            <a:endParaRPr lang="en-US" sz="1050" dirty="0"/>
          </a:p>
        </p:txBody>
      </p:sp>
      <p:sp>
        <p:nvSpPr>
          <p:cNvPr id="29" name="Text 27"/>
          <p:cNvSpPr/>
          <p:nvPr/>
        </p:nvSpPr>
        <p:spPr>
          <a:xfrm>
            <a:off x="3657600" y="406908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Endpoints → Endpoint Groups</a:t>
            </a:r>
            <a:endParaRPr lang="en-US" sz="1000" dirty="0"/>
          </a:p>
        </p:txBody>
      </p:sp>
      <p:sp>
        <p:nvSpPr>
          <p:cNvPr id="30" name="Text 28"/>
          <p:cNvSpPr/>
          <p:nvPr/>
        </p:nvSpPr>
        <p:spPr>
          <a:xfrm>
            <a:off x="7589520" y="406908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1" name="Shape 29"/>
          <p:cNvSpPr/>
          <p:nvPr/>
        </p:nvSpPr>
        <p:spPr>
          <a:xfrm>
            <a:off x="548640" y="4425696"/>
            <a:ext cx="11064240" cy="402336"/>
          </a:xfrm>
          <a:prstGeom prst="roundRect">
            <a:avLst>
              <a:gd name="adj" fmla="val 11364"/>
            </a:avLst>
          </a:prstGeom>
          <a:solidFill>
            <a:srgbClr val="15171B"/>
          </a:solidFill>
          <a:ln w="12700">
            <a:solidFill>
              <a:srgbClr val="15171B"/>
            </a:solidFill>
            <a:prstDash val="solid"/>
          </a:ln>
        </p:spPr>
      </p:sp>
      <p:sp>
        <p:nvSpPr>
          <p:cNvPr id="32" name="Text 30"/>
          <p:cNvSpPr/>
          <p:nvPr/>
        </p:nvSpPr>
        <p:spPr>
          <a:xfrm>
            <a:off x="822960" y="453542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Runner" JSON List</a:t>
            </a:r>
            <a:endParaRPr lang="en-US" sz="1050" dirty="0"/>
          </a:p>
        </p:txBody>
      </p:sp>
      <p:sp>
        <p:nvSpPr>
          <p:cNvPr id="33" name="Text 31"/>
          <p:cNvSpPr/>
          <p:nvPr/>
        </p:nvSpPr>
        <p:spPr>
          <a:xfrm>
            <a:off x="3657600" y="453542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Object Setup → Lists</a:t>
            </a:r>
            <a:endParaRPr lang="en-US" sz="1000" dirty="0"/>
          </a:p>
        </p:txBody>
      </p:sp>
      <p:sp>
        <p:nvSpPr>
          <p:cNvPr id="34" name="Text 32"/>
          <p:cNvSpPr/>
          <p:nvPr/>
        </p:nvSpPr>
        <p:spPr>
          <a:xfrm>
            <a:off x="7589520" y="453542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5" name="Shape 33"/>
          <p:cNvSpPr/>
          <p:nvPr/>
        </p:nvSpPr>
        <p:spPr>
          <a:xfrm>
            <a:off x="548640" y="4892040"/>
            <a:ext cx="11064240" cy="402336"/>
          </a:xfrm>
          <a:prstGeom prst="roundRect">
            <a:avLst>
              <a:gd name="adj" fmla="val 11364"/>
            </a:avLst>
          </a:prstGeom>
          <a:solidFill>
            <a:srgbClr val="15171B"/>
          </a:solidFill>
          <a:ln w="12700">
            <a:solidFill>
              <a:srgbClr val="15171B"/>
            </a:solidFill>
            <a:prstDash val="solid"/>
          </a:ln>
        </p:spPr>
      </p:sp>
      <p:sp>
        <p:nvSpPr>
          <p:cNvPr id="36" name="Text 34"/>
          <p:cNvSpPr/>
          <p:nvPr/>
        </p:nvSpPr>
        <p:spPr>
          <a:xfrm>
            <a:off x="822960" y="500176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Mail sender instance (optional)</a:t>
            </a:r>
            <a:endParaRPr lang="en-US" sz="1050" dirty="0"/>
          </a:p>
        </p:txBody>
      </p:sp>
      <p:sp>
        <p:nvSpPr>
          <p:cNvPr id="37" name="Text 35"/>
          <p:cNvSpPr/>
          <p:nvPr/>
        </p:nvSpPr>
        <p:spPr>
          <a:xfrm>
            <a:off x="3657600" y="500176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a:t>
            </a:r>
            <a:endParaRPr lang="en-US" sz="1000" dirty="0"/>
          </a:p>
        </p:txBody>
      </p:sp>
      <p:sp>
        <p:nvSpPr>
          <p:cNvPr id="38" name="Text 36"/>
          <p:cNvSpPr/>
          <p:nvPr/>
        </p:nvSpPr>
        <p:spPr>
          <a:xfrm>
            <a:off x="7589520" y="5001768"/>
            <a:ext cx="3749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Tests 9-10 notifications</a:t>
            </a:r>
            <a:endParaRPr lang="en-US" sz="1000" dirty="0"/>
          </a:p>
        </p:txBody>
      </p:sp>
      <p:sp>
        <p:nvSpPr>
          <p:cNvPr id="39" name="Shape 37"/>
          <p:cNvSpPr/>
          <p:nvPr/>
        </p:nvSpPr>
        <p:spPr>
          <a:xfrm>
            <a:off x="548640" y="5532120"/>
            <a:ext cx="11064240" cy="777240"/>
          </a:xfrm>
          <a:prstGeom prst="roundRect">
            <a:avLst>
              <a:gd name="adj" fmla="val 5882"/>
            </a:avLst>
          </a:prstGeom>
          <a:solidFill>
            <a:srgbClr val="1C2026"/>
          </a:solidFill>
          <a:ln w="12700">
            <a:solidFill>
              <a:srgbClr val="1C2026"/>
            </a:solidFill>
            <a:prstDash val="solid"/>
          </a:ln>
        </p:spPr>
      </p:sp>
      <p:sp>
        <p:nvSpPr>
          <p:cNvPr id="40" name="Shape 38"/>
          <p:cNvSpPr/>
          <p:nvPr/>
        </p:nvSpPr>
        <p:spPr>
          <a:xfrm>
            <a:off x="786384" y="57607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760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650992"/>
            <a:ext cx="10058400" cy="54864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The Core REST API instance is the one people miss. The Script Runner uses it to read endpoint groups larger than 100 — without it the tracker stays empty and every scan run does nothing, which looks exactly like a broken playbook.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Two ways in — only one collects events</a:t>
            </a:r>
            <a:endParaRPr lang="en-US" sz="3100" dirty="0"/>
          </a:p>
        </p:txBody>
      </p:sp>
      <p:sp>
        <p:nvSpPr>
          <p:cNvPr id="4" name="Text 2"/>
          <p:cNvSpPr/>
          <p:nvPr/>
        </p:nvSpPr>
        <p:spPr>
          <a:xfrm>
            <a:off x="822960" y="137160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Method</a:t>
            </a:r>
            <a:endParaRPr lang="en-US" sz="1050" dirty="0"/>
          </a:p>
        </p:txBody>
      </p:sp>
      <p:sp>
        <p:nvSpPr>
          <p:cNvPr id="5" name="Text 3"/>
          <p:cNvSpPr/>
          <p:nvPr/>
        </p:nvSpPr>
        <p:spPr>
          <a:xfrm>
            <a:off x="3749040" y="1371600"/>
            <a:ext cx="475488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lands</a:t>
            </a:r>
            <a:endParaRPr lang="en-US" sz="1050" dirty="0"/>
          </a:p>
        </p:txBody>
      </p:sp>
      <p:sp>
        <p:nvSpPr>
          <p:cNvPr id="6" name="Text 4"/>
          <p:cNvSpPr/>
          <p:nvPr/>
        </p:nvSpPr>
        <p:spPr>
          <a:xfrm>
            <a:off x="8686800" y="1371600"/>
            <a:ext cx="128016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Events?</a:t>
            </a:r>
            <a:endParaRPr lang="en-US" sz="1050" dirty="0"/>
          </a:p>
        </p:txBody>
      </p:sp>
      <p:sp>
        <p:nvSpPr>
          <p:cNvPr id="7" name="Shape 5"/>
          <p:cNvSpPr/>
          <p:nvPr/>
        </p:nvSpPr>
        <p:spPr>
          <a:xfrm>
            <a:off x="548640" y="1691640"/>
            <a:ext cx="11064240" cy="603504"/>
          </a:xfrm>
          <a:prstGeom prst="roundRect">
            <a:avLst>
              <a:gd name="adj" fmla="val 7576"/>
            </a:avLst>
          </a:prstGeom>
          <a:solidFill>
            <a:srgbClr val="15171B"/>
          </a:solidFill>
          <a:ln w="12700">
            <a:solidFill>
              <a:srgbClr val="15171B"/>
            </a:solidFill>
            <a:prstDash val="solid"/>
          </a:ln>
        </p:spPr>
      </p:sp>
      <p:sp>
        <p:nvSpPr>
          <p:cNvPr id="8" name="Text 6"/>
          <p:cNvSpPr/>
          <p:nvPr/>
        </p:nvSpPr>
        <p:spPr>
          <a:xfrm>
            <a:off x="822960" y="1874520"/>
            <a:ext cx="28346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demisto-sdk upload</a:t>
            </a:r>
            <a:endParaRPr lang="en-US" sz="1200" dirty="0"/>
          </a:p>
        </p:txBody>
      </p:sp>
      <p:sp>
        <p:nvSpPr>
          <p:cNvPr id="9" name="Text 7"/>
          <p:cNvSpPr/>
          <p:nvPr/>
        </p:nvSpPr>
        <p:spPr>
          <a:xfrm>
            <a:off x="3749040" y="1883664"/>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Everything — integration, playbooks, rules, dashboard</a:t>
            </a:r>
            <a:endParaRPr lang="en-US" sz="1050" dirty="0"/>
          </a:p>
        </p:txBody>
      </p:sp>
      <p:sp>
        <p:nvSpPr>
          <p:cNvPr id="10" name="Text 8"/>
          <p:cNvSpPr/>
          <p:nvPr/>
        </p:nvSpPr>
        <p:spPr>
          <a:xfrm>
            <a:off x="8686800" y="1874520"/>
            <a:ext cx="1280160" cy="274320"/>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 yes</a:t>
            </a:r>
            <a:endParaRPr lang="en-US" sz="1200" dirty="0"/>
          </a:p>
        </p:txBody>
      </p:sp>
      <p:sp>
        <p:nvSpPr>
          <p:cNvPr id="11" name="Shape 9"/>
          <p:cNvSpPr/>
          <p:nvPr/>
        </p:nvSpPr>
        <p:spPr>
          <a:xfrm>
            <a:off x="548640" y="2404872"/>
            <a:ext cx="11064240" cy="603504"/>
          </a:xfrm>
          <a:prstGeom prst="roundRect">
            <a:avLst>
              <a:gd name="adj" fmla="val 7576"/>
            </a:avLst>
          </a:prstGeom>
          <a:solidFill>
            <a:srgbClr val="1C2026"/>
          </a:solidFill>
          <a:ln w="12700">
            <a:solidFill>
              <a:srgbClr val="1C2026"/>
            </a:solidFill>
            <a:prstDash val="solid"/>
          </a:ln>
        </p:spPr>
      </p:sp>
      <p:sp>
        <p:nvSpPr>
          <p:cNvPr id="12" name="Text 10"/>
          <p:cNvSpPr/>
          <p:nvPr/>
        </p:nvSpPr>
        <p:spPr>
          <a:xfrm>
            <a:off x="822960" y="2587752"/>
            <a:ext cx="2834640" cy="274320"/>
          </a:xfrm>
          <a:prstGeom prst="rect">
            <a:avLst/>
          </a:prstGeom>
          <a:noFill/>
          <a:ln/>
        </p:spPr>
        <p:txBody>
          <a:bodyPr wrap="square" lIns="0" tIns="0" rIns="0" bIns="0" rtlCol="0" anchor="t"/>
          <a:lstStyle/>
          <a:p>
            <a:pPr indent="0" marL="0">
              <a:buNone/>
            </a:pPr>
            <a:r>
              <a:rPr lang="en-US" sz="1200" b="1" dirty="0">
                <a:solidFill>
                  <a:srgbClr val="F5A524"/>
                </a:solidFill>
                <a:latin typeface="Calibri" pitchFamily="34" charset="0"/>
                <a:ea typeface="Calibri" pitchFamily="34" charset="-122"/>
                <a:cs typeface="Calibri" pitchFamily="34" charset="-120"/>
              </a:rPr>
              <a:t>Pack zip upload</a:t>
            </a:r>
            <a:endParaRPr lang="en-US" sz="1200" dirty="0"/>
          </a:p>
        </p:txBody>
      </p:sp>
      <p:sp>
        <p:nvSpPr>
          <p:cNvPr id="13" name="Text 11"/>
          <p:cNvSpPr/>
          <p:nvPr/>
        </p:nvSpPr>
        <p:spPr>
          <a:xfrm>
            <a:off x="3749040" y="2596896"/>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Content only. The collector and rules do not activate</a:t>
            </a:r>
            <a:endParaRPr lang="en-US" sz="1050" dirty="0"/>
          </a:p>
        </p:txBody>
      </p:sp>
      <p:sp>
        <p:nvSpPr>
          <p:cNvPr id="14" name="Text 12"/>
          <p:cNvSpPr/>
          <p:nvPr/>
        </p:nvSpPr>
        <p:spPr>
          <a:xfrm>
            <a:off x="8686800" y="2587752"/>
            <a:ext cx="1280160" cy="274320"/>
          </a:xfrm>
          <a:prstGeom prst="rect">
            <a:avLst/>
          </a:prstGeom>
          <a:noFill/>
          <a:ln/>
        </p:spPr>
        <p:txBody>
          <a:bodyPr wrap="square" lIns="0" tIns="0" rIns="0" bIns="0" rtlCol="0" anchor="t"/>
          <a:lstStyle/>
          <a:p>
            <a:pPr indent="0" marL="0">
              <a:buNone/>
            </a:pPr>
            <a:r>
              <a:rPr lang="en-US" sz="1200" b="1" dirty="0">
                <a:solidFill>
                  <a:srgbClr val="F04438"/>
                </a:solidFill>
                <a:latin typeface="Calibri" pitchFamily="34" charset="0"/>
                <a:ea typeface="Calibri" pitchFamily="34" charset="-122"/>
                <a:cs typeface="Calibri" pitchFamily="34" charset="-120"/>
              </a:rPr>
              <a:t>✗ no</a:t>
            </a:r>
            <a:endParaRPr lang="en-US" sz="1200" dirty="0"/>
          </a:p>
        </p:txBody>
      </p:sp>
      <p:sp>
        <p:nvSpPr>
          <p:cNvPr id="15" name="Shape 13"/>
          <p:cNvSpPr/>
          <p:nvPr/>
        </p:nvSpPr>
        <p:spPr>
          <a:xfrm>
            <a:off x="548640" y="3200400"/>
            <a:ext cx="11064240" cy="1234440"/>
          </a:xfrm>
          <a:prstGeom prst="roundRect">
            <a:avLst>
              <a:gd name="adj" fmla="val 3704"/>
            </a:avLst>
          </a:prstGeom>
          <a:solidFill>
            <a:srgbClr val="1C2026"/>
          </a:solidFill>
          <a:ln w="12700">
            <a:solidFill>
              <a:srgbClr val="1C2026"/>
            </a:solidFill>
            <a:prstDash val="solid"/>
          </a:ln>
        </p:spPr>
      </p:sp>
      <p:sp>
        <p:nvSpPr>
          <p:cNvPr id="16" name="Text 14"/>
          <p:cNvSpPr/>
          <p:nvPr/>
        </p:nvSpPr>
        <p:spPr>
          <a:xfrm>
            <a:off x="859536" y="3364992"/>
            <a:ext cx="7315200" cy="274320"/>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Ask whoever sent you the pack to install it</a:t>
            </a:r>
            <a:endParaRPr lang="en-US" sz="1250" dirty="0"/>
          </a:p>
        </p:txBody>
      </p:sp>
      <p:sp>
        <p:nvSpPr>
          <p:cNvPr id="17" name="Text 15"/>
          <p:cNvSpPr/>
          <p:nvPr/>
        </p:nvSpPr>
        <p:spPr>
          <a:xfrm>
            <a:off x="859536" y="3703320"/>
            <a:ext cx="10442448" cy="6400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Installing with demisto-sdk is a developer task and needs a Standard XSIAM API key. If you are testing rather than deploying, have it installed for you and start at Test 1. Nothing else in this guide needs a developer.</a:t>
            </a:r>
            <a:endParaRPr lang="en-US" sz="1100" dirty="0"/>
          </a:p>
        </p:txBody>
      </p:sp>
      <p:sp>
        <p:nvSpPr>
          <p:cNvPr id="18" name="Shape 16"/>
          <p:cNvSpPr/>
          <p:nvPr/>
        </p:nvSpPr>
        <p:spPr>
          <a:xfrm>
            <a:off x="548640" y="4617720"/>
            <a:ext cx="11064240" cy="1371600"/>
          </a:xfrm>
          <a:prstGeom prst="roundRect">
            <a:avLst>
              <a:gd name="adj" fmla="val 3333"/>
            </a:avLst>
          </a:prstGeom>
          <a:solidFill>
            <a:srgbClr val="1C2026"/>
          </a:solidFill>
          <a:ln w="12700">
            <a:solidFill>
              <a:srgbClr val="1C2026"/>
            </a:solidFill>
            <a:prstDash val="solid"/>
          </a:ln>
        </p:spPr>
      </p:sp>
      <p:sp>
        <p:nvSpPr>
          <p:cNvPr id="19" name="Text 17"/>
          <p:cNvSpPr/>
          <p:nvPr/>
        </p:nvSpPr>
        <p:spPr>
          <a:xfrm>
            <a:off x="859536" y="4773168"/>
            <a:ext cx="3657600"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Confirm it landed</a:t>
            </a:r>
            <a:endParaRPr lang="en-US" sz="1250" dirty="0"/>
          </a:p>
        </p:txBody>
      </p:sp>
      <p:sp>
        <p:nvSpPr>
          <p:cNvPr id="20" name="Text 18"/>
          <p:cNvSpPr/>
          <p:nvPr/>
        </p:nvSpPr>
        <p:spPr>
          <a:xfrm>
            <a:off x="859536" y="51206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1152144" y="5120640"/>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 KOI integration is offered.</a:t>
            </a:r>
            <a:endParaRPr lang="en-US" sz="1150" dirty="0"/>
          </a:p>
        </p:txBody>
      </p:sp>
      <p:sp>
        <p:nvSpPr>
          <p:cNvPr id="22" name="Text 20"/>
          <p:cNvSpPr/>
          <p:nvPr/>
        </p:nvSpPr>
        <p:spPr>
          <a:xfrm>
            <a:off x="859536" y="54498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152144" y="5449824"/>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12 playbooks whose names start with KOI.</a:t>
            </a:r>
            <a:endParaRPr lang="en-US" sz="1150" dirty="0"/>
          </a:p>
        </p:txBody>
      </p:sp>
      <p:sp>
        <p:nvSpPr>
          <p:cNvPr id="24" name="Text 22"/>
          <p:cNvSpPr/>
          <p:nvPr/>
        </p:nvSpPr>
        <p:spPr>
          <a:xfrm>
            <a:off x="859536" y="5779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1152144" y="5779008"/>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the KOI Alerts Dashboard exists.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Twelve tests, four groups</a:t>
            </a:r>
            <a:endParaRPr lang="en-US" sz="3100" dirty="0"/>
          </a:p>
        </p:txBody>
      </p:sp>
      <p:sp>
        <p:nvSpPr>
          <p:cNvPr id="4" name="Shape 2"/>
          <p:cNvSpPr/>
          <p:nvPr/>
        </p:nvSpPr>
        <p:spPr>
          <a:xfrm>
            <a:off x="548640" y="1371600"/>
            <a:ext cx="11064240" cy="859536"/>
          </a:xfrm>
          <a:prstGeom prst="roundRect">
            <a:avLst>
              <a:gd name="adj" fmla="val 5319"/>
            </a:avLst>
          </a:prstGeom>
          <a:solidFill>
            <a:srgbClr val="15171B"/>
          </a:solidFill>
          <a:ln w="12700">
            <a:solidFill>
              <a:srgbClr val="15171B"/>
            </a:solidFill>
            <a:prstDash val="solid"/>
          </a:ln>
        </p:spPr>
      </p:sp>
      <p:sp>
        <p:nvSpPr>
          <p:cNvPr id="5" name="Text 3"/>
          <p:cNvSpPr/>
          <p:nvPr/>
        </p:nvSpPr>
        <p:spPr>
          <a:xfrm>
            <a:off x="841248" y="1517904"/>
            <a:ext cx="4572000" cy="256032"/>
          </a:xfrm>
          <a:prstGeom prst="rect">
            <a:avLst/>
          </a:prstGeom>
          <a:noFill/>
          <a:ln/>
        </p:spPr>
        <p:txBody>
          <a:bodyPr wrap="square" lIns="0" tIns="0" rIns="0" bIns="0" rtlCol="0" anchor="t"/>
          <a:lstStyle/>
          <a:p>
            <a:pPr indent="0" marL="0">
              <a:buNone/>
            </a:pPr>
            <a:r>
              <a:rPr lang="en-US" sz="1250" b="1" dirty="0">
                <a:solidFill>
                  <a:srgbClr val="E8551F"/>
                </a:solidFill>
                <a:latin typeface="Calibri" pitchFamily="34" charset="0"/>
                <a:ea typeface="Calibri" pitchFamily="34" charset="-122"/>
                <a:cs typeface="Calibri" pitchFamily="34" charset="-120"/>
              </a:rPr>
              <a:t>Data is arriving and correct</a:t>
            </a:r>
            <a:endParaRPr lang="en-US" sz="1250" dirty="0"/>
          </a:p>
        </p:txBody>
      </p:sp>
      <p:sp>
        <p:nvSpPr>
          <p:cNvPr id="6" name="Text 4"/>
          <p:cNvSpPr/>
          <p:nvPr/>
        </p:nvSpPr>
        <p:spPr>
          <a:xfrm>
            <a:off x="84124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  Connectivity</a:t>
            </a:r>
            <a:endParaRPr lang="en-US" sz="1100" dirty="0"/>
          </a:p>
        </p:txBody>
      </p:sp>
      <p:sp>
        <p:nvSpPr>
          <p:cNvPr id="7" name="Text 5"/>
          <p:cNvSpPr/>
          <p:nvPr/>
        </p:nvSpPr>
        <p:spPr>
          <a:xfrm>
            <a:off x="353872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2  Event collection</a:t>
            </a:r>
            <a:endParaRPr lang="en-US" sz="1100" dirty="0"/>
          </a:p>
        </p:txBody>
      </p:sp>
      <p:sp>
        <p:nvSpPr>
          <p:cNvPr id="8" name="Text 6"/>
          <p:cNvSpPr/>
          <p:nvPr/>
        </p:nvSpPr>
        <p:spPr>
          <a:xfrm>
            <a:off x="623620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3  Parsing &amp; data model</a:t>
            </a:r>
            <a:endParaRPr lang="en-US" sz="1100" dirty="0"/>
          </a:p>
        </p:txBody>
      </p:sp>
      <p:sp>
        <p:nvSpPr>
          <p:cNvPr id="9" name="Text 7"/>
          <p:cNvSpPr/>
          <p:nvPr/>
        </p:nvSpPr>
        <p:spPr>
          <a:xfrm>
            <a:off x="893368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4  Dashboard</a:t>
            </a:r>
            <a:endParaRPr lang="en-US" sz="1100" dirty="0"/>
          </a:p>
        </p:txBody>
      </p:sp>
      <p:sp>
        <p:nvSpPr>
          <p:cNvPr id="10" name="Shape 8"/>
          <p:cNvSpPr/>
          <p:nvPr/>
        </p:nvSpPr>
        <p:spPr>
          <a:xfrm>
            <a:off x="548640" y="2377440"/>
            <a:ext cx="11064240" cy="859536"/>
          </a:xfrm>
          <a:prstGeom prst="roundRect">
            <a:avLst>
              <a:gd name="adj" fmla="val 5319"/>
            </a:avLst>
          </a:prstGeom>
          <a:solidFill>
            <a:srgbClr val="15171B"/>
          </a:solidFill>
          <a:ln w="12700">
            <a:solidFill>
              <a:srgbClr val="15171B"/>
            </a:solidFill>
            <a:prstDash val="solid"/>
          </a:ln>
        </p:spPr>
      </p:sp>
      <p:sp>
        <p:nvSpPr>
          <p:cNvPr id="11" name="Text 9"/>
          <p:cNvSpPr/>
          <p:nvPr/>
        </p:nvSpPr>
        <p:spPr>
          <a:xfrm>
            <a:off x="841248" y="2523744"/>
            <a:ext cx="4572000" cy="256032"/>
          </a:xfrm>
          <a:prstGeom prst="rect">
            <a:avLst/>
          </a:prstGeom>
          <a:noFill/>
          <a:ln/>
        </p:spPr>
        <p:txBody>
          <a:bodyPr wrap="square" lIns="0" tIns="0" rIns="0" bIns="0" rtlCol="0" anchor="t"/>
          <a:lstStyle/>
          <a:p>
            <a:pPr indent="0" marL="0">
              <a:buNone/>
            </a:pPr>
            <a:r>
              <a:rPr lang="en-US" sz="1250" b="1" dirty="0">
                <a:solidFill>
                  <a:srgbClr val="22D3EE"/>
                </a:solidFill>
                <a:latin typeface="Calibri" pitchFamily="34" charset="0"/>
                <a:ea typeface="Calibri" pitchFamily="34" charset="-122"/>
                <a:cs typeface="Calibri" pitchFamily="34" charset="-120"/>
              </a:rPr>
              <a:t>The automation works</a:t>
            </a:r>
            <a:endParaRPr lang="en-US" sz="1250" dirty="0"/>
          </a:p>
        </p:txBody>
      </p:sp>
      <p:sp>
        <p:nvSpPr>
          <p:cNvPr id="12" name="Text 10"/>
          <p:cNvSpPr/>
          <p:nvPr/>
        </p:nvSpPr>
        <p:spPr>
          <a:xfrm>
            <a:off x="84124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5  Alert triage</a:t>
            </a:r>
            <a:endParaRPr lang="en-US" sz="1100" dirty="0"/>
          </a:p>
        </p:txBody>
      </p:sp>
      <p:sp>
        <p:nvSpPr>
          <p:cNvPr id="13" name="Text 11"/>
          <p:cNvSpPr/>
          <p:nvPr/>
        </p:nvSpPr>
        <p:spPr>
          <a:xfrm>
            <a:off x="353872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6  Item &amp; device investigation</a:t>
            </a:r>
            <a:endParaRPr lang="en-US" sz="1100" dirty="0"/>
          </a:p>
        </p:txBody>
      </p:sp>
      <p:sp>
        <p:nvSpPr>
          <p:cNvPr id="14" name="Text 12"/>
          <p:cNvSpPr/>
          <p:nvPr/>
        </p:nvSpPr>
        <p:spPr>
          <a:xfrm>
            <a:off x="623620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7  Gated response</a:t>
            </a:r>
            <a:endParaRPr lang="en-US" sz="1100" dirty="0"/>
          </a:p>
        </p:txBody>
      </p:sp>
      <p:sp>
        <p:nvSpPr>
          <p:cNvPr id="15" name="Text 13"/>
          <p:cNvSpPr/>
          <p:nvPr/>
        </p:nvSpPr>
        <p:spPr>
          <a:xfrm>
            <a:off x="893368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8  MCP server hunt</a:t>
            </a:r>
            <a:endParaRPr lang="en-US" sz="1100" dirty="0"/>
          </a:p>
        </p:txBody>
      </p:sp>
      <p:sp>
        <p:nvSpPr>
          <p:cNvPr id="16" name="Shape 14"/>
          <p:cNvSpPr/>
          <p:nvPr/>
        </p:nvSpPr>
        <p:spPr>
          <a:xfrm>
            <a:off x="548640" y="3383280"/>
            <a:ext cx="11064240" cy="859536"/>
          </a:xfrm>
          <a:prstGeom prst="roundRect">
            <a:avLst>
              <a:gd name="adj" fmla="val 5319"/>
            </a:avLst>
          </a:prstGeom>
          <a:solidFill>
            <a:srgbClr val="15171B"/>
          </a:solidFill>
          <a:ln w="12700">
            <a:solidFill>
              <a:srgbClr val="15171B"/>
            </a:solidFill>
            <a:prstDash val="solid"/>
          </a:ln>
        </p:spPr>
      </p:sp>
      <p:sp>
        <p:nvSpPr>
          <p:cNvPr id="17" name="Text 15"/>
          <p:cNvSpPr/>
          <p:nvPr/>
        </p:nvSpPr>
        <p:spPr>
          <a:xfrm>
            <a:off x="841248" y="3529584"/>
            <a:ext cx="4572000" cy="256032"/>
          </a:xfrm>
          <a:prstGeom prst="rect">
            <a:avLst/>
          </a:prstGeom>
          <a:noFill/>
          <a:ln/>
        </p:spPr>
        <p:txBody>
          <a:bodyPr wrap="square" lIns="0" tIns="0" rIns="0" bIns="0" rtlCol="0" anchor="t"/>
          <a:lstStyle/>
          <a:p>
            <a:pPr indent="0" marL="0">
              <a:buNone/>
            </a:pPr>
            <a:r>
              <a:rPr lang="en-US" sz="1250" b="1" dirty="0">
                <a:solidFill>
                  <a:srgbClr val="F5A524"/>
                </a:solidFill>
                <a:latin typeface="Calibri" pitchFamily="34" charset="0"/>
                <a:ea typeface="Calibri" pitchFamily="34" charset="-122"/>
                <a:cs typeface="Calibri" pitchFamily="34" charset="-120"/>
              </a:rPr>
              <a:t>Fleet script execution</a:t>
            </a:r>
            <a:endParaRPr lang="en-US" sz="1250" dirty="0"/>
          </a:p>
        </p:txBody>
      </p:sp>
      <p:sp>
        <p:nvSpPr>
          <p:cNvPr id="18" name="Text 16"/>
          <p:cNvSpPr/>
          <p:nvPr/>
        </p:nvSpPr>
        <p:spPr>
          <a:xfrm>
            <a:off x="84124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9  Refresh the tracker</a:t>
            </a:r>
            <a:endParaRPr lang="en-US" sz="1100" dirty="0"/>
          </a:p>
        </p:txBody>
      </p:sp>
      <p:sp>
        <p:nvSpPr>
          <p:cNvPr id="19" name="Text 17"/>
          <p:cNvSpPr/>
          <p:nvPr/>
        </p:nvSpPr>
        <p:spPr>
          <a:xfrm>
            <a:off x="353872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10  Scan due endpoints</a:t>
            </a:r>
            <a:endParaRPr lang="en-US" sz="1100" dirty="0"/>
          </a:p>
        </p:txBody>
      </p:sp>
      <p:sp>
        <p:nvSpPr>
          <p:cNvPr id="20" name="Shape 18"/>
          <p:cNvSpPr/>
          <p:nvPr/>
        </p:nvSpPr>
        <p:spPr>
          <a:xfrm>
            <a:off x="548640" y="4389120"/>
            <a:ext cx="11064240" cy="859536"/>
          </a:xfrm>
          <a:prstGeom prst="roundRect">
            <a:avLst>
              <a:gd name="adj" fmla="val 5319"/>
            </a:avLst>
          </a:prstGeom>
          <a:solidFill>
            <a:srgbClr val="15171B"/>
          </a:solidFill>
          <a:ln w="12700">
            <a:solidFill>
              <a:srgbClr val="15171B"/>
            </a:solidFill>
            <a:prstDash val="solid"/>
          </a:ln>
        </p:spPr>
      </p:sp>
      <p:sp>
        <p:nvSpPr>
          <p:cNvPr id="21" name="Text 19"/>
          <p:cNvSpPr/>
          <p:nvPr/>
        </p:nvSpPr>
        <p:spPr>
          <a:xfrm>
            <a:off x="841248" y="4535424"/>
            <a:ext cx="4572000" cy="256032"/>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Extras, any time</a:t>
            </a:r>
            <a:endParaRPr lang="en-US" sz="1250" dirty="0"/>
          </a:p>
        </p:txBody>
      </p:sp>
      <p:sp>
        <p:nvSpPr>
          <p:cNvPr id="22" name="Text 20"/>
          <p:cNvSpPr/>
          <p:nvPr/>
        </p:nvSpPr>
        <p:spPr>
          <a:xfrm>
            <a:off x="84124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11  Threat-hunting library</a:t>
            </a:r>
            <a:endParaRPr lang="en-US" sz="1100" dirty="0"/>
          </a:p>
        </p:txBody>
      </p:sp>
      <p:sp>
        <p:nvSpPr>
          <p:cNvPr id="23" name="Text 21"/>
          <p:cNvSpPr/>
          <p:nvPr/>
        </p:nvSpPr>
        <p:spPr>
          <a:xfrm>
            <a:off x="353872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12  Simulated test data</a:t>
            </a:r>
            <a:endParaRPr lang="en-US" sz="1100" dirty="0"/>
          </a:p>
        </p:txBody>
      </p:sp>
      <p:sp>
        <p:nvSpPr>
          <p:cNvPr id="24" name="Shape 22"/>
          <p:cNvSpPr/>
          <p:nvPr/>
        </p:nvSpPr>
        <p:spPr>
          <a:xfrm>
            <a:off x="548640" y="5394960"/>
            <a:ext cx="11064240" cy="731520"/>
          </a:xfrm>
          <a:prstGeom prst="roundRect">
            <a:avLst>
              <a:gd name="adj" fmla="val 6250"/>
            </a:avLst>
          </a:prstGeom>
          <a:solidFill>
            <a:srgbClr val="1C2026"/>
          </a:solidFill>
          <a:ln w="12700">
            <a:solidFill>
              <a:srgbClr val="1C2026"/>
            </a:solidFill>
            <a:prstDash val="solid"/>
          </a:ln>
        </p:spPr>
      </p:sp>
      <p:sp>
        <p:nvSpPr>
          <p:cNvPr id="25" name="Shape 23"/>
          <p:cNvSpPr/>
          <p:nvPr/>
        </p:nvSpPr>
        <p:spPr>
          <a:xfrm>
            <a:off x="786384" y="560527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56052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5541264"/>
            <a:ext cx="10058400" cy="50292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Only tests 9 and 10 need the Core REST API integration. Only tests 1-8 and 11 need a KOI API key. Test 12 needs neither and is the fastest way to see the pack working.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and authorisation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API key (KOI console → Settings → API Access)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Permission to add an integration instance in XSIAM</a:t>
            </a:r>
            <a:endParaRPr lang="en-US" sz="1050" dirty="0"/>
          </a:p>
        </p:txBody>
      </p:sp>
      <p:sp>
        <p:nvSpPr>
          <p:cNvPr id="10" name="Shape 8"/>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Add an instance → search KOI.</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Optionally set a Tenant Name label.</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Click Test, then Save.</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at the bottom of any incident and run:</a:t>
            </a:r>
            <a:endParaRPr lang="en-US" sz="1150" dirty="0"/>
          </a:p>
        </p:txBody>
      </p:sp>
      <p:sp>
        <p:nvSpPr>
          <p:cNvPr id="22" name="Text 20"/>
          <p:cNvSpPr/>
          <p:nvPr/>
        </p:nvSpPr>
        <p:spPr>
          <a:xfrm>
            <a:off x="859536" y="44348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3" name="Text 21"/>
          <p:cNvSpPr/>
          <p:nvPr/>
        </p:nvSpPr>
        <p:spPr>
          <a:xfrm>
            <a:off x="1152144" y="44348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24" name="Shape 22"/>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25" name="Text 23"/>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8" name="Text 26"/>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1181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command returns a table of up to five devices.</a:t>
            </a:r>
            <a:endParaRPr lang="en-US" sz="1150" dirty="0"/>
          </a:p>
        </p:txBody>
      </p:sp>
      <p:sp>
        <p:nvSpPr>
          <p:cNvPr id="30" name="Text 28"/>
          <p:cNvSpPr/>
          <p:nvPr/>
        </p:nvSpPr>
        <p:spPr>
          <a:xfrm>
            <a:off x="7626096" y="36347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6347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If you set a Tenant Name it will appear on collected events later.</a:t>
            </a:r>
            <a:endParaRPr lang="en-US" sz="1150" dirty="0"/>
          </a:p>
        </p:txBody>
      </p:sp>
      <p:sp>
        <p:nvSpPr>
          <p:cNvPr id="32" name="Shape 30"/>
          <p:cNvSpPr/>
          <p:nvPr/>
        </p:nvSpPr>
        <p:spPr>
          <a:xfrm>
            <a:off x="548640" y="5129784"/>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312664"/>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31266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23951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403 here almost always means egress, not a bad key: KOI restricts its sensitive endpoints by source IP. Run the instance on a Cortex engine whose address KOI accepts. A 401 means the key itself.</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Fetch events enabled on the KOI instance</a:t>
            </a:r>
            <a:endParaRPr lang="en-US" sz="1050" dirty="0"/>
          </a:p>
        </p:txBody>
      </p:sp>
      <p:sp>
        <p:nvSpPr>
          <p:cNvPr id="10" name="Shape 8"/>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the KOI instance and tick Fetch events.</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Choose which event types to collect, then Save.</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collection cycles.</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Incident Response → Investigation → Query Builder and run:</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2" name="Text 20"/>
          <p:cNvSpPr/>
          <p:nvPr/>
        </p:nvSpPr>
        <p:spPr>
          <a:xfrm>
            <a:off x="859536" y="44348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3" name="Text 21"/>
          <p:cNvSpPr/>
          <p:nvPr/>
        </p:nvSpPr>
        <p:spPr>
          <a:xfrm>
            <a:off x="1152144" y="44348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by source_log_type</a:t>
            </a:r>
            <a:endParaRPr lang="en-US" sz="1050" dirty="0"/>
          </a:p>
        </p:txBody>
      </p:sp>
      <p:sp>
        <p:nvSpPr>
          <p:cNvPr id="24" name="Shape 22"/>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25" name="Text 23"/>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appear under Alerts, Audit, or both.</a:t>
            </a:r>
            <a:endParaRPr lang="en-US" sz="1150" dirty="0"/>
          </a:p>
        </p:txBody>
      </p:sp>
      <p:sp>
        <p:nvSpPr>
          <p:cNvPr id="28" name="Text 26"/>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1181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grow between cycles.</a:t>
            </a:r>
            <a:endParaRPr lang="en-US" sz="1150" dirty="0"/>
          </a:p>
        </p:txBody>
      </p:sp>
      <p:sp>
        <p:nvSpPr>
          <p:cNvPr id="30" name="Shape 28"/>
          <p:cNvSpPr/>
          <p:nvPr/>
        </p:nvSpPr>
        <p:spPr>
          <a:xfrm>
            <a:off x="548640" y="5129784"/>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312664"/>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31266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23951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 rows at all usually means fetch was only just enabled — give it two cycles. Audit missing on its own means the Audit types filter is narrowed; leave it empty for all types.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Parsing and the data model</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 in koi_koi_raw</a:t>
            </a:r>
            <a:endParaRPr lang="en-US" sz="1050" dirty="0"/>
          </a:p>
        </p:txBody>
      </p:sp>
      <p:sp>
        <p:nvSpPr>
          <p:cNvPr id="8" name="Shape 6"/>
          <p:cNvSpPr/>
          <p:nvPr/>
        </p:nvSpPr>
        <p:spPr>
          <a:xfrm>
            <a:off x="548640" y="2007108"/>
            <a:ext cx="6400800" cy="2619756"/>
          </a:xfrm>
          <a:prstGeom prst="roundRect">
            <a:avLst>
              <a:gd name="adj" fmla="val 1745"/>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Query Builder, count real alerts rather than rows:</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filter source_log_type = "Alerts"</a:t>
            </a:r>
            <a:endParaRPr lang="en-US" sz="1050" dirty="0"/>
          </a:p>
        </p:txBody>
      </p:sp>
      <p:sp>
        <p:nvSpPr>
          <p:cNvPr id="16" name="Text 14"/>
          <p:cNvSpPr/>
          <p:nvPr/>
        </p:nvSpPr>
        <p:spPr>
          <a:xfrm>
            <a:off x="859536" y="35615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3561588"/>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alter nid = json_extract_scalar(metadata, "$.notification_event_id")</a:t>
            </a:r>
            <a:endParaRPr lang="en-US" sz="1050" dirty="0"/>
          </a:p>
        </p:txBody>
      </p:sp>
      <p:sp>
        <p:nvSpPr>
          <p:cNvPr id="18" name="Text 16"/>
          <p:cNvSpPr/>
          <p:nvPr/>
        </p:nvSpPr>
        <p:spPr>
          <a:xfrm>
            <a:off x="859536" y="40782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9" name="Text 17"/>
          <p:cNvSpPr/>
          <p:nvPr/>
        </p:nvSpPr>
        <p:spPr>
          <a:xfrm>
            <a:off x="1152144" y="40782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count_distinct(nid) as real_alerts</a:t>
            </a:r>
            <a:endParaRPr lang="en-US" sz="1050" dirty="0"/>
          </a:p>
        </p:txBody>
      </p:sp>
      <p:sp>
        <p:nvSpPr>
          <p:cNvPr id="20" name="Shape 18"/>
          <p:cNvSpPr/>
          <p:nvPr/>
        </p:nvSpPr>
        <p:spPr>
          <a:xfrm>
            <a:off x="7315200" y="2007108"/>
            <a:ext cx="4297680" cy="2619756"/>
          </a:xfrm>
          <a:prstGeom prst="roundRect">
            <a:avLst>
              <a:gd name="adj" fmla="val 1745"/>
            </a:avLst>
          </a:prstGeom>
          <a:solidFill>
            <a:srgbClr val="1C2026"/>
          </a:solidFill>
          <a:ln w="12700">
            <a:solidFill>
              <a:srgbClr val="1C2026"/>
            </a:solidFill>
            <a:prstDash val="solid"/>
          </a:ln>
        </p:spPr>
      </p:sp>
      <p:sp>
        <p:nvSpPr>
          <p:cNvPr id="21" name="Text 19"/>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57403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numbers return.</a:t>
            </a:r>
            <a:endParaRPr lang="en-US" sz="1150" dirty="0"/>
          </a:p>
        </p:txBody>
      </p:sp>
      <p:sp>
        <p:nvSpPr>
          <p:cNvPr id="24" name="Text 22"/>
          <p:cNvSpPr/>
          <p:nvPr/>
        </p:nvSpPr>
        <p:spPr>
          <a:xfrm>
            <a:off x="7626096" y="29032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9032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is larger than real_alerts — often much larger.</a:t>
            </a:r>
            <a:endParaRPr lang="en-US" sz="1150" dirty="0"/>
          </a:p>
        </p:txBody>
      </p:sp>
      <p:sp>
        <p:nvSpPr>
          <p:cNvPr id="26" name="Text 24"/>
          <p:cNvSpPr/>
          <p:nvPr/>
        </p:nvSpPr>
        <p:spPr>
          <a:xfrm>
            <a:off x="7626096" y="34198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4198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Fields such as item_id, alert_hostname and risk_level are populated and directly queryable.</a:t>
            </a:r>
            <a:endParaRPr lang="en-US" sz="1150" dirty="0"/>
          </a:p>
        </p:txBody>
      </p:sp>
      <p:sp>
        <p:nvSpPr>
          <p:cNvPr id="28" name="Shape 26"/>
          <p:cNvSpPr/>
          <p:nvPr/>
        </p:nvSpPr>
        <p:spPr>
          <a:xfrm>
            <a:off x="548640" y="4773168"/>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956048"/>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9560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88289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rows far exceeding real_alerts is CORRECT. KOI re-sends every still-open alert on each fetch, so a row is a delivery, not an alert. Anything counting alerts must count distinct notification ids — the dashboard already does.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a:t>
            </a:r>
            <a:endParaRPr lang="en-US" sz="1050" dirty="0"/>
          </a:p>
        </p:txBody>
      </p:sp>
      <p:sp>
        <p:nvSpPr>
          <p:cNvPr id="8" name="Shape 6"/>
          <p:cNvSpPr/>
          <p:nvPr/>
        </p:nvSpPr>
        <p:spPr>
          <a:xfrm>
            <a:off x="548640" y="2007108"/>
            <a:ext cx="6400800" cy="2148840"/>
          </a:xfrm>
          <a:prstGeom prst="roundRect">
            <a:avLst>
              <a:gd name="adj" fmla="val 2128"/>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the KOI Alerts Dashboard.</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alert totals, risk mix and top items.</a:t>
            </a:r>
            <a:endParaRPr lang="en-US" sz="11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Come back after another collection cycle and compare.</a:t>
            </a:r>
            <a:endParaRPr lang="en-US" sz="1150" dirty="0"/>
          </a:p>
        </p:txBody>
      </p:sp>
      <p:sp>
        <p:nvSpPr>
          <p:cNvPr id="16" name="Shape 14"/>
          <p:cNvSpPr/>
          <p:nvPr/>
        </p:nvSpPr>
        <p:spPr>
          <a:xfrm>
            <a:off x="7315200" y="2007108"/>
            <a:ext cx="4297680" cy="2148840"/>
          </a:xfrm>
          <a:prstGeom prst="roundRect">
            <a:avLst>
              <a:gd name="adj" fmla="val 2128"/>
            </a:avLst>
          </a:prstGeom>
          <a:solidFill>
            <a:srgbClr val="1C2026"/>
          </a:solidFill>
          <a:ln w="12700">
            <a:solidFill>
              <a:srgbClr val="1C2026"/>
            </a:solidFill>
            <a:prstDash val="solid"/>
          </a:ln>
        </p:spPr>
      </p:sp>
      <p:sp>
        <p:nvSpPr>
          <p:cNvPr id="17" name="Text 15"/>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18" name="Text 16"/>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57403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a:t>
            </a:r>
            <a:endParaRPr lang="en-US" sz="1150" dirty="0"/>
          </a:p>
        </p:txBody>
      </p:sp>
      <p:sp>
        <p:nvSpPr>
          <p:cNvPr id="20" name="Text 18"/>
          <p:cNvSpPr/>
          <p:nvPr/>
        </p:nvSpPr>
        <p:spPr>
          <a:xfrm>
            <a:off x="7626096" y="29032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9032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counts are far lower than the raw row count from Test 3.</a:t>
            </a:r>
            <a:endParaRPr lang="en-US" sz="1150" dirty="0"/>
          </a:p>
        </p:txBody>
      </p:sp>
      <p:sp>
        <p:nvSpPr>
          <p:cNvPr id="22" name="Text 20"/>
          <p:cNvSpPr/>
          <p:nvPr/>
        </p:nvSpPr>
        <p:spPr>
          <a:xfrm>
            <a:off x="7626096" y="34198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4198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stay stable as fetches repeat — they do not climb on their own.</a:t>
            </a:r>
            <a:endParaRPr lang="en-US" sz="1150" dirty="0"/>
          </a:p>
        </p:txBody>
      </p:sp>
      <p:sp>
        <p:nvSpPr>
          <p:cNvPr id="24" name="Shape 22"/>
          <p:cNvSpPr/>
          <p:nvPr/>
        </p:nvSpPr>
        <p:spPr>
          <a:xfrm>
            <a:off x="548640" y="4302252"/>
            <a:ext cx="11064240" cy="658368"/>
          </a:xfrm>
          <a:prstGeom prst="roundRect">
            <a:avLst>
              <a:gd name="adj" fmla="val 6944"/>
            </a:avLst>
          </a:prstGeom>
          <a:solidFill>
            <a:srgbClr val="1C2026"/>
          </a:solidFill>
          <a:ln w="12700">
            <a:solidFill>
              <a:srgbClr val="1C2026"/>
            </a:solidFill>
            <a:prstDash val="solid"/>
          </a:ln>
        </p:spPr>
      </p:sp>
      <p:sp>
        <p:nvSpPr>
          <p:cNvPr id="25" name="Shape 23"/>
          <p:cNvSpPr/>
          <p:nvPr/>
        </p:nvSpPr>
        <p:spPr>
          <a:xfrm>
            <a:off x="786384" y="448513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448513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441198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widget whose number climbs steadily while nothing new happens in KOI would be counting deliveries rather than alerts. Every widget in this pack de-duplicates first.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 — the KOI integration answers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alert in XSIAM (a correlation rule over koi_koi_raw, or Test 12 for simulated data)</a:t>
            </a:r>
            <a:endParaRPr lang="en-US" sz="1050" dirty="0"/>
          </a:p>
        </p:txBody>
      </p:sp>
      <p:sp>
        <p:nvSpPr>
          <p:cNvPr id="10" name="Shape 8"/>
          <p:cNvSpPr/>
          <p:nvPr/>
        </p:nvSpPr>
        <p:spPr>
          <a:xfrm>
            <a:off x="548640" y="2221992"/>
            <a:ext cx="6400800" cy="2665476"/>
          </a:xfrm>
          <a:prstGeom prst="roundRect">
            <a:avLst>
              <a:gd name="adj" fmla="val 1715"/>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 KOI alert.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the triage playbook, or run from the CLI:</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!setPlaybook playbookId="KOI - Alert Triage"</a:t>
            </a:r>
            <a:endParaRPr lang="en-US" sz="10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then read the War Room.</a:t>
            </a:r>
            <a:endParaRPr lang="en-US" sz="1150" dirty="0"/>
          </a:p>
        </p:txBody>
      </p:sp>
      <p:sp>
        <p:nvSpPr>
          <p:cNvPr id="20" name="Shape 18"/>
          <p:cNvSpPr/>
          <p:nvPr/>
        </p:nvSpPr>
        <p:spPr>
          <a:xfrm>
            <a:off x="7315200" y="2221992"/>
            <a:ext cx="4297680" cy="2665476"/>
          </a:xfrm>
          <a:prstGeom prst="roundRect">
            <a:avLst>
              <a:gd name="adj" fmla="val 1715"/>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is extracted: item, marketplace, risk, host.</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verdict is posted: Malicious, Suspicious or Benign.</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Low risk auto-closes; critical and high escalate.</a:t>
            </a:r>
            <a:endParaRPr lang="en-US" sz="1150" dirty="0"/>
          </a:p>
        </p:txBody>
      </p:sp>
      <p:sp>
        <p:nvSpPr>
          <p:cNvPr id="28" name="Text 26"/>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3388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Medium and pending stay open for a human.</a:t>
            </a:r>
            <a:endParaRPr lang="en-US" sz="1150" dirty="0"/>
          </a:p>
        </p:txBody>
      </p:sp>
      <p:sp>
        <p:nvSpPr>
          <p:cNvPr id="30" name="Shape 28"/>
          <p:cNvSpPr/>
          <p:nvPr/>
        </p:nvSpPr>
        <p:spPr>
          <a:xfrm>
            <a:off x="548640" y="5033772"/>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216652"/>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2166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14350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Everything coming out Suspicious usually means the alert carried no KOI detail for the playbook to read. Check the correlation rule passes the KOI fields through. Pending means KOI has not finished scoring — it deliberately never auto-closes.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Item and device investigation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its marketplace, and a device id — both visible on any KOI alert</a:t>
            </a:r>
            <a:endParaRPr lang="en-US" sz="1050" dirty="0"/>
          </a:p>
        </p:txBody>
      </p:sp>
      <p:sp>
        <p:nvSpPr>
          <p:cNvPr id="10" name="Shape 8"/>
          <p:cNvSpPr/>
          <p:nvPr/>
        </p:nvSpPr>
        <p:spPr>
          <a:xfrm>
            <a:off x="548640" y="2221992"/>
            <a:ext cx="6400800" cy="2852928"/>
          </a:xfrm>
          <a:prstGeom prst="roundRect">
            <a:avLst>
              <a:gd name="adj" fmla="val 1603"/>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 Investigate Item → Run.</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with KOI - Investigate Device and a device id.</a:t>
            </a:r>
            <a:endParaRPr lang="en-US" sz="1150" dirty="0"/>
          </a:p>
        </p:txBody>
      </p:sp>
      <p:sp>
        <p:nvSpPr>
          <p:cNvPr id="18" name="Shape 16"/>
          <p:cNvSpPr/>
          <p:nvPr/>
        </p:nvSpPr>
        <p:spPr>
          <a:xfrm>
            <a:off x="7315200" y="222199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0" name="Text 18"/>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investigation summary with catalog risk and an AI-written summary.</a:t>
            </a:r>
            <a:endParaRPr lang="en-US" sz="1150" dirty="0"/>
          </a:p>
        </p:txBody>
      </p:sp>
      <p:sp>
        <p:nvSpPr>
          <p:cNvPr id="22" name="Text 20"/>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Organisation exposure: installs, endpoints, affected users.</a:t>
            </a:r>
            <a:endParaRPr lang="en-US" sz="1150" dirty="0"/>
          </a:p>
        </p:txBody>
      </p:sp>
      <p:sp>
        <p:nvSpPr>
          <p:cNvPr id="24" name="Text 22"/>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governance counts — on blocklist AND on allowlist.</a:t>
            </a:r>
            <a:endParaRPr lang="en-US" sz="1150" dirty="0"/>
          </a:p>
        </p:txBody>
      </p:sp>
      <p:sp>
        <p:nvSpPr>
          <p:cNvPr id="26" name="Text 24"/>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For the device: everything installed on that host, and which of it is risky.</a:t>
            </a:r>
            <a:endParaRPr lang="en-US" sz="1150" dirty="0"/>
          </a:p>
        </p:txBody>
      </p:sp>
      <p:sp>
        <p:nvSpPr>
          <p:cNvPr id="28" name="Shape 26"/>
          <p:cNvSpPr/>
          <p:nvPr/>
        </p:nvSpPr>
        <p:spPr>
          <a:xfrm>
            <a:off x="548640" y="5221224"/>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5404104"/>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5404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533095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Both governance counts matter. Zero blocklist hits alone does not mean nobody has governed the item — it may have been explicitly allowed, and blocking it would override that decision.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Gated response</a:t>
            </a:r>
            <a:endParaRPr lang="en-US" sz="3100" dirty="0"/>
          </a:p>
        </p:txBody>
      </p:sp>
      <p:sp>
        <p:nvSpPr>
          <p:cNvPr id="4" name="Shape 2"/>
          <p:cNvSpPr/>
          <p:nvPr/>
        </p:nvSpPr>
        <p:spPr>
          <a:xfrm>
            <a:off x="548640" y="1316736"/>
            <a:ext cx="11064240" cy="918972"/>
          </a:xfrm>
          <a:prstGeom prst="roundRect">
            <a:avLst>
              <a:gd name="adj" fmla="val 4975"/>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marketplace</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Permission to approve a task</a:t>
            </a:r>
            <a:endParaRPr lang="en-US" sz="1050" dirty="0"/>
          </a:p>
        </p:txBody>
      </p:sp>
      <p:sp>
        <p:nvSpPr>
          <p:cNvPr id="12" name="Shape 10"/>
          <p:cNvSpPr/>
          <p:nvPr/>
        </p:nvSpPr>
        <p:spPr>
          <a:xfrm>
            <a:off x="548640" y="2436876"/>
            <a:ext cx="6400800" cy="2665476"/>
          </a:xfrm>
          <a:prstGeom prst="roundRect">
            <a:avLst>
              <a:gd name="adj" fmla="val 1715"/>
            </a:avLst>
          </a:prstGeom>
          <a:solidFill>
            <a:srgbClr val="15171B"/>
          </a:solidFill>
          <a:ln w="12700">
            <a:solidFill>
              <a:srgbClr val="15171B"/>
            </a:solidFill>
            <a:prstDash val="solid"/>
          </a:ln>
        </p:spPr>
      </p:sp>
      <p:sp>
        <p:nvSpPr>
          <p:cNvPr id="13" name="Text 11"/>
          <p:cNvSpPr/>
          <p:nvPr/>
        </p:nvSpPr>
        <p:spPr>
          <a:xfrm>
            <a:off x="859536" y="263804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4" name="Text 12"/>
          <p:cNvSpPr/>
          <p:nvPr/>
        </p:nvSpPr>
        <p:spPr>
          <a:xfrm>
            <a:off x="859536" y="30038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5" name="Text 13"/>
          <p:cNvSpPr/>
          <p:nvPr/>
        </p:nvSpPr>
        <p:spPr>
          <a:xfrm>
            <a:off x="1152144" y="30038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 Block and Remediate → Run.</a:t>
            </a:r>
            <a:endParaRPr lang="en-US" sz="1150" dirty="0"/>
          </a:p>
        </p:txBody>
      </p:sp>
      <p:sp>
        <p:nvSpPr>
          <p:cNvPr id="16" name="Text 14"/>
          <p:cNvSpPr/>
          <p:nvPr/>
        </p:nvSpPr>
        <p:spPr>
          <a:xfrm>
            <a:off x="859536" y="33329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7" name="Text 15"/>
          <p:cNvSpPr/>
          <p:nvPr/>
        </p:nvSpPr>
        <p:spPr>
          <a:xfrm>
            <a:off x="1152144" y="33329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8" name="Text 16"/>
          <p:cNvSpPr/>
          <p:nvPr/>
        </p:nvSpPr>
        <p:spPr>
          <a:xfrm>
            <a:off x="859536" y="36621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9" name="Text 17"/>
          <p:cNvSpPr/>
          <p:nvPr/>
        </p:nvSpPr>
        <p:spPr>
          <a:xfrm>
            <a:off x="1152144" y="36621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pending approval task and read it.</a:t>
            </a:r>
            <a:endParaRPr lang="en-US" sz="1150" dirty="0"/>
          </a:p>
        </p:txBody>
      </p:sp>
      <p:sp>
        <p:nvSpPr>
          <p:cNvPr id="20" name="Text 18"/>
          <p:cNvSpPr/>
          <p:nvPr/>
        </p:nvSpPr>
        <p:spPr>
          <a:xfrm>
            <a:off x="859536" y="39913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1" name="Text 19"/>
          <p:cNvSpPr/>
          <p:nvPr/>
        </p:nvSpPr>
        <p:spPr>
          <a:xfrm>
            <a:off x="1152144" y="39913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Approve, or leave it pending.</a:t>
            </a:r>
            <a:endParaRPr lang="en-US" sz="1150" dirty="0"/>
          </a:p>
        </p:txBody>
      </p:sp>
      <p:sp>
        <p:nvSpPr>
          <p:cNvPr id="22" name="Shape 20"/>
          <p:cNvSpPr/>
          <p:nvPr/>
        </p:nvSpPr>
        <p:spPr>
          <a:xfrm>
            <a:off x="7315200" y="2436876"/>
            <a:ext cx="4297680" cy="2665476"/>
          </a:xfrm>
          <a:prstGeom prst="roundRect">
            <a:avLst>
              <a:gd name="adj" fmla="val 1715"/>
            </a:avLst>
          </a:prstGeom>
          <a:solidFill>
            <a:srgbClr val="1C2026"/>
          </a:solidFill>
          <a:ln w="12700">
            <a:solidFill>
              <a:srgbClr val="1C2026"/>
            </a:solidFill>
            <a:prstDash val="solid"/>
          </a:ln>
        </p:spPr>
      </p:sp>
      <p:sp>
        <p:nvSpPr>
          <p:cNvPr id="23" name="Text 21"/>
          <p:cNvSpPr/>
          <p:nvPr/>
        </p:nvSpPr>
        <p:spPr>
          <a:xfrm>
            <a:off x="7626096" y="263804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30038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038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on an approval task and waits.</a:t>
            </a:r>
            <a:endParaRPr lang="en-US" sz="1150" dirty="0"/>
          </a:p>
        </p:txBody>
      </p:sp>
      <p:sp>
        <p:nvSpPr>
          <p:cNvPr id="26" name="Text 24"/>
          <p:cNvSpPr/>
          <p:nvPr/>
        </p:nvSpPr>
        <p:spPr>
          <a:xfrm>
            <a:off x="7626096" y="33329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3329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 and both governance counts.</a:t>
            </a:r>
            <a:endParaRPr lang="en-US" sz="1150" dirty="0"/>
          </a:p>
        </p:txBody>
      </p:sp>
      <p:sp>
        <p:nvSpPr>
          <p:cNvPr id="28" name="Text 26"/>
          <p:cNvSpPr/>
          <p:nvPr/>
        </p:nvSpPr>
        <p:spPr>
          <a:xfrm>
            <a:off x="7626096" y="3849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8496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Nothing reaches the blocklist until a human approves.</a:t>
            </a:r>
            <a:endParaRPr lang="en-US" sz="1150" dirty="0"/>
          </a:p>
        </p:txBody>
      </p:sp>
      <p:sp>
        <p:nvSpPr>
          <p:cNvPr id="30" name="Text 28"/>
          <p:cNvSpPr/>
          <p:nvPr/>
        </p:nvSpPr>
        <p:spPr>
          <a:xfrm>
            <a:off x="7626096" y="43662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3662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already blocked short-circuits instead of being added twice.</a:t>
            </a:r>
            <a:endParaRPr lang="en-US" sz="1150" dirty="0"/>
          </a:p>
        </p:txBody>
      </p:sp>
      <p:sp>
        <p:nvSpPr>
          <p:cNvPr id="32" name="Shape 30"/>
          <p:cNvSpPr/>
          <p:nvPr/>
        </p:nvSpPr>
        <p:spPr>
          <a:xfrm>
            <a:off x="548640" y="5248656"/>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431536"/>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4315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35838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is the test to repeat after any change to the response playbook. If a run ever completes without stopping for approval, stop and investigate before using the pack in production.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MCP server hunt</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 — the KOI integration answers</a:t>
            </a:r>
            <a:endParaRPr lang="en-US" sz="1050" dirty="0"/>
          </a:p>
        </p:txBody>
      </p:sp>
      <p:sp>
        <p:nvSpPr>
          <p:cNvPr id="8" name="Shape 6"/>
          <p:cNvSpPr/>
          <p:nvPr/>
        </p:nvSpPr>
        <p:spPr>
          <a:xfrm>
            <a:off x="548640" y="2007108"/>
            <a:ext cx="6400800" cy="2103120"/>
          </a:xfrm>
          <a:prstGeom prst="roundRect">
            <a:avLst>
              <a:gd name="adj" fmla="val 2174"/>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 MCP Server Audit → Run.</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set risk_levels (default high, critical).</a:t>
            </a:r>
            <a:endParaRPr lang="en-US" sz="11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table.</a:t>
            </a:r>
            <a:endParaRPr lang="en-US" sz="1150" dirty="0"/>
          </a:p>
        </p:txBody>
      </p:sp>
      <p:sp>
        <p:nvSpPr>
          <p:cNvPr id="16" name="Text 14"/>
          <p:cNvSpPr/>
          <p:nvPr/>
        </p:nvSpPr>
        <p:spPr>
          <a:xfrm>
            <a:off x="859536" y="35615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35615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To schedule it: Automation → Jobs → New Job, time-triggered.</a:t>
            </a:r>
            <a:endParaRPr lang="en-US" sz="1150" dirty="0"/>
          </a:p>
        </p:txBody>
      </p:sp>
      <p:sp>
        <p:nvSpPr>
          <p:cNvPr id="18" name="Shape 16"/>
          <p:cNvSpPr/>
          <p:nvPr/>
        </p:nvSpPr>
        <p:spPr>
          <a:xfrm>
            <a:off x="7315200" y="2007108"/>
            <a:ext cx="4297680" cy="2103120"/>
          </a:xfrm>
          <a:prstGeom prst="roundRect">
            <a:avLst>
              <a:gd name="adj" fmla="val 2174"/>
            </a:avLst>
          </a:prstGeom>
          <a:solidFill>
            <a:srgbClr val="1C2026"/>
          </a:solidFill>
          <a:ln w="12700">
            <a:solidFill>
              <a:srgbClr val="1C2026"/>
            </a:solidFill>
            <a:prstDash val="solid"/>
          </a:ln>
        </p:spPr>
      </p:sp>
      <p:sp>
        <p:nvSpPr>
          <p:cNvPr id="19" name="Text 17"/>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0" name="Text 18"/>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57403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table of MCP servers at or above the risk threshold.</a:t>
            </a:r>
            <a:endParaRPr lang="en-US" sz="1150" dirty="0"/>
          </a:p>
        </p:txBody>
      </p:sp>
      <p:sp>
        <p:nvSpPr>
          <p:cNvPr id="22" name="Text 20"/>
          <p:cNvSpPr/>
          <p:nvPr/>
        </p:nvSpPr>
        <p:spPr>
          <a:xfrm>
            <a:off x="7626096" y="30906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906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empty table is a valid result — it means nothing risky is installed.</a:t>
            </a:r>
            <a:endParaRPr lang="en-US" sz="1150" dirty="0"/>
          </a:p>
        </p:txBody>
      </p:sp>
      <p:sp>
        <p:nvSpPr>
          <p:cNvPr id="24" name="Shape 22"/>
          <p:cNvSpPr/>
          <p:nvPr/>
        </p:nvSpPr>
        <p:spPr>
          <a:xfrm>
            <a:off x="548640" y="4256532"/>
            <a:ext cx="11064240" cy="658368"/>
          </a:xfrm>
          <a:prstGeom prst="roundRect">
            <a:avLst>
              <a:gd name="adj" fmla="val 6944"/>
            </a:avLst>
          </a:prstGeom>
          <a:solidFill>
            <a:srgbClr val="1C2026"/>
          </a:solidFill>
          <a:ln w="12700">
            <a:solidFill>
              <a:srgbClr val="1C2026"/>
            </a:solidFill>
            <a:prstDash val="solid"/>
          </a:ln>
        </p:spPr>
      </p:sp>
      <p:sp>
        <p:nvSpPr>
          <p:cNvPr id="25" name="Shape 23"/>
          <p:cNvSpPr/>
          <p:nvPr/>
        </p:nvSpPr>
        <p:spPr>
          <a:xfrm>
            <a:off x="786384" y="443941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443941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436626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asks KOI what it has already scored. It finds risky agentic-AI assets without waiting for an alert about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refresh the tracker</a:t>
            </a:r>
            <a:endParaRPr lang="en-US" sz="3100" dirty="0"/>
          </a:p>
        </p:txBody>
      </p:sp>
      <p:sp>
        <p:nvSpPr>
          <p:cNvPr id="4" name="Shape 2"/>
          <p:cNvSpPr/>
          <p:nvPr/>
        </p:nvSpPr>
        <p:spPr>
          <a:xfrm>
            <a:off x="548640" y="1316736"/>
            <a:ext cx="11064240" cy="1133856"/>
          </a:xfrm>
          <a:prstGeom prst="roundRect">
            <a:avLst>
              <a:gd name="adj" fmla="val 4032"/>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Core REST API integration instance configured  ← the one people miss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script uploaded in Action Center → Scripts Library (it must take no parameters)</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endpoint group containing your agents</a:t>
            </a:r>
            <a:endParaRPr lang="en-US" sz="1050" dirty="0"/>
          </a:p>
        </p:txBody>
      </p:sp>
      <p:sp>
        <p:nvSpPr>
          <p:cNvPr id="12" name="Text 10"/>
          <p:cNvSpPr/>
          <p:nvPr/>
        </p:nvSpPr>
        <p:spPr>
          <a:xfrm>
            <a:off x="3749040" y="2061972"/>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3950208" y="2061972"/>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JSON List named exactly "Koi Script Runner"</a:t>
            </a:r>
            <a:endParaRPr lang="en-US" sz="1050" dirty="0"/>
          </a:p>
        </p:txBody>
      </p:sp>
      <p:sp>
        <p:nvSpPr>
          <p:cNvPr id="14" name="Shape 12"/>
          <p:cNvSpPr/>
          <p:nvPr/>
        </p:nvSpPr>
        <p:spPr>
          <a:xfrm>
            <a:off x="548640" y="2651760"/>
            <a:ext cx="6400800" cy="2665476"/>
          </a:xfrm>
          <a:prstGeom prst="roundRect">
            <a:avLst>
              <a:gd name="adj" fmla="val 1715"/>
            </a:avLst>
          </a:prstGeom>
          <a:solidFill>
            <a:srgbClr val="15171B"/>
          </a:solidFill>
          <a:ln w="12700">
            <a:solidFill>
              <a:srgbClr val="15171B"/>
            </a:solidFill>
            <a:prstDash val="solid"/>
          </a:ln>
        </p:spPr>
      </p:sp>
      <p:sp>
        <p:nvSpPr>
          <p:cNvPr id="15" name="Text 13"/>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6" name="Text 14"/>
          <p:cNvSpPr/>
          <p:nvPr/>
        </p:nvSpPr>
        <p:spPr>
          <a:xfrm>
            <a:off x="859536" y="32186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7" name="Text 15"/>
          <p:cNvSpPr/>
          <p:nvPr/>
        </p:nvSpPr>
        <p:spPr>
          <a:xfrm>
            <a:off x="1152144" y="321868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Object Setup → Lists → New List, type JSON, named Koi Script Runner.</a:t>
            </a:r>
            <a:endParaRPr lang="en-US" sz="1150" dirty="0"/>
          </a:p>
        </p:txBody>
      </p:sp>
      <p:sp>
        <p:nvSpPr>
          <p:cNvPr id="18" name="Text 16"/>
          <p:cNvSpPr/>
          <p:nvPr/>
        </p:nvSpPr>
        <p:spPr>
          <a:xfrm>
            <a:off x="859536" y="37353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9" name="Text 17"/>
          <p:cNvSpPr/>
          <p:nvPr/>
        </p:nvSpPr>
        <p:spPr>
          <a:xfrm>
            <a:off x="1152144" y="373532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Give each entry a script name, endpoint_os, endpoint group, tracker_list and rescan_interval_hours.</a:t>
            </a:r>
            <a:endParaRPr lang="en-US" sz="1150" dirty="0"/>
          </a:p>
        </p:txBody>
      </p:sp>
      <p:sp>
        <p:nvSpPr>
          <p:cNvPr id="20" name="Text 18"/>
          <p:cNvSpPr/>
          <p:nvPr/>
        </p:nvSpPr>
        <p:spPr>
          <a:xfrm>
            <a:off x="859536" y="42519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1" name="Text 19"/>
          <p:cNvSpPr/>
          <p:nvPr/>
        </p:nvSpPr>
        <p:spPr>
          <a:xfrm>
            <a:off x="1152144" y="425196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Unified - Refresh Tracker.</a:t>
            </a:r>
            <a:endParaRPr lang="en-US" sz="1150" dirty="0"/>
          </a:p>
        </p:txBody>
      </p:sp>
      <p:sp>
        <p:nvSpPr>
          <p:cNvPr id="22" name="Text 20"/>
          <p:cNvSpPr/>
          <p:nvPr/>
        </p:nvSpPr>
        <p:spPr>
          <a:xfrm>
            <a:off x="859536" y="47685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3" name="Text 21"/>
          <p:cNvSpPr/>
          <p:nvPr/>
        </p:nvSpPr>
        <p:spPr>
          <a:xfrm>
            <a:off x="1152144" y="47685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use Run now.</a:t>
            </a:r>
            <a:endParaRPr lang="en-US" sz="1150" dirty="0"/>
          </a:p>
        </p:txBody>
      </p:sp>
      <p:sp>
        <p:nvSpPr>
          <p:cNvPr id="24" name="Shape 22"/>
          <p:cNvSpPr/>
          <p:nvPr/>
        </p:nvSpPr>
        <p:spPr>
          <a:xfrm>
            <a:off x="7315200" y="2651760"/>
            <a:ext cx="4297680" cy="2665476"/>
          </a:xfrm>
          <a:prstGeom prst="roundRect">
            <a:avLst>
              <a:gd name="adj" fmla="val 1715"/>
            </a:avLst>
          </a:prstGeom>
          <a:solidFill>
            <a:srgbClr val="1C2026"/>
          </a:solidFill>
          <a:ln w="12700">
            <a:solidFill>
              <a:srgbClr val="1C2026"/>
            </a:solidFill>
            <a:prstDash val="solid"/>
          </a:ln>
        </p:spPr>
      </p:sp>
      <p:sp>
        <p:nvSpPr>
          <p:cNvPr id="25" name="Text 23"/>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32186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2186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tracker List appears under Lists, named as in your entry.</a:t>
            </a:r>
            <a:endParaRPr lang="en-US" sz="1150" dirty="0"/>
          </a:p>
        </p:txBody>
      </p:sp>
      <p:sp>
        <p:nvSpPr>
          <p:cNvPr id="28" name="Text 26"/>
          <p:cNvSpPr/>
          <p:nvPr/>
        </p:nvSpPr>
        <p:spPr>
          <a:xfrm>
            <a:off x="7626096" y="37353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7353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 fills with one row per endpoint: an id and a last-scan value.</a:t>
            </a:r>
            <a:endParaRPr lang="en-US" sz="1150" dirty="0"/>
          </a:p>
        </p:txBody>
      </p:sp>
      <p:sp>
        <p:nvSpPr>
          <p:cNvPr id="30" name="Text 28"/>
          <p:cNvSpPr/>
          <p:nvPr/>
        </p:nvSpPr>
        <p:spPr>
          <a:xfrm>
            <a:off x="7626096" y="42519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2519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Re-running adds new endpoints without disturbing existing rows.</a:t>
            </a:r>
            <a:endParaRPr lang="en-US" sz="1150" dirty="0"/>
          </a:p>
        </p:txBody>
      </p:sp>
      <p:sp>
        <p:nvSpPr>
          <p:cNvPr id="32" name="Shape 30"/>
          <p:cNvSpPr/>
          <p:nvPr/>
        </p:nvSpPr>
        <p:spPr>
          <a:xfrm>
            <a:off x="548640" y="5463540"/>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646420"/>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6464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57326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Without a Core REST API instance this test cannot pass — the refresh reads endpoint groups through it. The tracker simply stays empty, which looks like a broken playbook.</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scan due endpoints</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9 passing — the tracker List has rows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Connected agents in the group, matching the entry's endpoint_os</a:t>
            </a:r>
            <a:endParaRPr lang="en-US" sz="1050" dirty="0"/>
          </a:p>
        </p:txBody>
      </p:sp>
      <p:sp>
        <p:nvSpPr>
          <p:cNvPr id="10" name="Shape 8"/>
          <p:cNvSpPr/>
          <p:nvPr/>
        </p:nvSpPr>
        <p:spPr>
          <a:xfrm>
            <a:off x="548640" y="2221992"/>
            <a:ext cx="6400800" cy="2852928"/>
          </a:xfrm>
          <a:prstGeom prst="roundRect">
            <a:avLst>
              <a:gd name="adj" fmla="val 1603"/>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Unified - Script Runner.</a:t>
            </a:r>
            <a:endParaRPr lang="en-US" sz="1150" dirty="0"/>
          </a:p>
        </p:txBody>
      </p:sp>
      <p:sp>
        <p:nvSpPr>
          <p:cNvPr id="14" name="Text 12"/>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16" name="Text 14"/>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check Action Center.</a:t>
            </a:r>
            <a:endParaRPr lang="en-US" sz="1150" dirty="0"/>
          </a:p>
        </p:txBody>
      </p:sp>
      <p:sp>
        <p:nvSpPr>
          <p:cNvPr id="18" name="Text 16"/>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a second time immediately.</a:t>
            </a:r>
            <a:endParaRPr lang="en-US" sz="1150" dirty="0"/>
          </a:p>
        </p:txBody>
      </p:sp>
      <p:sp>
        <p:nvSpPr>
          <p:cNvPr id="20" name="Shape 18"/>
          <p:cNvSpPr/>
          <p:nvPr/>
        </p:nvSpPr>
        <p:spPr>
          <a:xfrm>
            <a:off x="7315200" y="2221992"/>
            <a:ext cx="4297680" cy="2852928"/>
          </a:xfrm>
          <a:prstGeom prst="roundRect">
            <a:avLst>
              <a:gd name="adj" fmla="val 1603"/>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script is dispatched to due, connected endpoints.</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Those endpoints get a last-scan timestamp in the tracker.</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Offline, wrong-OS and unknown endpoints stay due and retry later.</a:t>
            </a:r>
            <a:endParaRPr lang="en-US" sz="1150" dirty="0"/>
          </a:p>
        </p:txBody>
      </p:sp>
      <p:sp>
        <p:nvSpPr>
          <p:cNvPr id="28" name="Text 26"/>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second run does nothing — everything is inside the rescan interval.</a:t>
            </a:r>
            <a:endParaRPr lang="en-US" sz="1150" dirty="0"/>
          </a:p>
        </p:txBody>
      </p:sp>
      <p:sp>
        <p:nvSpPr>
          <p:cNvPr id="30" name="Shape 28"/>
          <p:cNvSpPr/>
          <p:nvPr/>
        </p:nvSpPr>
        <p:spPr>
          <a:xfrm>
            <a:off x="548640" y="5221224"/>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404104"/>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404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33095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SKIPPED means nothing is due right now and sends no email, by design. STILL RUNNING means the script was dispatched and Action Center is finishing on its own. Neither is a failure.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Threat-hunting query library</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Cortex XDR data for the cross-dataset hunts (optional)</a:t>
            </a:r>
            <a:endParaRPr lang="en-US" sz="1050" dirty="0"/>
          </a:p>
        </p:txBody>
      </p:sp>
      <p:sp>
        <p:nvSpPr>
          <p:cNvPr id="10" name="Shape 8"/>
          <p:cNvSpPr/>
          <p:nvPr/>
        </p:nvSpPr>
        <p:spPr>
          <a:xfrm>
            <a:off x="548640" y="2221992"/>
            <a:ext cx="6400800" cy="2148840"/>
          </a:xfrm>
          <a:prstGeom prst="roundRect">
            <a:avLst>
              <a:gd name="adj" fmla="val 2128"/>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docs/xql in the pack you were sent.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QUERY_LIBRARY.md first — it explains the rules.</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a hunt into Query Builder, starting with H2.1.</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Try a detection too, for example A1.</a:t>
            </a:r>
            <a:endParaRPr lang="en-US" sz="1150" dirty="0"/>
          </a:p>
        </p:txBody>
      </p:sp>
      <p:sp>
        <p:nvSpPr>
          <p:cNvPr id="20" name="Shape 18"/>
          <p:cNvSpPr/>
          <p:nvPr/>
        </p:nvSpPr>
        <p:spPr>
          <a:xfrm>
            <a:off x="7315200" y="2221992"/>
            <a:ext cx="4297680" cy="2148840"/>
          </a:xfrm>
          <a:prstGeom prst="roundRect">
            <a:avLst>
              <a:gd name="adj" fmla="val 2128"/>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query runs and returns rows, or a clean empty result.</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Hunts surface findings KOI scored that nobody actioned.</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26 hunts and 46 detections are included.</a:t>
            </a:r>
            <a:endParaRPr lang="en-US" sz="1150" dirty="0"/>
          </a:p>
        </p:txBody>
      </p:sp>
      <p:sp>
        <p:nvSpPr>
          <p:cNvPr id="28" name="Shape 26"/>
          <p:cNvSpPr/>
          <p:nvPr/>
        </p:nvSpPr>
        <p:spPr>
          <a:xfrm>
            <a:off x="548640" y="4517136"/>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700016"/>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70001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62686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These read raw event fields, so they keep working regardless of the modeling rule. An empty result is a valid answer, not a failure.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Simulated test data</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KoiSimulateEvents automation imported (ships in TestTools)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No KOI API key and no Core REST API needed</a:t>
            </a:r>
            <a:endParaRPr lang="en-US" sz="1050" dirty="0"/>
          </a:p>
        </p:txBody>
      </p:sp>
      <p:sp>
        <p:nvSpPr>
          <p:cNvPr id="10" name="Shape 8"/>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on any incident.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!KoiSimulateEvents alerts=40 duplicate_factor=8 audit=60</a:t>
            </a:r>
            <a:endParaRPr lang="en-US" sz="10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summary it prints — it tells you the answers in advance.</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Query koisim_koisim_raw to check them.</a:t>
            </a:r>
            <a:endParaRPr lang="en-US" sz="1150" dirty="0"/>
          </a:p>
        </p:txBody>
      </p:sp>
      <p:sp>
        <p:nvSpPr>
          <p:cNvPr id="22" name="Shape 20"/>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3" name="Text 21"/>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380 events land in koisim_koisim_raw.</a:t>
            </a:r>
            <a:endParaRPr lang="en-US" sz="1150" dirty="0"/>
          </a:p>
        </p:txBody>
      </p:sp>
      <p:sp>
        <p:nvSpPr>
          <p:cNvPr id="26" name="Text 24"/>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1181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40 distinct alerts delivered 8 times each, as real KOI does.</a:t>
            </a:r>
            <a:endParaRPr lang="en-US" sz="1150" dirty="0"/>
          </a:p>
        </p:txBody>
      </p:sp>
      <p:sp>
        <p:nvSpPr>
          <p:cNvPr id="28" name="Text 26"/>
          <p:cNvSpPr/>
          <p:nvPr/>
        </p:nvSpPr>
        <p:spPr>
          <a:xfrm>
            <a:off x="7626096" y="36347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6347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counts you measure match the summary exactly.</a:t>
            </a:r>
            <a:endParaRPr lang="en-US" sz="1150" dirty="0"/>
          </a:p>
        </p:txBody>
      </p:sp>
      <p:sp>
        <p:nvSpPr>
          <p:cNvPr id="30" name="Shape 28"/>
          <p:cNvSpPr/>
          <p:nvPr/>
        </p:nvSpPr>
        <p:spPr>
          <a:xfrm>
            <a:off x="548640" y="4800600"/>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4983480"/>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49834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49103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 writes to its own dataset, never koi_koi_raw, so it cannot disturb real data. Use it to see the pack working before real KOI activity exists.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Check the prerequisite before the product</a:t>
            </a:r>
            <a:endParaRPr lang="en-US" sz="3100" dirty="0"/>
          </a:p>
        </p:txBody>
      </p:sp>
      <p:sp>
        <p:nvSpPr>
          <p:cNvPr id="4" name="Shape 2"/>
          <p:cNvSpPr/>
          <p:nvPr/>
        </p:nvSpPr>
        <p:spPr>
          <a:xfrm>
            <a:off x="548640" y="1371600"/>
            <a:ext cx="11064240" cy="457200"/>
          </a:xfrm>
          <a:prstGeom prst="roundRect">
            <a:avLst>
              <a:gd name="adj" fmla="val 10000"/>
            </a:avLst>
          </a:prstGeom>
          <a:solidFill>
            <a:srgbClr val="15171B"/>
          </a:solidFill>
          <a:ln w="12700">
            <a:solidFill>
              <a:srgbClr val="15171B"/>
            </a:solidFill>
            <a:prstDash val="solid"/>
          </a:ln>
        </p:spPr>
      </p:sp>
      <p:sp>
        <p:nvSpPr>
          <p:cNvPr id="5" name="Text 3"/>
          <p:cNvSpPr/>
          <p:nvPr/>
        </p:nvSpPr>
        <p:spPr>
          <a:xfrm>
            <a:off x="822960" y="149961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403 on KOI commands</a:t>
            </a:r>
            <a:endParaRPr lang="en-US" sz="1100" dirty="0"/>
          </a:p>
        </p:txBody>
      </p:sp>
      <p:sp>
        <p:nvSpPr>
          <p:cNvPr id="6" name="Text 4"/>
          <p:cNvSpPr/>
          <p:nvPr/>
        </p:nvSpPr>
        <p:spPr>
          <a:xfrm>
            <a:off x="4023360" y="150876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Source IP not accepted by KOI</a:t>
            </a:r>
            <a:endParaRPr lang="en-US" sz="1000" dirty="0"/>
          </a:p>
        </p:txBody>
      </p:sp>
      <p:sp>
        <p:nvSpPr>
          <p:cNvPr id="7" name="Text 5"/>
          <p:cNvSpPr/>
          <p:nvPr/>
        </p:nvSpPr>
        <p:spPr>
          <a:xfrm>
            <a:off x="7315200" y="150876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KOI accepts</a:t>
            </a:r>
            <a:endParaRPr lang="en-US" sz="1000" dirty="0"/>
          </a:p>
        </p:txBody>
      </p:sp>
      <p:sp>
        <p:nvSpPr>
          <p:cNvPr id="8" name="Shape 6"/>
          <p:cNvSpPr/>
          <p:nvPr/>
        </p:nvSpPr>
        <p:spPr>
          <a:xfrm>
            <a:off x="548640" y="19293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05740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401 on KOI commands</a:t>
            </a:r>
            <a:endParaRPr lang="en-US" sz="1100" dirty="0"/>
          </a:p>
        </p:txBody>
      </p:sp>
      <p:sp>
        <p:nvSpPr>
          <p:cNvPr id="10" name="Text 8"/>
          <p:cNvSpPr/>
          <p:nvPr/>
        </p:nvSpPr>
        <p:spPr>
          <a:xfrm>
            <a:off x="4023360" y="206654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API key itself</a:t>
            </a:r>
            <a:endParaRPr lang="en-US" sz="1000" dirty="0"/>
          </a:p>
        </p:txBody>
      </p:sp>
      <p:sp>
        <p:nvSpPr>
          <p:cNvPr id="11" name="Text 9"/>
          <p:cNvSpPr/>
          <p:nvPr/>
        </p:nvSpPr>
        <p:spPr>
          <a:xfrm>
            <a:off x="7315200" y="206654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Re-create the key with the xt-Administrator role</a:t>
            </a:r>
            <a:endParaRPr lang="en-US" sz="1000" dirty="0"/>
          </a:p>
        </p:txBody>
      </p:sp>
      <p:sp>
        <p:nvSpPr>
          <p:cNvPr id="12" name="Shape 10"/>
          <p:cNvSpPr/>
          <p:nvPr/>
        </p:nvSpPr>
        <p:spPr>
          <a:xfrm>
            <a:off x="548640" y="2487168"/>
            <a:ext cx="11064240" cy="457200"/>
          </a:xfrm>
          <a:prstGeom prst="roundRect">
            <a:avLst>
              <a:gd name="adj" fmla="val 10000"/>
            </a:avLst>
          </a:prstGeom>
          <a:solidFill>
            <a:srgbClr val="15171B"/>
          </a:solidFill>
          <a:ln w="12700">
            <a:solidFill>
              <a:srgbClr val="15171B"/>
            </a:solidFill>
            <a:prstDash val="solid"/>
          </a:ln>
        </p:spPr>
      </p:sp>
      <p:sp>
        <p:nvSpPr>
          <p:cNvPr id="13" name="Text 11"/>
          <p:cNvSpPr/>
          <p:nvPr/>
        </p:nvSpPr>
        <p:spPr>
          <a:xfrm>
            <a:off x="822960" y="261518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Engine is not connected</a:t>
            </a:r>
            <a:endParaRPr lang="en-US" sz="1100" dirty="0"/>
          </a:p>
        </p:txBody>
      </p:sp>
      <p:sp>
        <p:nvSpPr>
          <p:cNvPr id="14" name="Text 12"/>
          <p:cNvSpPr/>
          <p:nvPr/>
        </p:nvSpPr>
        <p:spPr>
          <a:xfrm>
            <a:off x="4023360" y="262432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Cortex engine is offline</a:t>
            </a:r>
            <a:endParaRPr lang="en-US" sz="1000" dirty="0"/>
          </a:p>
        </p:txBody>
      </p:sp>
      <p:sp>
        <p:nvSpPr>
          <p:cNvPr id="15" name="Text 13"/>
          <p:cNvSpPr/>
          <p:nvPr/>
        </p:nvSpPr>
        <p:spPr>
          <a:xfrm>
            <a:off x="7315200" y="262432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Every koi- command fails before reaching KOI. Restart the engine</a:t>
            </a:r>
            <a:endParaRPr lang="en-US" sz="1000" dirty="0"/>
          </a:p>
        </p:txBody>
      </p:sp>
      <p:sp>
        <p:nvSpPr>
          <p:cNvPr id="16" name="Shape 14"/>
          <p:cNvSpPr/>
          <p:nvPr/>
        </p:nvSpPr>
        <p:spPr>
          <a:xfrm>
            <a:off x="548640" y="3044952"/>
            <a:ext cx="11064240" cy="457200"/>
          </a:xfrm>
          <a:prstGeom prst="roundRect">
            <a:avLst>
              <a:gd name="adj" fmla="val 10000"/>
            </a:avLst>
          </a:prstGeom>
          <a:solidFill>
            <a:srgbClr val="15171B"/>
          </a:solidFill>
          <a:ln w="12700">
            <a:solidFill>
              <a:srgbClr val="15171B"/>
            </a:solidFill>
            <a:prstDash val="solid"/>
          </a:ln>
        </p:spPr>
      </p:sp>
      <p:sp>
        <p:nvSpPr>
          <p:cNvPr id="17" name="Text 15"/>
          <p:cNvSpPr/>
          <p:nvPr/>
        </p:nvSpPr>
        <p:spPr>
          <a:xfrm>
            <a:off x="822960" y="3172968"/>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No events after enabling fetch</a:t>
            </a:r>
            <a:endParaRPr lang="en-US" sz="1100" dirty="0"/>
          </a:p>
        </p:txBody>
      </p:sp>
      <p:sp>
        <p:nvSpPr>
          <p:cNvPr id="18" name="Text 16"/>
          <p:cNvSpPr/>
          <p:nvPr/>
        </p:nvSpPr>
        <p:spPr>
          <a:xfrm>
            <a:off x="4023360" y="3182112"/>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Only one cycle has run</a:t>
            </a:r>
            <a:endParaRPr lang="en-US" sz="1000" dirty="0"/>
          </a:p>
        </p:txBody>
      </p:sp>
      <p:sp>
        <p:nvSpPr>
          <p:cNvPr id="19" name="Text 17"/>
          <p:cNvSpPr/>
          <p:nvPr/>
        </p:nvSpPr>
        <p:spPr>
          <a:xfrm>
            <a:off x="7315200" y="3182112"/>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Wait two cycles, then re-check Test 2</a:t>
            </a:r>
            <a:endParaRPr lang="en-US" sz="1000" dirty="0"/>
          </a:p>
        </p:txBody>
      </p:sp>
      <p:sp>
        <p:nvSpPr>
          <p:cNvPr id="20" name="Shape 18"/>
          <p:cNvSpPr/>
          <p:nvPr/>
        </p:nvSpPr>
        <p:spPr>
          <a:xfrm>
            <a:off x="548640" y="3602736"/>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3730752"/>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Everything triages as Suspicious</a:t>
            </a:r>
            <a:endParaRPr lang="en-US" sz="1100" dirty="0"/>
          </a:p>
        </p:txBody>
      </p:sp>
      <p:sp>
        <p:nvSpPr>
          <p:cNvPr id="22" name="Text 20"/>
          <p:cNvSpPr/>
          <p:nvPr/>
        </p:nvSpPr>
        <p:spPr>
          <a:xfrm>
            <a:off x="4023360" y="3739896"/>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alert carried no KOI detail</a:t>
            </a:r>
            <a:endParaRPr lang="en-US" sz="1000" dirty="0"/>
          </a:p>
        </p:txBody>
      </p:sp>
      <p:sp>
        <p:nvSpPr>
          <p:cNvPr id="23" name="Text 21"/>
          <p:cNvSpPr/>
          <p:nvPr/>
        </p:nvSpPr>
        <p:spPr>
          <a:xfrm>
            <a:off x="7315200" y="3739896"/>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Check the correlation rule passes KOI fields through</a:t>
            </a:r>
            <a:endParaRPr lang="en-US" sz="1000" dirty="0"/>
          </a:p>
        </p:txBody>
      </p:sp>
      <p:sp>
        <p:nvSpPr>
          <p:cNvPr id="24" name="Shape 22"/>
          <p:cNvSpPr/>
          <p:nvPr/>
        </p:nvSpPr>
        <p:spPr>
          <a:xfrm>
            <a:off x="548640" y="4160520"/>
            <a:ext cx="11064240" cy="457200"/>
          </a:xfrm>
          <a:prstGeom prst="roundRect">
            <a:avLst>
              <a:gd name="adj" fmla="val 10000"/>
            </a:avLst>
          </a:prstGeom>
          <a:solidFill>
            <a:srgbClr val="15171B"/>
          </a:solidFill>
          <a:ln w="12700">
            <a:solidFill>
              <a:srgbClr val="15171B"/>
            </a:solidFill>
            <a:prstDash val="solid"/>
          </a:ln>
        </p:spPr>
      </p:sp>
      <p:sp>
        <p:nvSpPr>
          <p:cNvPr id="25" name="Text 23"/>
          <p:cNvSpPr/>
          <p:nvPr/>
        </p:nvSpPr>
        <p:spPr>
          <a:xfrm>
            <a:off x="822960" y="428853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Tracker List stays empty</a:t>
            </a:r>
            <a:endParaRPr lang="en-US" sz="1100" dirty="0"/>
          </a:p>
        </p:txBody>
      </p:sp>
      <p:sp>
        <p:nvSpPr>
          <p:cNvPr id="26" name="Text 24"/>
          <p:cNvSpPr/>
          <p:nvPr/>
        </p:nvSpPr>
        <p:spPr>
          <a:xfrm>
            <a:off x="4023360" y="429768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No Core REST API instance</a:t>
            </a:r>
            <a:endParaRPr lang="en-US" sz="1000" dirty="0"/>
          </a:p>
        </p:txBody>
      </p:sp>
      <p:sp>
        <p:nvSpPr>
          <p:cNvPr id="27" name="Text 25"/>
          <p:cNvSpPr/>
          <p:nvPr/>
        </p:nvSpPr>
        <p:spPr>
          <a:xfrm>
            <a:off x="7315200" y="429768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Configure it — Test 9 cannot pass without it</a:t>
            </a:r>
            <a:endParaRPr lang="en-US" sz="1000" dirty="0"/>
          </a:p>
        </p:txBody>
      </p:sp>
      <p:sp>
        <p:nvSpPr>
          <p:cNvPr id="28" name="Shape 26"/>
          <p:cNvSpPr/>
          <p:nvPr/>
        </p:nvSpPr>
        <p:spPr>
          <a:xfrm>
            <a:off x="548640" y="4718304"/>
            <a:ext cx="11064240" cy="457200"/>
          </a:xfrm>
          <a:prstGeom prst="roundRect">
            <a:avLst>
              <a:gd name="adj" fmla="val 10000"/>
            </a:avLst>
          </a:prstGeom>
          <a:solidFill>
            <a:srgbClr val="15171B"/>
          </a:solidFill>
          <a:ln w="12700">
            <a:solidFill>
              <a:srgbClr val="15171B"/>
            </a:solidFill>
            <a:prstDash val="solid"/>
          </a:ln>
        </p:spPr>
      </p:sp>
      <p:sp>
        <p:nvSpPr>
          <p:cNvPr id="29" name="Text 27"/>
          <p:cNvSpPr/>
          <p:nvPr/>
        </p:nvSpPr>
        <p:spPr>
          <a:xfrm>
            <a:off x="822960" y="484632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Scan run does nothing</a:t>
            </a:r>
            <a:endParaRPr lang="en-US" sz="1100" dirty="0"/>
          </a:p>
        </p:txBody>
      </p:sp>
      <p:sp>
        <p:nvSpPr>
          <p:cNvPr id="30" name="Text 28"/>
          <p:cNvSpPr/>
          <p:nvPr/>
        </p:nvSpPr>
        <p:spPr>
          <a:xfrm>
            <a:off x="4023360" y="485546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Refresh has not run yet</a:t>
            </a:r>
            <a:endParaRPr lang="en-US" sz="1000" dirty="0"/>
          </a:p>
        </p:txBody>
      </p:sp>
      <p:sp>
        <p:nvSpPr>
          <p:cNvPr id="31" name="Text 29"/>
          <p:cNvSpPr/>
          <p:nvPr/>
        </p:nvSpPr>
        <p:spPr>
          <a:xfrm>
            <a:off x="7315200" y="485546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Refresh job first; an empty tracker means nothing is due</a:t>
            </a:r>
            <a:endParaRPr lang="en-US" sz="1000" dirty="0"/>
          </a:p>
        </p:txBody>
      </p:sp>
      <p:sp>
        <p:nvSpPr>
          <p:cNvPr id="32" name="Shape 30"/>
          <p:cNvSpPr/>
          <p:nvPr/>
        </p:nvSpPr>
        <p:spPr>
          <a:xfrm>
            <a:off x="548640" y="5276088"/>
            <a:ext cx="11064240" cy="457200"/>
          </a:xfrm>
          <a:prstGeom prst="roundRect">
            <a:avLst>
              <a:gd name="adj" fmla="val 10000"/>
            </a:avLst>
          </a:prstGeom>
          <a:solidFill>
            <a:srgbClr val="15171B"/>
          </a:solidFill>
          <a:ln w="12700">
            <a:solidFill>
              <a:srgbClr val="15171B"/>
            </a:solidFill>
            <a:prstDash val="solid"/>
          </a:ln>
        </p:spPr>
      </p:sp>
      <p:sp>
        <p:nvSpPr>
          <p:cNvPr id="33" name="Text 31"/>
          <p:cNvSpPr/>
          <p:nvPr/>
        </p:nvSpPr>
        <p:spPr>
          <a:xfrm>
            <a:off x="822960" y="540410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 Job never fires</a:t>
            </a:r>
            <a:endParaRPr lang="en-US" sz="1100" dirty="0"/>
          </a:p>
        </p:txBody>
      </p:sp>
      <p:sp>
        <p:nvSpPr>
          <p:cNvPr id="34" name="Text 32"/>
          <p:cNvSpPr/>
          <p:nvPr/>
        </p:nvSpPr>
        <p:spPr>
          <a:xfrm>
            <a:off x="4023360" y="541324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It was created disabled</a:t>
            </a:r>
            <a:endParaRPr lang="en-US" sz="1000" dirty="0"/>
          </a:p>
        </p:txBody>
      </p:sp>
      <p:sp>
        <p:nvSpPr>
          <p:cNvPr id="35" name="Text 33"/>
          <p:cNvSpPr/>
          <p:nvPr/>
        </p:nvSpPr>
        <p:spPr>
          <a:xfrm>
            <a:off x="7315200" y="541324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Enable it and confirm a next-run time is shown</a:t>
            </a:r>
            <a:endParaRPr lang="en-US" sz="1000" dirty="0"/>
          </a:p>
        </p:txBody>
      </p:sp>
      <p:sp>
        <p:nvSpPr>
          <p:cNvPr id="36" name="Text 34"/>
          <p:cNvSpPr/>
          <p:nvPr/>
        </p:nvSpPr>
        <p:spPr>
          <a:xfrm>
            <a:off x="548640" y="592531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Six of these eight are tenant setup, not the pack. Check the amber panel on the test before raising a defect.</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417320"/>
            <a:ext cx="5349240" cy="548640"/>
          </a:xfrm>
          <a:prstGeom prst="roundRect">
            <a:avLst>
              <a:gd name="adj" fmla="val 8333"/>
            </a:avLst>
          </a:prstGeom>
          <a:solidFill>
            <a:srgbClr val="15171B"/>
          </a:solidFill>
          <a:ln w="12700">
            <a:solidFill>
              <a:srgbClr val="15171B"/>
            </a:solidFill>
            <a:prstDash val="solid"/>
          </a:ln>
        </p:spPr>
      </p:sp>
      <p:sp>
        <p:nvSpPr>
          <p:cNvPr id="6" name="Shape 4"/>
          <p:cNvSpPr/>
          <p:nvPr/>
        </p:nvSpPr>
        <p:spPr>
          <a:xfrm>
            <a:off x="749808" y="1536192"/>
            <a:ext cx="310896" cy="310896"/>
          </a:xfrm>
          <a:prstGeom prst="roundRect">
            <a:avLst>
              <a:gd name="adj" fmla="val 26471"/>
            </a:avLst>
          </a:prstGeom>
          <a:solidFill>
            <a:srgbClr val="3FB950"/>
          </a:solidFill>
          <a:ln w="12700">
            <a:solidFill>
              <a:srgbClr val="3FB950"/>
            </a:solidFill>
            <a:prstDash val="solid"/>
          </a:ln>
        </p:spPr>
      </p:sp>
      <p:sp>
        <p:nvSpPr>
          <p:cNvPr id="7" name="Text 5"/>
          <p:cNvSpPr/>
          <p:nvPr/>
        </p:nvSpPr>
        <p:spPr>
          <a:xfrm>
            <a:off x="749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25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Test returns Success; devices list returns rows</a:t>
            </a:r>
            <a:endParaRPr lang="en-US" sz="1050" dirty="0"/>
          </a:p>
        </p:txBody>
      </p:sp>
      <p:sp>
        <p:nvSpPr>
          <p:cNvPr id="9" name="Shape 7"/>
          <p:cNvSpPr/>
          <p:nvPr/>
        </p:nvSpPr>
        <p:spPr>
          <a:xfrm>
            <a:off x="548640" y="2075688"/>
            <a:ext cx="5349240" cy="548640"/>
          </a:xfrm>
          <a:prstGeom prst="roundRect">
            <a:avLst>
              <a:gd name="adj" fmla="val 8333"/>
            </a:avLst>
          </a:prstGeom>
          <a:solidFill>
            <a:srgbClr val="15171B"/>
          </a:solidFill>
          <a:ln w="12700">
            <a:solidFill>
              <a:srgbClr val="15171B"/>
            </a:solidFill>
            <a:prstDash val="solid"/>
          </a:ln>
        </p:spPr>
      </p:sp>
      <p:sp>
        <p:nvSpPr>
          <p:cNvPr id="10" name="Shape 8"/>
          <p:cNvSpPr/>
          <p:nvPr/>
        </p:nvSpPr>
        <p:spPr>
          <a:xfrm>
            <a:off x="749808" y="2194560"/>
            <a:ext cx="310896" cy="310896"/>
          </a:xfrm>
          <a:prstGeom prst="roundRect">
            <a:avLst>
              <a:gd name="adj" fmla="val 26471"/>
            </a:avLst>
          </a:prstGeom>
          <a:solidFill>
            <a:srgbClr val="3FB950"/>
          </a:solidFill>
          <a:ln w="12700">
            <a:solidFill>
              <a:srgbClr val="3FB950"/>
            </a:solidFill>
            <a:prstDash val="solid"/>
          </a:ln>
        </p:spPr>
      </p:sp>
      <p:sp>
        <p:nvSpPr>
          <p:cNvPr id="11" name="Text 9"/>
          <p:cNvSpPr/>
          <p:nvPr/>
        </p:nvSpPr>
        <p:spPr>
          <a:xfrm>
            <a:off x="749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25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koi_koi_raw grows between collection cycles</a:t>
            </a:r>
            <a:endParaRPr lang="en-US" sz="1050" dirty="0"/>
          </a:p>
        </p:txBody>
      </p:sp>
      <p:sp>
        <p:nvSpPr>
          <p:cNvPr id="13" name="Shape 11"/>
          <p:cNvSpPr/>
          <p:nvPr/>
        </p:nvSpPr>
        <p:spPr>
          <a:xfrm>
            <a:off x="548640" y="2734056"/>
            <a:ext cx="5349240" cy="548640"/>
          </a:xfrm>
          <a:prstGeom prst="roundRect">
            <a:avLst>
              <a:gd name="adj" fmla="val 8333"/>
            </a:avLst>
          </a:prstGeom>
          <a:solidFill>
            <a:srgbClr val="15171B"/>
          </a:solidFill>
          <a:ln w="12700">
            <a:solidFill>
              <a:srgbClr val="15171B"/>
            </a:solidFill>
            <a:prstDash val="solid"/>
          </a:ln>
        </p:spPr>
      </p:sp>
      <p:sp>
        <p:nvSpPr>
          <p:cNvPr id="14" name="Shape 12"/>
          <p:cNvSpPr/>
          <p:nvPr/>
        </p:nvSpPr>
        <p:spPr>
          <a:xfrm>
            <a:off x="749808" y="2852928"/>
            <a:ext cx="310896" cy="310896"/>
          </a:xfrm>
          <a:prstGeom prst="roundRect">
            <a:avLst>
              <a:gd name="adj" fmla="val 26471"/>
            </a:avLst>
          </a:prstGeom>
          <a:solidFill>
            <a:srgbClr val="3FB950"/>
          </a:solidFill>
          <a:ln w="12700">
            <a:solidFill>
              <a:srgbClr val="3FB950"/>
            </a:solidFill>
            <a:prstDash val="solid"/>
          </a:ln>
        </p:spPr>
      </p:sp>
      <p:sp>
        <p:nvSpPr>
          <p:cNvPr id="15" name="Text 13"/>
          <p:cNvSpPr/>
          <p:nvPr/>
        </p:nvSpPr>
        <p:spPr>
          <a:xfrm>
            <a:off x="749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25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Distinct alerts far below raw rows — and that is correct</a:t>
            </a:r>
            <a:endParaRPr lang="en-US" sz="1050" dirty="0"/>
          </a:p>
        </p:txBody>
      </p:sp>
      <p:sp>
        <p:nvSpPr>
          <p:cNvPr id="17" name="Shape 15"/>
          <p:cNvSpPr/>
          <p:nvPr/>
        </p:nvSpPr>
        <p:spPr>
          <a:xfrm>
            <a:off x="548640" y="3392424"/>
            <a:ext cx="5349240" cy="548640"/>
          </a:xfrm>
          <a:prstGeom prst="roundRect">
            <a:avLst>
              <a:gd name="adj" fmla="val 8333"/>
            </a:avLst>
          </a:prstGeom>
          <a:solidFill>
            <a:srgbClr val="15171B"/>
          </a:solidFill>
          <a:ln w="12700">
            <a:solidFill>
              <a:srgbClr val="15171B"/>
            </a:solidFill>
            <a:prstDash val="solid"/>
          </a:ln>
        </p:spPr>
      </p:sp>
      <p:sp>
        <p:nvSpPr>
          <p:cNvPr id="18" name="Shape 16"/>
          <p:cNvSpPr/>
          <p:nvPr/>
        </p:nvSpPr>
        <p:spPr>
          <a:xfrm>
            <a:off x="749808" y="3511296"/>
            <a:ext cx="310896" cy="310896"/>
          </a:xfrm>
          <a:prstGeom prst="roundRect">
            <a:avLst>
              <a:gd name="adj" fmla="val 26471"/>
            </a:avLst>
          </a:prstGeom>
          <a:solidFill>
            <a:srgbClr val="3FB950"/>
          </a:solidFill>
          <a:ln w="12700">
            <a:solidFill>
              <a:srgbClr val="3FB950"/>
            </a:solidFill>
            <a:prstDash val="solid"/>
          </a:ln>
        </p:spPr>
      </p:sp>
      <p:sp>
        <p:nvSpPr>
          <p:cNvPr id="19" name="Text 17"/>
          <p:cNvSpPr/>
          <p:nvPr/>
        </p:nvSpPr>
        <p:spPr>
          <a:xfrm>
            <a:off x="749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25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Dashboard renders; counts stay stable across fetches</a:t>
            </a:r>
            <a:endParaRPr lang="en-US" sz="1050" dirty="0"/>
          </a:p>
        </p:txBody>
      </p:sp>
      <p:sp>
        <p:nvSpPr>
          <p:cNvPr id="21" name="Shape 19"/>
          <p:cNvSpPr/>
          <p:nvPr/>
        </p:nvSpPr>
        <p:spPr>
          <a:xfrm>
            <a:off x="548640" y="4050792"/>
            <a:ext cx="5349240" cy="548640"/>
          </a:xfrm>
          <a:prstGeom prst="roundRect">
            <a:avLst>
              <a:gd name="adj" fmla="val 8333"/>
            </a:avLst>
          </a:prstGeom>
          <a:solidFill>
            <a:srgbClr val="15171B"/>
          </a:solidFill>
          <a:ln w="12700">
            <a:solidFill>
              <a:srgbClr val="15171B"/>
            </a:solidFill>
            <a:prstDash val="solid"/>
          </a:ln>
        </p:spPr>
      </p:sp>
      <p:sp>
        <p:nvSpPr>
          <p:cNvPr id="22" name="Shape 20"/>
          <p:cNvSpPr/>
          <p:nvPr/>
        </p:nvSpPr>
        <p:spPr>
          <a:xfrm>
            <a:off x="749808" y="4169664"/>
            <a:ext cx="310896" cy="310896"/>
          </a:xfrm>
          <a:prstGeom prst="roundRect">
            <a:avLst>
              <a:gd name="adj" fmla="val 26471"/>
            </a:avLst>
          </a:prstGeom>
          <a:solidFill>
            <a:srgbClr val="3FB950"/>
          </a:solidFill>
          <a:ln w="12700">
            <a:solidFill>
              <a:srgbClr val="3FB950"/>
            </a:solidFill>
            <a:prstDash val="solid"/>
          </a:ln>
        </p:spPr>
      </p:sp>
      <p:sp>
        <p:nvSpPr>
          <p:cNvPr id="23" name="Text 21"/>
          <p:cNvSpPr/>
          <p:nvPr/>
        </p:nvSpPr>
        <p:spPr>
          <a:xfrm>
            <a:off x="749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25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 verdict is reached; low risk auto-closes</a:t>
            </a:r>
            <a:endParaRPr lang="en-US" sz="1050" dirty="0"/>
          </a:p>
        </p:txBody>
      </p:sp>
      <p:sp>
        <p:nvSpPr>
          <p:cNvPr id="25" name="Shape 23"/>
          <p:cNvSpPr/>
          <p:nvPr/>
        </p:nvSpPr>
        <p:spPr>
          <a:xfrm>
            <a:off x="548640" y="4709160"/>
            <a:ext cx="5349240" cy="548640"/>
          </a:xfrm>
          <a:prstGeom prst="roundRect">
            <a:avLst>
              <a:gd name="adj" fmla="val 8333"/>
            </a:avLst>
          </a:prstGeom>
          <a:solidFill>
            <a:srgbClr val="15171B"/>
          </a:solidFill>
          <a:ln w="12700">
            <a:solidFill>
              <a:srgbClr val="15171B"/>
            </a:solidFill>
            <a:prstDash val="solid"/>
          </a:ln>
        </p:spPr>
      </p:sp>
      <p:sp>
        <p:nvSpPr>
          <p:cNvPr id="26" name="Shape 24"/>
          <p:cNvSpPr/>
          <p:nvPr/>
        </p:nvSpPr>
        <p:spPr>
          <a:xfrm>
            <a:off x="749808" y="4828032"/>
            <a:ext cx="310896" cy="310896"/>
          </a:xfrm>
          <a:prstGeom prst="roundRect">
            <a:avLst>
              <a:gd name="adj" fmla="val 26471"/>
            </a:avLst>
          </a:prstGeom>
          <a:solidFill>
            <a:srgbClr val="3FB950"/>
          </a:solidFill>
          <a:ln w="12700">
            <a:solidFill>
              <a:srgbClr val="3FB950"/>
            </a:solidFill>
            <a:prstDash val="solid"/>
          </a:ln>
        </p:spPr>
      </p:sp>
      <p:sp>
        <p:nvSpPr>
          <p:cNvPr id="27" name="Text 25"/>
          <p:cNvSpPr/>
          <p:nvPr/>
        </p:nvSpPr>
        <p:spPr>
          <a:xfrm>
            <a:off x="749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1225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Investigation shows catalog risk and both governance counts</a:t>
            </a:r>
            <a:endParaRPr lang="en-US" sz="1050" dirty="0"/>
          </a:p>
        </p:txBody>
      </p:sp>
      <p:sp>
        <p:nvSpPr>
          <p:cNvPr id="29" name="Shape 27"/>
          <p:cNvSpPr/>
          <p:nvPr/>
        </p:nvSpPr>
        <p:spPr>
          <a:xfrm>
            <a:off x="6263640" y="1417320"/>
            <a:ext cx="5349240" cy="548640"/>
          </a:xfrm>
          <a:prstGeom prst="roundRect">
            <a:avLst>
              <a:gd name="adj" fmla="val 8333"/>
            </a:avLst>
          </a:prstGeom>
          <a:solidFill>
            <a:srgbClr val="15171B"/>
          </a:solidFill>
          <a:ln w="12700">
            <a:solidFill>
              <a:srgbClr val="15171B"/>
            </a:solidFill>
            <a:prstDash val="solid"/>
          </a:ln>
        </p:spPr>
      </p:sp>
      <p:sp>
        <p:nvSpPr>
          <p:cNvPr id="30" name="Shape 28"/>
          <p:cNvSpPr/>
          <p:nvPr/>
        </p:nvSpPr>
        <p:spPr>
          <a:xfrm>
            <a:off x="6464808" y="1536192"/>
            <a:ext cx="310896" cy="310896"/>
          </a:xfrm>
          <a:prstGeom prst="roundRect">
            <a:avLst>
              <a:gd name="adj" fmla="val 26471"/>
            </a:avLst>
          </a:prstGeom>
          <a:solidFill>
            <a:srgbClr val="3FB950"/>
          </a:solidFill>
          <a:ln w="12700">
            <a:solidFill>
              <a:srgbClr val="3FB950"/>
            </a:solidFill>
            <a:prstDash val="solid"/>
          </a:ln>
        </p:spPr>
      </p:sp>
      <p:sp>
        <p:nvSpPr>
          <p:cNvPr id="31" name="Text 29"/>
          <p:cNvSpPr/>
          <p:nvPr/>
        </p:nvSpPr>
        <p:spPr>
          <a:xfrm>
            <a:off x="6464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40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Response parks on approval; blocklist untouched until approved</a:t>
            </a:r>
            <a:endParaRPr lang="en-US" sz="1050" dirty="0"/>
          </a:p>
        </p:txBody>
      </p:sp>
      <p:sp>
        <p:nvSpPr>
          <p:cNvPr id="33" name="Shape 31"/>
          <p:cNvSpPr/>
          <p:nvPr/>
        </p:nvSpPr>
        <p:spPr>
          <a:xfrm>
            <a:off x="6263640" y="2075688"/>
            <a:ext cx="5349240" cy="548640"/>
          </a:xfrm>
          <a:prstGeom prst="roundRect">
            <a:avLst>
              <a:gd name="adj" fmla="val 8333"/>
            </a:avLst>
          </a:prstGeom>
          <a:solidFill>
            <a:srgbClr val="15171B"/>
          </a:solidFill>
          <a:ln w="12700">
            <a:solidFill>
              <a:srgbClr val="15171B"/>
            </a:solidFill>
            <a:prstDash val="solid"/>
          </a:ln>
        </p:spPr>
      </p:sp>
      <p:sp>
        <p:nvSpPr>
          <p:cNvPr id="34" name="Shape 32"/>
          <p:cNvSpPr/>
          <p:nvPr/>
        </p:nvSpPr>
        <p:spPr>
          <a:xfrm>
            <a:off x="6464808" y="2194560"/>
            <a:ext cx="310896" cy="310896"/>
          </a:xfrm>
          <a:prstGeom prst="roundRect">
            <a:avLst>
              <a:gd name="adj" fmla="val 26471"/>
            </a:avLst>
          </a:prstGeom>
          <a:solidFill>
            <a:srgbClr val="3FB950"/>
          </a:solidFill>
          <a:ln w="12700">
            <a:solidFill>
              <a:srgbClr val="3FB950"/>
            </a:solidFill>
            <a:prstDash val="solid"/>
          </a:ln>
        </p:spPr>
      </p:sp>
      <p:sp>
        <p:nvSpPr>
          <p:cNvPr id="35" name="Text 33"/>
          <p:cNvSpPr/>
          <p:nvPr/>
        </p:nvSpPr>
        <p:spPr>
          <a:xfrm>
            <a:off x="6464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40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MCP audit returns servers at or above the threshold</a:t>
            </a:r>
            <a:endParaRPr lang="en-US" sz="1050" dirty="0"/>
          </a:p>
        </p:txBody>
      </p:sp>
      <p:sp>
        <p:nvSpPr>
          <p:cNvPr id="37" name="Shape 35"/>
          <p:cNvSpPr/>
          <p:nvPr/>
        </p:nvSpPr>
        <p:spPr>
          <a:xfrm>
            <a:off x="6263640" y="2734056"/>
            <a:ext cx="5349240" cy="548640"/>
          </a:xfrm>
          <a:prstGeom prst="roundRect">
            <a:avLst>
              <a:gd name="adj" fmla="val 8333"/>
            </a:avLst>
          </a:prstGeom>
          <a:solidFill>
            <a:srgbClr val="15171B"/>
          </a:solidFill>
          <a:ln w="12700">
            <a:solidFill>
              <a:srgbClr val="15171B"/>
            </a:solidFill>
            <a:prstDash val="solid"/>
          </a:ln>
        </p:spPr>
      </p:sp>
      <p:sp>
        <p:nvSpPr>
          <p:cNvPr id="38" name="Shape 36"/>
          <p:cNvSpPr/>
          <p:nvPr/>
        </p:nvSpPr>
        <p:spPr>
          <a:xfrm>
            <a:off x="6464808" y="2852928"/>
            <a:ext cx="310896" cy="310896"/>
          </a:xfrm>
          <a:prstGeom prst="roundRect">
            <a:avLst>
              <a:gd name="adj" fmla="val 26471"/>
            </a:avLst>
          </a:prstGeom>
          <a:solidFill>
            <a:srgbClr val="3FB950"/>
          </a:solidFill>
          <a:ln w="12700">
            <a:solidFill>
              <a:srgbClr val="3FB950"/>
            </a:solidFill>
            <a:prstDash val="solid"/>
          </a:ln>
        </p:spPr>
      </p:sp>
      <p:sp>
        <p:nvSpPr>
          <p:cNvPr id="39" name="Text 37"/>
          <p:cNvSpPr/>
          <p:nvPr/>
        </p:nvSpPr>
        <p:spPr>
          <a:xfrm>
            <a:off x="6464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40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Tracker List is created and fills with endpoints</a:t>
            </a:r>
            <a:endParaRPr lang="en-US" sz="1050" dirty="0"/>
          </a:p>
        </p:txBody>
      </p:sp>
      <p:sp>
        <p:nvSpPr>
          <p:cNvPr id="41" name="Shape 39"/>
          <p:cNvSpPr/>
          <p:nvPr/>
        </p:nvSpPr>
        <p:spPr>
          <a:xfrm>
            <a:off x="6263640" y="3392424"/>
            <a:ext cx="5349240" cy="548640"/>
          </a:xfrm>
          <a:prstGeom prst="roundRect">
            <a:avLst>
              <a:gd name="adj" fmla="val 8333"/>
            </a:avLst>
          </a:prstGeom>
          <a:solidFill>
            <a:srgbClr val="15171B"/>
          </a:solidFill>
          <a:ln w="12700">
            <a:solidFill>
              <a:srgbClr val="15171B"/>
            </a:solidFill>
            <a:prstDash val="solid"/>
          </a:ln>
        </p:spPr>
      </p:sp>
      <p:sp>
        <p:nvSpPr>
          <p:cNvPr id="42" name="Shape 40"/>
          <p:cNvSpPr/>
          <p:nvPr/>
        </p:nvSpPr>
        <p:spPr>
          <a:xfrm>
            <a:off x="6464808" y="3511296"/>
            <a:ext cx="310896" cy="310896"/>
          </a:xfrm>
          <a:prstGeom prst="roundRect">
            <a:avLst>
              <a:gd name="adj" fmla="val 26471"/>
            </a:avLst>
          </a:prstGeom>
          <a:solidFill>
            <a:srgbClr val="3FB950"/>
          </a:solidFill>
          <a:ln w="12700">
            <a:solidFill>
              <a:srgbClr val="3FB950"/>
            </a:solidFill>
            <a:prstDash val="solid"/>
          </a:ln>
        </p:spPr>
      </p:sp>
      <p:sp>
        <p:nvSpPr>
          <p:cNvPr id="43" name="Text 41"/>
          <p:cNvSpPr/>
          <p:nvPr/>
        </p:nvSpPr>
        <p:spPr>
          <a:xfrm>
            <a:off x="6464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6940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Scan marks only due, connected endpoints; re-run is a no-op</a:t>
            </a:r>
            <a:endParaRPr lang="en-US" sz="1050" dirty="0"/>
          </a:p>
        </p:txBody>
      </p:sp>
      <p:sp>
        <p:nvSpPr>
          <p:cNvPr id="45" name="Shape 43"/>
          <p:cNvSpPr/>
          <p:nvPr/>
        </p:nvSpPr>
        <p:spPr>
          <a:xfrm>
            <a:off x="6263640" y="4050792"/>
            <a:ext cx="5349240" cy="548640"/>
          </a:xfrm>
          <a:prstGeom prst="roundRect">
            <a:avLst>
              <a:gd name="adj" fmla="val 8333"/>
            </a:avLst>
          </a:prstGeom>
          <a:solidFill>
            <a:srgbClr val="15171B"/>
          </a:solidFill>
          <a:ln w="12700">
            <a:solidFill>
              <a:srgbClr val="15171B"/>
            </a:solidFill>
            <a:prstDash val="solid"/>
          </a:ln>
        </p:spPr>
      </p:sp>
      <p:sp>
        <p:nvSpPr>
          <p:cNvPr id="46" name="Shape 44"/>
          <p:cNvSpPr/>
          <p:nvPr/>
        </p:nvSpPr>
        <p:spPr>
          <a:xfrm>
            <a:off x="6464808" y="4169664"/>
            <a:ext cx="310896" cy="310896"/>
          </a:xfrm>
          <a:prstGeom prst="roundRect">
            <a:avLst>
              <a:gd name="adj" fmla="val 26471"/>
            </a:avLst>
          </a:prstGeom>
          <a:solidFill>
            <a:srgbClr val="3FB950"/>
          </a:solidFill>
          <a:ln w="12700">
            <a:solidFill>
              <a:srgbClr val="3FB950"/>
            </a:solidFill>
            <a:prstDash val="solid"/>
          </a:ln>
        </p:spPr>
      </p:sp>
      <p:sp>
        <p:nvSpPr>
          <p:cNvPr id="47" name="Text 45"/>
          <p:cNvSpPr/>
          <p:nvPr/>
        </p:nvSpPr>
        <p:spPr>
          <a:xfrm>
            <a:off x="6464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8" name="Text 46"/>
          <p:cNvSpPr/>
          <p:nvPr/>
        </p:nvSpPr>
        <p:spPr>
          <a:xfrm>
            <a:off x="6940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Library queries run and return results</a:t>
            </a:r>
            <a:endParaRPr lang="en-US" sz="1050" dirty="0"/>
          </a:p>
        </p:txBody>
      </p:sp>
      <p:sp>
        <p:nvSpPr>
          <p:cNvPr id="49" name="Shape 47"/>
          <p:cNvSpPr/>
          <p:nvPr/>
        </p:nvSpPr>
        <p:spPr>
          <a:xfrm>
            <a:off x="6263640" y="4709160"/>
            <a:ext cx="5349240" cy="548640"/>
          </a:xfrm>
          <a:prstGeom prst="roundRect">
            <a:avLst>
              <a:gd name="adj" fmla="val 8333"/>
            </a:avLst>
          </a:prstGeom>
          <a:solidFill>
            <a:srgbClr val="15171B"/>
          </a:solidFill>
          <a:ln w="12700">
            <a:solidFill>
              <a:srgbClr val="15171B"/>
            </a:solidFill>
            <a:prstDash val="solid"/>
          </a:ln>
        </p:spPr>
      </p:sp>
      <p:sp>
        <p:nvSpPr>
          <p:cNvPr id="50" name="Shape 48"/>
          <p:cNvSpPr/>
          <p:nvPr/>
        </p:nvSpPr>
        <p:spPr>
          <a:xfrm>
            <a:off x="6464808" y="4828032"/>
            <a:ext cx="310896" cy="310896"/>
          </a:xfrm>
          <a:prstGeom prst="roundRect">
            <a:avLst>
              <a:gd name="adj" fmla="val 26471"/>
            </a:avLst>
          </a:prstGeom>
          <a:solidFill>
            <a:srgbClr val="3FB950"/>
          </a:solidFill>
          <a:ln w="12700">
            <a:solidFill>
              <a:srgbClr val="3FB950"/>
            </a:solidFill>
            <a:prstDash val="solid"/>
          </a:ln>
        </p:spPr>
      </p:sp>
      <p:sp>
        <p:nvSpPr>
          <p:cNvPr id="51" name="Text 49"/>
          <p:cNvSpPr/>
          <p:nvPr/>
        </p:nvSpPr>
        <p:spPr>
          <a:xfrm>
            <a:off x="6464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52" name="Text 50"/>
          <p:cNvSpPr/>
          <p:nvPr/>
        </p:nvSpPr>
        <p:spPr>
          <a:xfrm>
            <a:off x="6940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Simulated counts match the summary exactly</a:t>
            </a:r>
            <a:endParaRPr lang="en-US" sz="1050" dirty="0"/>
          </a:p>
        </p:txBody>
      </p:sp>
      <p:sp>
        <p:nvSpPr>
          <p:cNvPr id="53" name="Shape 51"/>
          <p:cNvSpPr/>
          <p:nvPr/>
        </p:nvSpPr>
        <p:spPr>
          <a:xfrm>
            <a:off x="548640" y="5440680"/>
            <a:ext cx="11064240" cy="685800"/>
          </a:xfrm>
          <a:prstGeom prst="roundRect">
            <a:avLst>
              <a:gd name="adj" fmla="val 6667"/>
            </a:avLst>
          </a:prstGeom>
          <a:solidFill>
            <a:srgbClr val="1C2026"/>
          </a:solidFill>
          <a:ln w="12700">
            <a:solidFill>
              <a:srgbClr val="1C2026"/>
            </a:solidFill>
            <a:prstDash val="solid"/>
          </a:ln>
        </p:spPr>
      </p:sp>
      <p:sp>
        <p:nvSpPr>
          <p:cNvPr id="54" name="Text 52"/>
          <p:cNvSpPr/>
          <p:nvPr/>
        </p:nvSpPr>
        <p:spPr>
          <a:xfrm>
            <a:off x="859536" y="5623560"/>
            <a:ext cx="7315200" cy="292608"/>
          </a:xfrm>
          <a:prstGeom prst="rect">
            <a:avLst/>
          </a:prstGeom>
          <a:noFill/>
          <a:ln/>
        </p:spPr>
        <p:txBody>
          <a:bodyPr wrap="square" lIns="0" tIns="0" rIns="0" bIns="0" rtlCol="0" anchor="t"/>
          <a:lstStyle/>
          <a:p>
            <a:pPr indent="0" marL="0">
              <a:buNone/>
            </a:pPr>
            <a:r>
              <a:rPr lang="en-US" sz="1300" b="1" i="1" dirty="0">
                <a:solidFill>
                  <a:srgbClr val="3FB950"/>
                </a:solidFill>
                <a:latin typeface="Calibri" pitchFamily="34" charset="0"/>
                <a:ea typeface="Calibri" pitchFamily="34" charset="-122"/>
                <a:cs typeface="Calibri" pitchFamily="34" charset="-120"/>
              </a:rPr>
              <a:t>All twelve green — the pack is ready for production use.</a:t>
            </a:r>
            <a:endParaRPr lang="en-US" sz="1300" dirty="0"/>
          </a:p>
        </p:txBody>
      </p:sp>
      <p:sp>
        <p:nvSpPr>
          <p:cNvPr id="55" name="Text 53"/>
          <p:cNvSpPr/>
          <p:nvPr/>
        </p:nvSpPr>
        <p:spPr>
          <a:xfrm>
            <a:off x="548640" y="6263640"/>
            <a:ext cx="1106424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Full detail in KOI_Integration_Customer_Guide_v1.4.0. Diagnostics in the troubleshooting guide.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XSIAM</dc:creator>
  <cp:lastModifiedBy>Cortex XSIAM</cp:lastModifiedBy>
  <cp:revision>1</cp:revision>
  <dcterms:created xsi:type="dcterms:W3CDTF">2026-07-26T05:59:44Z</dcterms:created>
  <dcterms:modified xsi:type="dcterms:W3CDTF">2026-07-26T05:59:44Z</dcterms:modified>
</cp:coreProperties>
</file>