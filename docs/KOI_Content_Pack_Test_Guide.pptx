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top to bottom. Tests 1-4 prove the plumbing, 5-8 prove the automation, 9 proves fleet execution. Test 7 is the safety gate and must pass before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the playbook YAML: the three Koi Unified playbooks invoke no KOI API command, so a script-only customer needs neither a KOI key nor an integration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consequential choice in the guide. A zip upload produces a tenant where every command works and no data ever arrives — which reads like a collector bug but is simply the wrong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Pack-installed items become system-owned and reject individual item uploads afterwards — ship later changes as a new pack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 order matters because sub-playbook references bind by name — importing the parent first leaves it pointing at a playbook that does not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by-name binding taken from the playbook YAML. The skipped-entry case is the quietest: a valid entry with no matching connected endpoint logs an info entry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frequently look for a mandated script name. There isn't one: script.name is a pointer into the Action Center Scripts Library, and the only requirement is that the two sides agree. Same for the endpoint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entry missing a required field is not a job failure: it is reported with the offending entry and skipped, and the rest of the List still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1-4 are plumbing, 5-8 automation, 9 fleet execution. Test 7 is the one that must pass before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Test succeeds but koi-users-list returns 403, the key is fine and the source IP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two cycles before judging. A single cycle with no new KOI activity legitimately returns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most often exposes the egress problem, because it hits the sensitive endpoints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parsing and modeling rules are user-defined and target koi_koi_raw.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playbook cannot find the item, the alert may map the KOI payload to a field other than incident.details — adjust the alert_description input on KOI - Extract Alert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investigations are best-effort: if KOI is unreachable the playbook still completes, it just has less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add is the only state-changing command the automation can reach. Verify it did not run before approval — check the war room command history, not just the playbook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proactive half of the pack: it finds risky agentic-AI assets without waiting for KOI to raise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are by design: ok, skipped (valid entry, nothing to run on right now) and failed. Skipped is not a failure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real-world failure is one of these six. The first is by far the most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7 is the gate. The other eight can be re-run any time; test 7 should be re-run after any change to the response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3" name="Shape 1"/>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4" name="Text 2"/>
          <p:cNvSpPr/>
          <p:nvPr/>
        </p:nvSpPr>
        <p:spPr>
          <a:xfrm>
            <a:off x="548640" y="16002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  ·  ACCEPTANCE TESTING</a:t>
            </a:r>
            <a:endParaRPr lang="en-US" sz="1200" dirty="0"/>
          </a:p>
        </p:txBody>
      </p:sp>
      <p:sp>
        <p:nvSpPr>
          <p:cNvPr id="5" name="Text 3"/>
          <p:cNvSpPr/>
          <p:nvPr/>
        </p:nvSpPr>
        <p:spPr>
          <a:xfrm>
            <a:off x="548640" y="1874520"/>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6" name="Text 4"/>
          <p:cNvSpPr/>
          <p:nvPr/>
        </p:nvSpPr>
        <p:spPr>
          <a:xfrm>
            <a:off x="548640" y="3310128"/>
            <a:ext cx="7680960" cy="822960"/>
          </a:xfrm>
          <a:prstGeom prst="rect">
            <a:avLst/>
          </a:prstGeom>
          <a:noFill/>
          <a:ln/>
        </p:spPr>
        <p:txBody>
          <a:bodyPr wrap="square" lIns="0" tIns="0" rIns="0" bIns="0" rtlCol="0" anchor="t"/>
          <a:lstStyle/>
          <a:p>
            <a:pPr indent="0" marL="0">
              <a:lnSpc>
                <a:spcPts val="2400"/>
              </a:lnSpc>
              <a:buNone/>
            </a:pPr>
            <a:r>
              <a:rPr lang="en-US" sz="1700" dirty="0">
                <a:solidFill>
                  <a:srgbClr val="B4B7BD"/>
                </a:solidFill>
                <a:latin typeface="Calibri" pitchFamily="34" charset="0"/>
                <a:ea typeface="Calibri" pitchFamily="34" charset="-122"/>
                <a:cs typeface="Calibri" pitchFamily="34" charset="-120"/>
              </a:rPr>
              <a:t>Nine tests that prove every part of the pack works on your tenant — and what a pass looks like for each.</a:t>
            </a:r>
            <a:endParaRPr lang="en-US" sz="1700" dirty="0"/>
          </a:p>
        </p:txBody>
      </p:sp>
      <p:sp>
        <p:nvSpPr>
          <p:cNvPr id="7" name="Text 5"/>
          <p:cNvSpPr/>
          <p:nvPr/>
        </p:nvSpPr>
        <p:spPr>
          <a:xfrm>
            <a:off x="54864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9</a:t>
            </a:r>
            <a:endParaRPr lang="en-US" sz="3400" dirty="0"/>
          </a:p>
        </p:txBody>
      </p:sp>
      <p:sp>
        <p:nvSpPr>
          <p:cNvPr id="8" name="Text 6"/>
          <p:cNvSpPr/>
          <p:nvPr/>
        </p:nvSpPr>
        <p:spPr>
          <a:xfrm>
            <a:off x="54864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tests</a:t>
            </a:r>
            <a:endParaRPr lang="en-US" sz="1100" dirty="0"/>
          </a:p>
        </p:txBody>
      </p:sp>
      <p:sp>
        <p:nvSpPr>
          <p:cNvPr id="9" name="Text 7"/>
          <p:cNvSpPr/>
          <p:nvPr/>
        </p:nvSpPr>
        <p:spPr>
          <a:xfrm>
            <a:off x="242316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~45</a:t>
            </a:r>
            <a:endParaRPr lang="en-US" sz="3400" dirty="0"/>
          </a:p>
        </p:txBody>
      </p:sp>
      <p:sp>
        <p:nvSpPr>
          <p:cNvPr id="10" name="Text 8"/>
          <p:cNvSpPr/>
          <p:nvPr/>
        </p:nvSpPr>
        <p:spPr>
          <a:xfrm>
            <a:off x="242316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minutes</a:t>
            </a:r>
            <a:endParaRPr lang="en-US" sz="1100" dirty="0"/>
          </a:p>
        </p:txBody>
      </p:sp>
      <p:sp>
        <p:nvSpPr>
          <p:cNvPr id="11" name="Text 9"/>
          <p:cNvSpPr/>
          <p:nvPr/>
        </p:nvSpPr>
        <p:spPr>
          <a:xfrm>
            <a:off x="429768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1</a:t>
            </a:r>
            <a:endParaRPr lang="en-US" sz="3400" dirty="0"/>
          </a:p>
        </p:txBody>
      </p:sp>
      <p:sp>
        <p:nvSpPr>
          <p:cNvPr id="12" name="Text 10"/>
          <p:cNvSpPr/>
          <p:nvPr/>
        </p:nvSpPr>
        <p:spPr>
          <a:xfrm>
            <a:off x="429768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tenant</a:t>
            </a:r>
            <a:endParaRPr lang="en-US" sz="1100" dirty="0"/>
          </a:p>
        </p:txBody>
      </p:sp>
      <p:sp>
        <p:nvSpPr>
          <p:cNvPr id="13" name="Text 11"/>
          <p:cNvSpPr/>
          <p:nvPr/>
        </p:nvSpPr>
        <p:spPr>
          <a:xfrm>
            <a:off x="617220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0</a:t>
            </a:r>
            <a:endParaRPr lang="en-US" sz="3400" dirty="0"/>
          </a:p>
        </p:txBody>
      </p:sp>
      <p:sp>
        <p:nvSpPr>
          <p:cNvPr id="14" name="Text 12"/>
          <p:cNvSpPr/>
          <p:nvPr/>
        </p:nvSpPr>
        <p:spPr>
          <a:xfrm>
            <a:off x="617220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risk to prod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need, by what you are deploying</a:t>
            </a:r>
            <a:endParaRPr lang="en-US" sz="3100" dirty="0"/>
          </a:p>
        </p:txBody>
      </p:sp>
      <p:sp>
        <p:nvSpPr>
          <p:cNvPr id="4" name="Text 2"/>
          <p:cNvSpPr/>
          <p:nvPr/>
        </p:nvSpPr>
        <p:spPr>
          <a:xfrm>
            <a:off x="548640" y="1298448"/>
            <a:ext cx="896112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two deployments have very different prerequisites. Pick your column before you start.</a:t>
            </a:r>
            <a:endParaRPr lang="en-US" sz="1250" dirty="0"/>
          </a:p>
        </p:txBody>
      </p:sp>
      <p:sp>
        <p:nvSpPr>
          <p:cNvPr id="5" name="Shape 3"/>
          <p:cNvSpPr/>
          <p:nvPr/>
        </p:nvSpPr>
        <p:spPr>
          <a:xfrm>
            <a:off x="548640" y="1755648"/>
            <a:ext cx="5349240" cy="4114800"/>
          </a:xfrm>
          <a:prstGeom prst="roundRect">
            <a:avLst>
              <a:gd name="adj" fmla="val 1111"/>
            </a:avLst>
          </a:prstGeom>
          <a:solidFill>
            <a:srgbClr val="15171B"/>
          </a:solidFill>
          <a:ln w="12700">
            <a:solidFill>
              <a:srgbClr val="15171B"/>
            </a:solidFill>
            <a:prstDash val="solid"/>
          </a:ln>
        </p:spPr>
      </p:sp>
      <p:sp>
        <p:nvSpPr>
          <p:cNvPr id="6" name="Text 4"/>
          <p:cNvSpPr/>
          <p:nvPr/>
        </p:nvSpPr>
        <p:spPr>
          <a:xfrm>
            <a:off x="859536" y="1956816"/>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Full pack</a:t>
            </a:r>
            <a:endParaRPr lang="en-US" sz="1600" dirty="0"/>
          </a:p>
        </p:txBody>
      </p:sp>
      <p:sp>
        <p:nvSpPr>
          <p:cNvPr id="7" name="Text 5"/>
          <p:cNvSpPr/>
          <p:nvPr/>
        </p:nvSpPr>
        <p:spPr>
          <a:xfrm>
            <a:off x="859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Collection, triage, investigation and response</a:t>
            </a:r>
            <a:endParaRPr lang="en-US" sz="1100" dirty="0"/>
          </a:p>
        </p:txBody>
      </p:sp>
      <p:sp>
        <p:nvSpPr>
          <p:cNvPr id="8" name="Text 6"/>
          <p:cNvSpPr/>
          <p:nvPr/>
        </p:nvSpPr>
        <p:spPr>
          <a:xfrm>
            <a:off x="859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72491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XSIAM tenant — the parsing and modeling rules are fromversion 8.4.0</a:t>
            </a:r>
            <a:endParaRPr lang="en-US" sz="1150" dirty="0"/>
          </a:p>
        </p:txBody>
      </p:sp>
      <p:sp>
        <p:nvSpPr>
          <p:cNvPr id="10" name="Text 8"/>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with the xt-Administrator role</a:t>
            </a:r>
            <a:endParaRPr lang="en-US" sz="1150" dirty="0"/>
          </a:p>
        </p:txBody>
      </p:sp>
      <p:sp>
        <p:nvSpPr>
          <p:cNvPr id="12" name="Text 10"/>
          <p:cNvSpPr/>
          <p:nvPr/>
        </p:nvSpPr>
        <p:spPr>
          <a:xfrm>
            <a:off x="859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egress IP KOI accepts, or a Cortex engine that has one</a:t>
            </a:r>
            <a:endParaRPr lang="en-US" sz="1150" dirty="0"/>
          </a:p>
        </p:txBody>
      </p:sp>
      <p:sp>
        <p:nvSpPr>
          <p:cNvPr id="14" name="Text 12"/>
          <p:cNvSpPr/>
          <p:nvPr/>
        </p:nvSpPr>
        <p:spPr>
          <a:xfrm>
            <a:off x="859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899916"/>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demisto-sdk 1.38+ and a Standard XSIAM API key</a:t>
            </a:r>
            <a:endParaRPr lang="en-US" sz="1150" dirty="0"/>
          </a:p>
        </p:txBody>
      </p:sp>
      <p:sp>
        <p:nvSpPr>
          <p:cNvPr id="16" name="Text 14"/>
          <p:cNvSpPr/>
          <p:nvPr/>
        </p:nvSpPr>
        <p:spPr>
          <a:xfrm>
            <a:off x="859536" y="42291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229100"/>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one ingested KOI alert, for tests 5 to 7</a:t>
            </a:r>
            <a:endParaRPr lang="en-US" sz="1150" dirty="0"/>
          </a:p>
        </p:txBody>
      </p:sp>
      <p:sp>
        <p:nvSpPr>
          <p:cNvPr id="18" name="Shape 16"/>
          <p:cNvSpPr/>
          <p:nvPr/>
        </p:nvSpPr>
        <p:spPr>
          <a:xfrm>
            <a:off x="6263640" y="1755648"/>
            <a:ext cx="5349240" cy="4114800"/>
          </a:xfrm>
          <a:prstGeom prst="roundRect">
            <a:avLst>
              <a:gd name="adj" fmla="val 1111"/>
            </a:avLst>
          </a:prstGeom>
          <a:solidFill>
            <a:srgbClr val="1C2026"/>
          </a:solidFill>
          <a:ln w="12700">
            <a:solidFill>
              <a:srgbClr val="1C2026"/>
            </a:solidFill>
            <a:prstDash val="solid"/>
          </a:ln>
        </p:spPr>
      </p:sp>
      <p:sp>
        <p:nvSpPr>
          <p:cNvPr id="19" name="Text 17"/>
          <p:cNvSpPr/>
          <p:nvPr/>
        </p:nvSpPr>
        <p:spPr>
          <a:xfrm>
            <a:off x="6574536" y="1956816"/>
            <a:ext cx="4727448" cy="310896"/>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Script Runner only</a:t>
            </a:r>
            <a:endParaRPr lang="en-US" sz="1600" dirty="0"/>
          </a:p>
        </p:txBody>
      </p:sp>
      <p:sp>
        <p:nvSpPr>
          <p:cNvPr id="20" name="Text 18"/>
          <p:cNvSpPr/>
          <p:nvPr/>
        </p:nvSpPr>
        <p:spPr>
          <a:xfrm>
            <a:off x="6574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Run KOI scripts on endpoints from a Job</a:t>
            </a:r>
            <a:endParaRPr lang="en-US" sz="1100" dirty="0"/>
          </a:p>
        </p:txBody>
      </p:sp>
      <p:sp>
        <p:nvSpPr>
          <p:cNvPr id="21" name="Text 19"/>
          <p:cNvSpPr/>
          <p:nvPr/>
        </p:nvSpPr>
        <p:spPr>
          <a:xfrm>
            <a:off x="6574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72491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Cortex XSIAM tenant with Cortex agents installed</a:t>
            </a:r>
            <a:endParaRPr lang="en-US" sz="1150" dirty="0"/>
          </a:p>
        </p:txBody>
      </p:sp>
      <p:sp>
        <p:nvSpPr>
          <p:cNvPr id="23" name="Text 21"/>
          <p:cNvSpPr/>
          <p:nvPr/>
        </p:nvSpPr>
        <p:spPr>
          <a:xfrm>
            <a:off x="6574536" y="3054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305409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KOI script package uploaded to Action Center → Scripts Library</a:t>
            </a:r>
            <a:endParaRPr lang="en-US" sz="1150" dirty="0"/>
          </a:p>
        </p:txBody>
      </p:sp>
      <p:sp>
        <p:nvSpPr>
          <p:cNvPr id="25" name="Text 23"/>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endpoint group containing connected, unisolated agents</a:t>
            </a:r>
            <a:endParaRPr lang="en-US" sz="1150" dirty="0"/>
          </a:p>
        </p:txBody>
      </p:sp>
      <p:sp>
        <p:nvSpPr>
          <p:cNvPr id="27" name="Text 25"/>
          <p:cNvSpPr/>
          <p:nvPr/>
        </p:nvSpPr>
        <p:spPr>
          <a:xfrm>
            <a:off x="6574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3899916"/>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a mail-sender instance for notifications</a:t>
            </a:r>
            <a:endParaRPr lang="en-US" sz="1150" dirty="0"/>
          </a:p>
        </p:txBody>
      </p:sp>
      <p:sp>
        <p:nvSpPr>
          <p:cNvPr id="29" name="Text 27"/>
          <p:cNvSpPr/>
          <p:nvPr/>
        </p:nvSpPr>
        <p:spPr>
          <a:xfrm>
            <a:off x="6574536" y="42291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4229100"/>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KOI API key and no KOI integration instance</a:t>
            </a:r>
            <a:endParaRPr lang="en-US" sz="1150" dirty="0"/>
          </a:p>
        </p:txBody>
      </p:sp>
      <p:sp>
        <p:nvSpPr>
          <p:cNvPr id="31" name="Text 29"/>
          <p:cNvSpPr/>
          <p:nvPr/>
        </p:nvSpPr>
        <p:spPr>
          <a:xfrm>
            <a:off x="548640" y="603504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Script Runner playbooks call no koi-* command at all — only core-get-scripts, core-get-endpoints and core-script-run.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Choose your path — it decides whether events flow</a:t>
            </a:r>
            <a:endParaRPr lang="en-US" sz="3100" dirty="0"/>
          </a:p>
        </p:txBody>
      </p:sp>
      <p:sp>
        <p:nvSpPr>
          <p:cNvPr id="4" name="Text 2"/>
          <p:cNvSpPr/>
          <p:nvPr/>
        </p:nvSpPr>
        <p:spPr>
          <a:xfrm>
            <a:off x="82296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Path</a:t>
            </a:r>
            <a:endParaRPr lang="en-US" sz="1050" dirty="0"/>
          </a:p>
        </p:txBody>
      </p:sp>
      <p:sp>
        <p:nvSpPr>
          <p:cNvPr id="5" name="Text 3"/>
          <p:cNvSpPr/>
          <p:nvPr/>
        </p:nvSpPr>
        <p:spPr>
          <a:xfrm>
            <a:off x="3474720" y="1426464"/>
            <a:ext cx="402336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7772400" y="1426464"/>
            <a:ext cx="1005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Text 5"/>
          <p:cNvSpPr/>
          <p:nvPr/>
        </p:nvSpPr>
        <p:spPr>
          <a:xfrm>
            <a:off x="886968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Use when</a:t>
            </a:r>
            <a:endParaRPr lang="en-US" sz="1050" dirty="0"/>
          </a:p>
        </p:txBody>
      </p:sp>
      <p:sp>
        <p:nvSpPr>
          <p:cNvPr id="8" name="Shape 6"/>
          <p:cNvSpPr/>
          <p:nvPr/>
        </p:nvSpPr>
        <p:spPr>
          <a:xfrm>
            <a:off x="548640" y="1773936"/>
            <a:ext cx="11064240" cy="603504"/>
          </a:xfrm>
          <a:prstGeom prst="roundRect">
            <a:avLst>
              <a:gd name="adj" fmla="val 7576"/>
            </a:avLst>
          </a:prstGeom>
          <a:solidFill>
            <a:srgbClr val="15171B"/>
          </a:solidFill>
          <a:ln w="12700">
            <a:solidFill>
              <a:srgbClr val="15171B"/>
            </a:solidFill>
            <a:prstDash val="solid"/>
          </a:ln>
        </p:spPr>
      </p:sp>
      <p:sp>
        <p:nvSpPr>
          <p:cNvPr id="9" name="Text 7"/>
          <p:cNvSpPr/>
          <p:nvPr/>
        </p:nvSpPr>
        <p:spPr>
          <a:xfrm>
            <a:off x="822960" y="1947672"/>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demisto-sdk --xsiam</a:t>
            </a:r>
            <a:endParaRPr lang="en-US" sz="1150" dirty="0"/>
          </a:p>
        </p:txBody>
      </p:sp>
      <p:sp>
        <p:nvSpPr>
          <p:cNvPr id="10" name="Text 8"/>
          <p:cNvSpPr/>
          <p:nvPr/>
        </p:nvSpPr>
        <p:spPr>
          <a:xfrm>
            <a:off x="3474720" y="1947672"/>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Everything, at the version you were sent</a:t>
            </a:r>
            <a:endParaRPr lang="en-US" sz="1050" dirty="0"/>
          </a:p>
        </p:txBody>
      </p:sp>
      <p:sp>
        <p:nvSpPr>
          <p:cNvPr id="11" name="Text 9"/>
          <p:cNvSpPr/>
          <p:nvPr/>
        </p:nvSpPr>
        <p:spPr>
          <a:xfrm>
            <a:off x="7772400" y="1947672"/>
            <a:ext cx="1005840" cy="274320"/>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 yes</a:t>
            </a:r>
            <a:endParaRPr lang="en-US" sz="1150" dirty="0"/>
          </a:p>
        </p:txBody>
      </p:sp>
      <p:sp>
        <p:nvSpPr>
          <p:cNvPr id="12" name="Text 10"/>
          <p:cNvSpPr/>
          <p:nvPr/>
        </p:nvSpPr>
        <p:spPr>
          <a:xfrm>
            <a:off x="8869680" y="1947672"/>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normal path</a:t>
            </a:r>
            <a:endParaRPr lang="en-US" sz="1050" dirty="0"/>
          </a:p>
        </p:txBody>
      </p:sp>
      <p:sp>
        <p:nvSpPr>
          <p:cNvPr id="13" name="Shape 11"/>
          <p:cNvSpPr/>
          <p:nvPr/>
        </p:nvSpPr>
        <p:spPr>
          <a:xfrm>
            <a:off x="548640" y="2514600"/>
            <a:ext cx="11064240" cy="603504"/>
          </a:xfrm>
          <a:prstGeom prst="roundRect">
            <a:avLst>
              <a:gd name="adj" fmla="val 7576"/>
            </a:avLst>
          </a:prstGeom>
          <a:solidFill>
            <a:srgbClr val="1C2026"/>
          </a:solidFill>
          <a:ln w="12700">
            <a:solidFill>
              <a:srgbClr val="1C2026"/>
            </a:solidFill>
            <a:prstDash val="solid"/>
          </a:ln>
        </p:spPr>
      </p:sp>
      <p:sp>
        <p:nvSpPr>
          <p:cNvPr id="14" name="Text 12"/>
          <p:cNvSpPr/>
          <p:nvPr/>
        </p:nvSpPr>
        <p:spPr>
          <a:xfrm>
            <a:off x="822960" y="2688336"/>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5A524"/>
                </a:solidFill>
                <a:latin typeface="Calibri" pitchFamily="34" charset="0"/>
                <a:ea typeface="Calibri" pitchFamily="34" charset="-122"/>
                <a:cs typeface="Calibri" pitchFamily="34" charset="-120"/>
              </a:rPr>
              <a:t>Pre-built dist/Koi.zip</a:t>
            </a:r>
            <a:endParaRPr lang="en-US" sz="1150" dirty="0"/>
          </a:p>
        </p:txBody>
      </p:sp>
      <p:sp>
        <p:nvSpPr>
          <p:cNvPr id="15" name="Text 13"/>
          <p:cNvSpPr/>
          <p:nvPr/>
        </p:nvSpPr>
        <p:spPr>
          <a:xfrm>
            <a:off x="3474720" y="2688336"/>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Integration + 3 playbooks only. No rules, no dashboard</a:t>
            </a:r>
            <a:endParaRPr lang="en-US" sz="1050" dirty="0"/>
          </a:p>
        </p:txBody>
      </p:sp>
      <p:sp>
        <p:nvSpPr>
          <p:cNvPr id="16" name="Text 14"/>
          <p:cNvSpPr/>
          <p:nvPr/>
        </p:nvSpPr>
        <p:spPr>
          <a:xfrm>
            <a:off x="7772400" y="2688336"/>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17" name="Text 15"/>
          <p:cNvSpPr/>
          <p:nvPr/>
        </p:nvSpPr>
        <p:spPr>
          <a:xfrm>
            <a:off x="8869680" y="2688336"/>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Not for XSIAM</a:t>
            </a:r>
            <a:endParaRPr lang="en-US" sz="1050" dirty="0"/>
          </a:p>
        </p:txBody>
      </p:sp>
      <p:sp>
        <p:nvSpPr>
          <p:cNvPr id="18" name="Shape 16"/>
          <p:cNvSpPr/>
          <p:nvPr/>
        </p:nvSpPr>
        <p:spPr>
          <a:xfrm>
            <a:off x="548640" y="3255264"/>
            <a:ext cx="11064240" cy="603504"/>
          </a:xfrm>
          <a:prstGeom prst="roundRect">
            <a:avLst>
              <a:gd name="adj" fmla="val 7576"/>
            </a:avLst>
          </a:prstGeom>
          <a:solidFill>
            <a:srgbClr val="15171B"/>
          </a:solidFill>
          <a:ln w="12700">
            <a:solidFill>
              <a:srgbClr val="15171B"/>
            </a:solidFill>
            <a:prstDash val="solid"/>
          </a:ln>
        </p:spPr>
      </p:sp>
      <p:sp>
        <p:nvSpPr>
          <p:cNvPr id="19" name="Text 17"/>
          <p:cNvSpPr/>
          <p:nvPr/>
        </p:nvSpPr>
        <p:spPr>
          <a:xfrm>
            <a:off x="822960" y="3429000"/>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Manual per-item</a:t>
            </a:r>
            <a:endParaRPr lang="en-US" sz="1150" dirty="0"/>
          </a:p>
        </p:txBody>
      </p:sp>
      <p:sp>
        <p:nvSpPr>
          <p:cNvPr id="20" name="Text 18"/>
          <p:cNvSpPr/>
          <p:nvPr/>
        </p:nvSpPr>
        <p:spPr>
          <a:xfrm>
            <a:off x="3474720" y="3429000"/>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Only the items you import yourself</a:t>
            </a:r>
            <a:endParaRPr lang="en-US" sz="1050" dirty="0"/>
          </a:p>
        </p:txBody>
      </p:sp>
      <p:sp>
        <p:nvSpPr>
          <p:cNvPr id="21" name="Text 19"/>
          <p:cNvSpPr/>
          <p:nvPr/>
        </p:nvSpPr>
        <p:spPr>
          <a:xfrm>
            <a:off x="7772400" y="3429000"/>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22" name="Text 20"/>
          <p:cNvSpPr/>
          <p:nvPr/>
        </p:nvSpPr>
        <p:spPr>
          <a:xfrm>
            <a:off x="8869680" y="3429000"/>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Partial adoption</a:t>
            </a:r>
            <a:endParaRPr lang="en-US" sz="1050" dirty="0"/>
          </a:p>
        </p:txBody>
      </p:sp>
      <p:sp>
        <p:nvSpPr>
          <p:cNvPr id="23" name="Shape 21"/>
          <p:cNvSpPr/>
          <p:nvPr/>
        </p:nvSpPr>
        <p:spPr>
          <a:xfrm>
            <a:off x="548640" y="4197096"/>
            <a:ext cx="11064240" cy="896112"/>
          </a:xfrm>
          <a:prstGeom prst="roundRect">
            <a:avLst>
              <a:gd name="adj" fmla="val 5102"/>
            </a:avLst>
          </a:prstGeom>
          <a:solidFill>
            <a:srgbClr val="1C2026"/>
          </a:solidFill>
          <a:ln w="12700">
            <a:solidFill>
              <a:srgbClr val="1C2026"/>
            </a:solidFill>
            <a:prstDash val="solid"/>
          </a:ln>
        </p:spPr>
      </p:sp>
      <p:sp>
        <p:nvSpPr>
          <p:cNvPr id="24" name="Shape 22"/>
          <p:cNvSpPr/>
          <p:nvPr/>
        </p:nvSpPr>
        <p:spPr>
          <a:xfrm>
            <a:off x="804672" y="4471416"/>
            <a:ext cx="310896" cy="310896"/>
          </a:xfrm>
          <a:prstGeom prst="roundRect">
            <a:avLst>
              <a:gd name="adj" fmla="val 26471"/>
            </a:avLst>
          </a:prstGeom>
          <a:solidFill>
            <a:srgbClr val="F5A524"/>
          </a:solidFill>
          <a:ln w="12700">
            <a:solidFill>
              <a:srgbClr val="F5A524"/>
            </a:solidFill>
            <a:prstDash val="solid"/>
          </a:ln>
        </p:spPr>
      </p:sp>
      <p:sp>
        <p:nvSpPr>
          <p:cNvPr id="25" name="Text 23"/>
          <p:cNvSpPr/>
          <p:nvPr/>
        </p:nvSpPr>
        <p:spPr>
          <a:xfrm>
            <a:off x="804672" y="4471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p:cNvSpPr/>
          <p:nvPr/>
        </p:nvSpPr>
        <p:spPr>
          <a:xfrm>
            <a:off x="1298448" y="4361688"/>
            <a:ext cx="996696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pre-built zip was built for a different marketplace target: inside it the collector flag is isfetchevents: false, and it ships no parsing or modeling rules. Upload it to XSIAM and the commands work, but koi_koi_raw stays empty forever. Event collection needs a demisto-sdk --xsiam upload.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Full pack with demisto-sdk</a:t>
            </a:r>
            <a:endParaRPr lang="en-US" sz="3100" dirty="0"/>
          </a:p>
        </p:txBody>
      </p:sp>
      <p:sp>
        <p:nvSpPr>
          <p:cNvPr id="4" name="Shape 2"/>
          <p:cNvSpPr/>
          <p:nvPr/>
        </p:nvSpPr>
        <p:spPr>
          <a:xfrm>
            <a:off x="548640" y="1444752"/>
            <a:ext cx="6400800" cy="4160520"/>
          </a:xfrm>
          <a:prstGeom prst="roundRect">
            <a:avLst>
              <a:gd name="adj" fmla="val 1099"/>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Install the SDK — 1.38+, older versions reject the platform marketplace.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pip3 install demisto-sdk</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Place the pack at Packs/Koi inside a content-repo scaffold.</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Packs/ApiModules/Scripts/ContentClientApiModule/ from demisto/content.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Point the SDK at the tenant:</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DEMISTO_BASE_URL=https://api-&lt;tenant&gt;...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DEMISTO_API_KEY=&lt;standard-key&gt;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XSIAM_AUTH_ID=&lt;key-id&gt;</a:t>
            </a:r>
            <a:endParaRPr lang="en-US" sz="1050" dirty="0"/>
          </a:p>
        </p:txBody>
      </p:sp>
      <p:sp>
        <p:nvSpPr>
          <p:cNvPr id="22" name="Text 20"/>
          <p:cNvSpPr/>
          <p:nvPr/>
        </p:nvSpPr>
        <p:spPr>
          <a:xfrm>
            <a:off x="859536" y="46817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9</a:t>
            </a:r>
            <a:endParaRPr lang="en-US" sz="1150" dirty="0"/>
          </a:p>
        </p:txBody>
      </p:sp>
      <p:sp>
        <p:nvSpPr>
          <p:cNvPr id="23" name="Text 21"/>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demisto-sdk upload -i Packs/Koi -z --xsiam</a:t>
            </a:r>
            <a:endParaRPr lang="en-US" sz="1050" dirty="0"/>
          </a:p>
        </p:txBody>
      </p:sp>
      <p:sp>
        <p:nvSpPr>
          <p:cNvPr id="24" name="Shape 22"/>
          <p:cNvSpPr/>
          <p:nvPr/>
        </p:nvSpPr>
        <p:spPr>
          <a:xfrm>
            <a:off x="7315200" y="1444752"/>
            <a:ext cx="4297680" cy="4160520"/>
          </a:xfrm>
          <a:prstGeom prst="roundRect">
            <a:avLst>
              <a:gd name="adj" fmla="val 1099"/>
            </a:avLst>
          </a:prstGeom>
          <a:solidFill>
            <a:srgbClr val="1C2026"/>
          </a:solidFill>
          <a:ln w="12700">
            <a:solidFill>
              <a:srgbClr val="1C2026"/>
            </a:solidFill>
            <a:prstDash val="solid"/>
          </a:ln>
        </p:spPr>
      </p:sp>
      <p:sp>
        <p:nvSpPr>
          <p:cNvPr id="25" name="Text 2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6" name="Text 2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appears on the tenant at its version.</a:t>
            </a:r>
            <a:endParaRPr lang="en-US" sz="1150" dirty="0"/>
          </a:p>
        </p:txBody>
      </p:sp>
      <p:sp>
        <p:nvSpPr>
          <p:cNvPr id="28" name="Text 2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Integration, playbooks, rules and dashboard all land together.</a:t>
            </a:r>
            <a:endParaRPr lang="en-US" sz="1150" dirty="0"/>
          </a:p>
        </p:txBody>
      </p:sp>
      <p:sp>
        <p:nvSpPr>
          <p:cNvPr id="30" name="Text 28"/>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is available on the instance.</a:t>
            </a:r>
            <a:endParaRPr lang="en-US" sz="1150" dirty="0"/>
          </a:p>
        </p:txBody>
      </p:sp>
      <p:sp>
        <p:nvSpPr>
          <p:cNvPr id="32" name="Shape 30"/>
          <p:cNvSpPr/>
          <p:nvPr/>
        </p:nvSpPr>
        <p:spPr>
          <a:xfrm>
            <a:off x="548640" y="5715000"/>
            <a:ext cx="11064240" cy="777240"/>
          </a:xfrm>
          <a:prstGeom prst="roundRect">
            <a:avLst>
              <a:gd name="adj" fmla="val 5882"/>
            </a:avLst>
          </a:prstGeom>
          <a:solidFill>
            <a:srgbClr val="1C2026"/>
          </a:solidFill>
          <a:ln w="12700">
            <a:solidFill>
              <a:srgbClr val="1C2026"/>
            </a:solidFill>
            <a:prstDash val="solid"/>
          </a:ln>
        </p:spPr>
      </p:sp>
      <p:sp>
        <p:nvSpPr>
          <p:cNvPr id="33" name="Shape 31"/>
          <p:cNvSpPr/>
          <p:nvPr/>
        </p:nvSpPr>
        <p:spPr>
          <a:xfrm>
            <a:off x="804672" y="5943600"/>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9436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833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SDK sends the API key as-is, so it works only with a Standard XSIAM key. With an Advanced key the SDK cannot connect — build with zip-packs and POST the artifact to /xsoar/contentpacks/installed/upload with signed headers instead.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only — the minimal import</a:t>
            </a:r>
            <a:endParaRPr lang="en-US" sz="3100" dirty="0"/>
          </a:p>
        </p:txBody>
      </p:sp>
      <p:sp>
        <p:nvSpPr>
          <p:cNvPr id="4" name="Text 2"/>
          <p:cNvSpPr/>
          <p:nvPr/>
        </p:nvSpPr>
        <p:spPr>
          <a:xfrm>
            <a:off x="548640" y="1298448"/>
            <a:ext cx="950976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To run KOI scripts from an XSIAM Job and nothing else, import these four items by hand. Nothing else in the pack is required.</a:t>
            </a:r>
            <a:endParaRPr lang="en-US" sz="1250" dirty="0"/>
          </a:p>
        </p:txBody>
      </p:sp>
      <p:sp>
        <p:nvSpPr>
          <p:cNvPr id="5" name="Shape 3"/>
          <p:cNvSpPr/>
          <p:nvPr/>
        </p:nvSpPr>
        <p:spPr>
          <a:xfrm>
            <a:off x="548640" y="1737360"/>
            <a:ext cx="11064240" cy="768096"/>
          </a:xfrm>
          <a:prstGeom prst="roundRect">
            <a:avLst>
              <a:gd name="adj" fmla="val 5952"/>
            </a:avLst>
          </a:prstGeom>
          <a:solidFill>
            <a:srgbClr val="15171B"/>
          </a:solidFill>
          <a:ln w="12700">
            <a:solidFill>
              <a:srgbClr val="15171B"/>
            </a:solidFill>
            <a:prstDash val="solid"/>
          </a:ln>
        </p:spPr>
      </p:sp>
      <p:sp>
        <p:nvSpPr>
          <p:cNvPr id="6" name="Shape 4"/>
          <p:cNvSpPr/>
          <p:nvPr/>
        </p:nvSpPr>
        <p:spPr>
          <a:xfrm>
            <a:off x="804672" y="1956816"/>
            <a:ext cx="310896" cy="310896"/>
          </a:xfrm>
          <a:prstGeom prst="roundRect">
            <a:avLst>
              <a:gd name="adj" fmla="val 26471"/>
            </a:avLst>
          </a:prstGeom>
          <a:solidFill>
            <a:srgbClr val="22D3EE"/>
          </a:solidFill>
          <a:ln w="12700">
            <a:solidFill>
              <a:srgbClr val="22D3EE"/>
            </a:solidFill>
            <a:prstDash val="solid"/>
          </a:ln>
        </p:spPr>
      </p:sp>
      <p:sp>
        <p:nvSpPr>
          <p:cNvPr id="7" name="Text 5"/>
          <p:cNvSpPr/>
          <p:nvPr/>
        </p:nvSpPr>
        <p:spPr>
          <a:xfrm>
            <a:off x="804672"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98448" y="1883664"/>
            <a:ext cx="4023360"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Unified - Execute Endpoint Script</a:t>
            </a:r>
            <a:endParaRPr lang="en-US" sz="1200" dirty="0"/>
          </a:p>
        </p:txBody>
      </p:sp>
      <p:sp>
        <p:nvSpPr>
          <p:cNvPr id="9" name="Text 7"/>
          <p:cNvSpPr/>
          <p:nvPr/>
        </p:nvSpPr>
        <p:spPr>
          <a:xfrm>
            <a:off x="1298448" y="2157984"/>
            <a:ext cx="402336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Playbooks → Import</a:t>
            </a:r>
            <a:endParaRPr lang="en-US" sz="1000" dirty="0"/>
          </a:p>
        </p:txBody>
      </p:sp>
      <p:sp>
        <p:nvSpPr>
          <p:cNvPr id="10" name="Text 8"/>
          <p:cNvSpPr/>
          <p:nvPr/>
        </p:nvSpPr>
        <p:spPr>
          <a:xfrm>
            <a:off x="5577840" y="1993392"/>
            <a:ext cx="57607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first — the others reference it by name.</a:t>
            </a:r>
            <a:endParaRPr lang="en-US" sz="1050" dirty="0"/>
          </a:p>
        </p:txBody>
      </p:sp>
      <p:sp>
        <p:nvSpPr>
          <p:cNvPr id="11" name="Shape 9"/>
          <p:cNvSpPr/>
          <p:nvPr/>
        </p:nvSpPr>
        <p:spPr>
          <a:xfrm>
            <a:off x="548640" y="2651760"/>
            <a:ext cx="11064240" cy="768096"/>
          </a:xfrm>
          <a:prstGeom prst="roundRect">
            <a:avLst>
              <a:gd name="adj" fmla="val 5952"/>
            </a:avLst>
          </a:prstGeom>
          <a:solidFill>
            <a:srgbClr val="15171B"/>
          </a:solidFill>
          <a:ln w="12700">
            <a:solidFill>
              <a:srgbClr val="15171B"/>
            </a:solidFill>
            <a:prstDash val="solid"/>
          </a:ln>
        </p:spPr>
      </p:sp>
      <p:sp>
        <p:nvSpPr>
          <p:cNvPr id="12" name="Shape 10"/>
          <p:cNvSpPr/>
          <p:nvPr/>
        </p:nvSpPr>
        <p:spPr>
          <a:xfrm>
            <a:off x="804672" y="2871216"/>
            <a:ext cx="310896" cy="310896"/>
          </a:xfrm>
          <a:prstGeom prst="roundRect">
            <a:avLst>
              <a:gd name="adj" fmla="val 26471"/>
            </a:avLst>
          </a:prstGeom>
          <a:solidFill>
            <a:srgbClr val="22D3EE"/>
          </a:solidFill>
          <a:ln w="12700">
            <a:solidFill>
              <a:srgbClr val="22D3EE"/>
            </a:solidFill>
            <a:prstDash val="solid"/>
          </a:ln>
        </p:spPr>
      </p:sp>
      <p:sp>
        <p:nvSpPr>
          <p:cNvPr id="13" name="Text 11"/>
          <p:cNvSpPr/>
          <p:nvPr/>
        </p:nvSpPr>
        <p:spPr>
          <a:xfrm>
            <a:off x="804672" y="2871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298448" y="2798064"/>
            <a:ext cx="4023360"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Unified - Process Config Entry</a:t>
            </a:r>
            <a:endParaRPr lang="en-US" sz="1200" dirty="0"/>
          </a:p>
        </p:txBody>
      </p:sp>
      <p:sp>
        <p:nvSpPr>
          <p:cNvPr id="15" name="Text 13"/>
          <p:cNvSpPr/>
          <p:nvPr/>
        </p:nvSpPr>
        <p:spPr>
          <a:xfrm>
            <a:off x="1298448" y="3072384"/>
            <a:ext cx="402336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Playbooks → Import</a:t>
            </a:r>
            <a:endParaRPr lang="en-US" sz="1000" dirty="0"/>
          </a:p>
        </p:txBody>
      </p:sp>
      <p:sp>
        <p:nvSpPr>
          <p:cNvPr id="16" name="Text 14"/>
          <p:cNvSpPr/>
          <p:nvPr/>
        </p:nvSpPr>
        <p:spPr>
          <a:xfrm>
            <a:off x="5577840" y="2907792"/>
            <a:ext cx="57607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second — calls the executor above.</a:t>
            </a:r>
            <a:endParaRPr lang="en-US" sz="1050" dirty="0"/>
          </a:p>
        </p:txBody>
      </p:sp>
      <p:sp>
        <p:nvSpPr>
          <p:cNvPr id="17" name="Shape 15"/>
          <p:cNvSpPr/>
          <p:nvPr/>
        </p:nvSpPr>
        <p:spPr>
          <a:xfrm>
            <a:off x="548640" y="3566160"/>
            <a:ext cx="11064240" cy="768096"/>
          </a:xfrm>
          <a:prstGeom prst="roundRect">
            <a:avLst>
              <a:gd name="adj" fmla="val 5952"/>
            </a:avLst>
          </a:prstGeom>
          <a:solidFill>
            <a:srgbClr val="15171B"/>
          </a:solidFill>
          <a:ln w="12700">
            <a:solidFill>
              <a:srgbClr val="15171B"/>
            </a:solidFill>
            <a:prstDash val="solid"/>
          </a:ln>
        </p:spPr>
      </p:sp>
      <p:sp>
        <p:nvSpPr>
          <p:cNvPr id="18" name="Shape 16"/>
          <p:cNvSpPr/>
          <p:nvPr/>
        </p:nvSpPr>
        <p:spPr>
          <a:xfrm>
            <a:off x="804672" y="3785616"/>
            <a:ext cx="310896" cy="310896"/>
          </a:xfrm>
          <a:prstGeom prst="roundRect">
            <a:avLst>
              <a:gd name="adj" fmla="val 26471"/>
            </a:avLst>
          </a:prstGeom>
          <a:solidFill>
            <a:srgbClr val="22D3EE"/>
          </a:solidFill>
          <a:ln w="12700">
            <a:solidFill>
              <a:srgbClr val="22D3EE"/>
            </a:solidFill>
            <a:prstDash val="solid"/>
          </a:ln>
        </p:spPr>
      </p:sp>
      <p:sp>
        <p:nvSpPr>
          <p:cNvPr id="19" name="Text 17"/>
          <p:cNvSpPr/>
          <p:nvPr/>
        </p:nvSpPr>
        <p:spPr>
          <a:xfrm>
            <a:off x="804672"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298448" y="3712464"/>
            <a:ext cx="4023360"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Unified - Script Runner</a:t>
            </a:r>
            <a:endParaRPr lang="en-US" sz="1200" dirty="0"/>
          </a:p>
        </p:txBody>
      </p:sp>
      <p:sp>
        <p:nvSpPr>
          <p:cNvPr id="21" name="Text 19"/>
          <p:cNvSpPr/>
          <p:nvPr/>
        </p:nvSpPr>
        <p:spPr>
          <a:xfrm>
            <a:off x="1298448" y="3986784"/>
            <a:ext cx="402336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Playbooks → Import</a:t>
            </a:r>
            <a:endParaRPr lang="en-US" sz="1000" dirty="0"/>
          </a:p>
        </p:txBody>
      </p:sp>
      <p:sp>
        <p:nvSpPr>
          <p:cNvPr id="22" name="Text 20"/>
          <p:cNvSpPr/>
          <p:nvPr/>
        </p:nvSpPr>
        <p:spPr>
          <a:xfrm>
            <a:off x="5577840" y="3822192"/>
            <a:ext cx="57607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third — the Job entry point.</a:t>
            </a:r>
            <a:endParaRPr lang="en-US" sz="1050" dirty="0"/>
          </a:p>
        </p:txBody>
      </p:sp>
      <p:sp>
        <p:nvSpPr>
          <p:cNvPr id="23" name="Shape 21"/>
          <p:cNvSpPr/>
          <p:nvPr/>
        </p:nvSpPr>
        <p:spPr>
          <a:xfrm>
            <a:off x="548640" y="4480560"/>
            <a:ext cx="11064240" cy="768096"/>
          </a:xfrm>
          <a:prstGeom prst="roundRect">
            <a:avLst>
              <a:gd name="adj" fmla="val 5952"/>
            </a:avLst>
          </a:prstGeom>
          <a:solidFill>
            <a:srgbClr val="15171B"/>
          </a:solidFill>
          <a:ln w="12700">
            <a:solidFill>
              <a:srgbClr val="15171B"/>
            </a:solidFill>
            <a:prstDash val="solid"/>
          </a:ln>
        </p:spPr>
      </p:sp>
      <p:sp>
        <p:nvSpPr>
          <p:cNvPr id="24" name="Shape 22"/>
          <p:cNvSpPr/>
          <p:nvPr/>
        </p:nvSpPr>
        <p:spPr>
          <a:xfrm>
            <a:off x="804672" y="4700016"/>
            <a:ext cx="310896" cy="310896"/>
          </a:xfrm>
          <a:prstGeom prst="roundRect">
            <a:avLst>
              <a:gd name="adj" fmla="val 26471"/>
            </a:avLst>
          </a:prstGeom>
          <a:solidFill>
            <a:srgbClr val="E8551F"/>
          </a:solidFill>
          <a:ln w="12700">
            <a:solidFill>
              <a:srgbClr val="E8551F"/>
            </a:solidFill>
            <a:prstDash val="solid"/>
          </a:ln>
        </p:spPr>
      </p:sp>
      <p:sp>
        <p:nvSpPr>
          <p:cNvPr id="25" name="Text 23"/>
          <p:cNvSpPr/>
          <p:nvPr/>
        </p:nvSpPr>
        <p:spPr>
          <a:xfrm>
            <a:off x="804672" y="47000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298448" y="4626864"/>
            <a:ext cx="4023360"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Script Runner</a:t>
            </a:r>
            <a:endParaRPr lang="en-US" sz="1200" dirty="0"/>
          </a:p>
        </p:txBody>
      </p:sp>
      <p:sp>
        <p:nvSpPr>
          <p:cNvPr id="27" name="Text 25"/>
          <p:cNvSpPr/>
          <p:nvPr/>
        </p:nvSpPr>
        <p:spPr>
          <a:xfrm>
            <a:off x="1298448" y="4901184"/>
            <a:ext cx="402336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Object Setup → Lists, type JSON</a:t>
            </a:r>
            <a:endParaRPr lang="en-US" sz="1000" dirty="0"/>
          </a:p>
        </p:txBody>
      </p:sp>
      <p:sp>
        <p:nvSpPr>
          <p:cNvPr id="28" name="Text 26"/>
          <p:cNvSpPr/>
          <p:nvPr/>
        </p:nvSpPr>
        <p:spPr>
          <a:xfrm>
            <a:off x="5577840" y="4736592"/>
            <a:ext cx="57607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configuration array. Name must be exact.</a:t>
            </a:r>
            <a:endParaRPr lang="en-US" sz="1050" dirty="0"/>
          </a:p>
        </p:txBody>
      </p:sp>
      <p:sp>
        <p:nvSpPr>
          <p:cNvPr id="29" name="Shape 27"/>
          <p:cNvSpPr/>
          <p:nvPr/>
        </p:nvSpPr>
        <p:spPr>
          <a:xfrm>
            <a:off x="548640" y="5413248"/>
            <a:ext cx="11064240" cy="969264"/>
          </a:xfrm>
          <a:prstGeom prst="roundRect">
            <a:avLst>
              <a:gd name="adj" fmla="val 4717"/>
            </a:avLst>
          </a:prstGeom>
          <a:solidFill>
            <a:srgbClr val="1C2026"/>
          </a:solidFill>
          <a:ln w="12700">
            <a:solidFill>
              <a:srgbClr val="1C2026"/>
            </a:solidFill>
            <a:prstDash val="solid"/>
          </a:ln>
        </p:spPr>
      </p:sp>
      <p:sp>
        <p:nvSpPr>
          <p:cNvPr id="30" name="Text 28"/>
          <p:cNvSpPr/>
          <p:nvPr/>
        </p:nvSpPr>
        <p:spPr>
          <a:xfrm>
            <a:off x="841248" y="5541264"/>
            <a:ext cx="3108960"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Then create the Job</a:t>
            </a:r>
            <a:endParaRPr lang="en-US" sz="1150" dirty="0"/>
          </a:p>
        </p:txBody>
      </p:sp>
      <p:sp>
        <p:nvSpPr>
          <p:cNvPr id="31" name="Text 29"/>
          <p:cNvSpPr/>
          <p:nvPr/>
        </p:nvSpPr>
        <p:spPr>
          <a:xfrm>
            <a:off x="841248" y="5833872"/>
            <a:ext cx="10479024"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Automation → Jobs → New Job, Time-triggered, playbook Koi Unified - Script Runner. You do NOT need the KOI integration, an API key, the parsing or modeling rules, the dashboard, or any of the seven KOI triage playbooks — the Script Runner set calls no KOI API command.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Names that must match exactly</a:t>
            </a:r>
            <a:endParaRPr lang="en-US" sz="3100" dirty="0"/>
          </a:p>
        </p:txBody>
      </p:sp>
      <p:sp>
        <p:nvSpPr>
          <p:cNvPr id="4" name="Text 2"/>
          <p:cNvSpPr/>
          <p:nvPr/>
        </p:nvSpPr>
        <p:spPr>
          <a:xfrm>
            <a:off x="548640" y="1298448"/>
            <a:ext cx="969264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Everything below binds by name at run time. A mismatch does not raise a config error — it fails or silently skips at the next run.</a:t>
            </a:r>
            <a:endParaRPr lang="en-US" sz="1250" dirty="0"/>
          </a:p>
        </p:txBody>
      </p:sp>
      <p:sp>
        <p:nvSpPr>
          <p:cNvPr id="5" name="Text 3"/>
          <p:cNvSpPr/>
          <p:nvPr/>
        </p:nvSpPr>
        <p:spPr>
          <a:xfrm>
            <a:off x="822960" y="1737360"/>
            <a:ext cx="3291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Name or key</a:t>
            </a:r>
            <a:endParaRPr lang="en-US" sz="1050" dirty="0"/>
          </a:p>
        </p:txBody>
      </p:sp>
      <p:sp>
        <p:nvSpPr>
          <p:cNvPr id="6" name="Text 4"/>
          <p:cNvSpPr/>
          <p:nvPr/>
        </p:nvSpPr>
        <p:spPr>
          <a:xfrm>
            <a:off x="4297680" y="1737360"/>
            <a:ext cx="32004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Must match</a:t>
            </a:r>
            <a:endParaRPr lang="en-US" sz="1050" dirty="0"/>
          </a:p>
        </p:txBody>
      </p:sp>
      <p:sp>
        <p:nvSpPr>
          <p:cNvPr id="7" name="Text 5"/>
          <p:cNvSpPr/>
          <p:nvPr/>
        </p:nvSpPr>
        <p:spPr>
          <a:xfrm>
            <a:off x="7680960" y="1737360"/>
            <a:ext cx="36576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If it does not</a:t>
            </a:r>
            <a:endParaRPr lang="en-US" sz="1050" dirty="0"/>
          </a:p>
        </p:txBody>
      </p:sp>
      <p:sp>
        <p:nvSpPr>
          <p:cNvPr id="8" name="Shape 6"/>
          <p:cNvSpPr/>
          <p:nvPr/>
        </p:nvSpPr>
        <p:spPr>
          <a:xfrm>
            <a:off x="548640" y="2048256"/>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19456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0" name="Text 8"/>
          <p:cNvSpPr/>
          <p:nvPr/>
        </p:nvSpPr>
        <p:spPr>
          <a:xfrm>
            <a:off x="4297680" y="219456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JSON List name, character for character</a:t>
            </a:r>
            <a:endParaRPr lang="en-US" sz="1050" dirty="0"/>
          </a:p>
        </p:txBody>
      </p:sp>
      <p:sp>
        <p:nvSpPr>
          <p:cNvPr id="11" name="Text 9"/>
          <p:cNvSpPr/>
          <p:nvPr/>
        </p:nvSpPr>
        <p:spPr>
          <a:xfrm>
            <a:off x="7680960" y="219456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Job runs, does nothing, prints "no valid configuration found"</a:t>
            </a:r>
            <a:endParaRPr lang="en-US" sz="1050" dirty="0"/>
          </a:p>
        </p:txBody>
      </p:sp>
      <p:sp>
        <p:nvSpPr>
          <p:cNvPr id="12" name="Shape 10"/>
          <p:cNvSpPr/>
          <p:nvPr/>
        </p:nvSpPr>
        <p:spPr>
          <a:xfrm>
            <a:off x="548640" y="2624328"/>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77063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script.name</a:t>
            </a:r>
            <a:endParaRPr lang="en-US" sz="1050" dirty="0"/>
          </a:p>
        </p:txBody>
      </p:sp>
      <p:sp>
        <p:nvSpPr>
          <p:cNvPr id="14" name="Text 12"/>
          <p:cNvSpPr/>
          <p:nvPr/>
        </p:nvSpPr>
        <p:spPr>
          <a:xfrm>
            <a:off x="4297680" y="277063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script in Action Center → Scripts Library</a:t>
            </a:r>
            <a:endParaRPr lang="en-US" sz="1050" dirty="0"/>
          </a:p>
        </p:txBody>
      </p:sp>
      <p:sp>
        <p:nvSpPr>
          <p:cNvPr id="15" name="Text 13"/>
          <p:cNvSpPr/>
          <p:nvPr/>
        </p:nvSpPr>
        <p:spPr>
          <a:xfrm>
            <a:off x="7680960" y="277063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Fails: "script name was not found in the library"</a:t>
            </a:r>
            <a:endParaRPr lang="en-US" sz="1050" dirty="0"/>
          </a:p>
        </p:txBody>
      </p:sp>
      <p:sp>
        <p:nvSpPr>
          <p:cNvPr id="16" name="Shape 14"/>
          <p:cNvSpPr/>
          <p:nvPr/>
        </p:nvSpPr>
        <p:spPr>
          <a:xfrm>
            <a:off x="548640" y="3200400"/>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346704"/>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script.uuid</a:t>
            </a:r>
            <a:endParaRPr lang="en-US" sz="1050" dirty="0"/>
          </a:p>
        </p:txBody>
      </p:sp>
      <p:sp>
        <p:nvSpPr>
          <p:cNvPr id="18" name="Text 16"/>
          <p:cNvSpPr/>
          <p:nvPr/>
        </p:nvSpPr>
        <p:spPr>
          <a:xfrm>
            <a:off x="4297680" y="3346704"/>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Optional. Wins over script.name when set</a:t>
            </a:r>
            <a:endParaRPr lang="en-US" sz="1050" dirty="0"/>
          </a:p>
        </p:txBody>
      </p:sp>
      <p:sp>
        <p:nvSpPr>
          <p:cNvPr id="19" name="Text 17"/>
          <p:cNvSpPr/>
          <p:nvPr/>
        </p:nvSpPr>
        <p:spPr>
          <a:xfrm>
            <a:off x="7680960" y="3346704"/>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Two library entries with one name fail as "multiple scripts matched"</a:t>
            </a:r>
            <a:endParaRPr lang="en-US" sz="1050" dirty="0"/>
          </a:p>
        </p:txBody>
      </p:sp>
      <p:sp>
        <p:nvSpPr>
          <p:cNvPr id="20" name="Shape 18"/>
          <p:cNvSpPr/>
          <p:nvPr/>
        </p:nvSpPr>
        <p:spPr>
          <a:xfrm>
            <a:off x="548640" y="3776472"/>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3922776"/>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target.endpoint_groups</a:t>
            </a:r>
            <a:endParaRPr lang="en-US" sz="1050" dirty="0"/>
          </a:p>
        </p:txBody>
      </p:sp>
      <p:sp>
        <p:nvSpPr>
          <p:cNvPr id="22" name="Text 20"/>
          <p:cNvSpPr/>
          <p:nvPr/>
        </p:nvSpPr>
        <p:spPr>
          <a:xfrm>
            <a:off x="4297680" y="3922776"/>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existing endpoint group with agents in it</a:t>
            </a:r>
            <a:endParaRPr lang="en-US" sz="1050" dirty="0"/>
          </a:p>
        </p:txBody>
      </p:sp>
      <p:sp>
        <p:nvSpPr>
          <p:cNvPr id="23" name="Text 21"/>
          <p:cNvSpPr/>
          <p:nvPr/>
        </p:nvSpPr>
        <p:spPr>
          <a:xfrm>
            <a:off x="7680960" y="3922776"/>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SKIPPED — an info entry, no failure email</a:t>
            </a:r>
            <a:endParaRPr lang="en-US" sz="1050" dirty="0"/>
          </a:p>
        </p:txBody>
      </p:sp>
      <p:sp>
        <p:nvSpPr>
          <p:cNvPr id="24" name="Shape 22"/>
          <p:cNvSpPr/>
          <p:nvPr/>
        </p:nvSpPr>
        <p:spPr>
          <a:xfrm>
            <a:off x="548640" y="4352544"/>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498848"/>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target.endpoint_os</a:t>
            </a:r>
            <a:endParaRPr lang="en-US" sz="1050" dirty="0"/>
          </a:p>
        </p:txBody>
      </p:sp>
      <p:sp>
        <p:nvSpPr>
          <p:cNvPr id="26" name="Text 24"/>
          <p:cNvSpPr/>
          <p:nvPr/>
        </p:nvSpPr>
        <p:spPr>
          <a:xfrm>
            <a:off x="4297680" y="4498848"/>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Windows, macOS or Linux</a:t>
            </a:r>
            <a:endParaRPr lang="en-US" sz="1050" dirty="0"/>
          </a:p>
        </p:txBody>
      </p:sp>
      <p:sp>
        <p:nvSpPr>
          <p:cNvPr id="27" name="Text 25"/>
          <p:cNvSpPr/>
          <p:nvPr/>
        </p:nvSpPr>
        <p:spPr>
          <a:xfrm>
            <a:off x="7680960" y="4498848"/>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reported invalid and skipped</a:t>
            </a:r>
            <a:endParaRPr lang="en-US" sz="1050" dirty="0"/>
          </a:p>
        </p:txBody>
      </p:sp>
      <p:sp>
        <p:nvSpPr>
          <p:cNvPr id="28" name="Shape 26"/>
          <p:cNvSpPr/>
          <p:nvPr/>
        </p:nvSpPr>
        <p:spPr>
          <a:xfrm>
            <a:off x="548640" y="4928616"/>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07492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sendmail_instance.name</a:t>
            </a:r>
            <a:endParaRPr lang="en-US" sz="1050" dirty="0"/>
          </a:p>
        </p:txBody>
      </p:sp>
      <p:sp>
        <p:nvSpPr>
          <p:cNvPr id="30" name="Text 28"/>
          <p:cNvSpPr/>
          <p:nvPr/>
        </p:nvSpPr>
        <p:spPr>
          <a:xfrm>
            <a:off x="4297680" y="507492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enabled mail instance, if notifications are on</a:t>
            </a:r>
            <a:endParaRPr lang="en-US" sz="1050" dirty="0"/>
          </a:p>
        </p:txBody>
      </p:sp>
      <p:sp>
        <p:nvSpPr>
          <p:cNvPr id="31" name="Text 29"/>
          <p:cNvSpPr/>
          <p:nvPr/>
        </p:nvSpPr>
        <p:spPr>
          <a:xfrm>
            <a:off x="7680960" y="507492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Notification step fails</a:t>
            </a:r>
            <a:endParaRPr lang="en-US" sz="1050" dirty="0"/>
          </a:p>
        </p:txBody>
      </p:sp>
      <p:sp>
        <p:nvSpPr>
          <p:cNvPr id="32" name="Shape 30"/>
          <p:cNvSpPr/>
          <p:nvPr/>
        </p:nvSpPr>
        <p:spPr>
          <a:xfrm>
            <a:off x="548640" y="5504688"/>
            <a:ext cx="11064240" cy="493776"/>
          </a:xfrm>
          <a:prstGeom prst="roundRect">
            <a:avLst>
              <a:gd name="adj" fmla="val 9259"/>
            </a:avLst>
          </a:prstGeom>
          <a:solidFill>
            <a:srgbClr val="15171B"/>
          </a:solidFill>
          <a:ln w="12700">
            <a:solidFill>
              <a:srgbClr val="15171B"/>
            </a:solidFill>
            <a:prstDash val="solid"/>
          </a:ln>
        </p:spPr>
      </p:sp>
      <p:sp>
        <p:nvSpPr>
          <p:cNvPr id="33" name="Text 31"/>
          <p:cNvSpPr/>
          <p:nvPr/>
        </p:nvSpPr>
        <p:spPr>
          <a:xfrm>
            <a:off x="822960" y="565099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Sub-playbook names</a:t>
            </a:r>
            <a:endParaRPr lang="en-US" sz="1050" dirty="0"/>
          </a:p>
        </p:txBody>
      </p:sp>
      <p:sp>
        <p:nvSpPr>
          <p:cNvPr id="34" name="Text 32"/>
          <p:cNvSpPr/>
          <p:nvPr/>
        </p:nvSpPr>
        <p:spPr>
          <a:xfrm>
            <a:off x="4297680" y="565099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KOI - / Koi Unified - names, unrenamed</a:t>
            </a:r>
            <a:endParaRPr lang="en-US" sz="1050" dirty="0"/>
          </a:p>
        </p:txBody>
      </p:sp>
      <p:sp>
        <p:nvSpPr>
          <p:cNvPr id="35" name="Text 33"/>
          <p:cNvSpPr/>
          <p:nvPr/>
        </p:nvSpPr>
        <p:spPr>
          <a:xfrm>
            <a:off x="7680960" y="565099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Parent cannot resolve the sub-playbook</a:t>
            </a:r>
            <a:endParaRPr lang="en-US" sz="1050" dirty="0"/>
          </a:p>
        </p:txBody>
      </p:sp>
      <p:sp>
        <p:nvSpPr>
          <p:cNvPr id="36" name="Text 34"/>
          <p:cNvSpPr/>
          <p:nvPr/>
        </p:nvSpPr>
        <p:spPr>
          <a:xfrm>
            <a:off x="548640" y="6089904"/>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List name is fixed in the playbook task — the platform cannot parameterise ${lists.&lt;name&gt;}. To use another name you must edit the task.</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Koi Script Runner List</a:t>
            </a:r>
            <a:endParaRPr lang="en-US" sz="3100" dirty="0"/>
          </a:p>
        </p:txBody>
      </p:sp>
      <p:sp>
        <p:nvSpPr>
          <p:cNvPr id="4" name="Text 2"/>
          <p:cNvSpPr/>
          <p:nvPr/>
        </p:nvSpPr>
        <p:spPr>
          <a:xfrm>
            <a:off x="548640" y="1298448"/>
            <a:ext cx="1024128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List is the entire configuration surface for the Job. It says which script to run, on which endpoints, and who to notify — so retargeting never means editing a playbook.</a:t>
            </a:r>
            <a:endParaRPr lang="en-US" sz="1250" dirty="0"/>
          </a:p>
        </p:txBody>
      </p:sp>
      <p:sp>
        <p:nvSpPr>
          <p:cNvPr id="5" name="Shape 3"/>
          <p:cNvSpPr/>
          <p:nvPr/>
        </p:nvSpPr>
        <p:spPr>
          <a:xfrm>
            <a:off x="548640" y="1755648"/>
            <a:ext cx="594360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938528"/>
            <a:ext cx="5321808" cy="274320"/>
          </a:xfrm>
          <a:prstGeom prst="rect">
            <a:avLst/>
          </a:prstGeom>
          <a:noFill/>
          <a:ln/>
        </p:spPr>
        <p:txBody>
          <a:bodyPr wrap="square" lIns="0" tIns="0" rIns="0" bIns="0" rtlCol="0" anchor="t"/>
          <a:lstStyle/>
          <a:p>
            <a:pPr indent="0" marL="0">
              <a:buNone/>
            </a:pPr>
            <a:r>
              <a:rPr lang="en-US" sz="1200" b="1" dirty="0">
                <a:solidFill>
                  <a:srgbClr val="E8551F"/>
                </a:solidFill>
                <a:latin typeface="Calibri" pitchFamily="34" charset="0"/>
                <a:ea typeface="Calibri" pitchFamily="34" charset="-122"/>
                <a:cs typeface="Calibri" pitchFamily="34" charset="-120"/>
              </a:rPr>
              <a:t>One entry per script + OS scope</a:t>
            </a:r>
            <a:endParaRPr lang="en-US" sz="1200" dirty="0"/>
          </a:p>
        </p:txBody>
      </p:sp>
      <p:sp>
        <p:nvSpPr>
          <p:cNvPr id="7" name="Text 5"/>
          <p:cNvSpPr/>
          <p:nvPr/>
        </p:nvSpPr>
        <p:spPr>
          <a:xfrm>
            <a:off x="859536" y="2286000"/>
            <a:ext cx="5321808" cy="2560320"/>
          </a:xfrm>
          <a:prstGeom prst="rect">
            <a:avLst/>
          </a:prstGeom>
          <a:noFill/>
          <a:ln/>
        </p:spPr>
        <p:txBody>
          <a:bodyPr wrap="square" lIns="0" tIns="0" rIns="0" bIns="0" rtlCol="0" anchor="t"/>
          <a:lstStyle/>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"script": { "name": "KOI Deployment Script - Windows"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"target":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"endpoint_groups": ["KOI Endpoints"],</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"endpoint_os": "Windows"</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  { ...one more entry per OS you deploy to... }</a:t>
            </a:r>
            <a:endParaRPr lang="en-US" sz="1000" dirty="0"/>
          </a:p>
          <a:p>
            <a:pPr indent="0" marL="0">
              <a:lnSpc>
                <a:spcPts val="1500"/>
              </a:lnSpc>
              <a:buNone/>
            </a:pPr>
            <a:r>
              <a:rPr lang="en-US" sz="1000" dirty="0">
                <a:solidFill>
                  <a:srgbClr val="22D3EE"/>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6858000" y="1755648"/>
            <a:ext cx="4754880" cy="3246120"/>
          </a:xfrm>
          <a:prstGeom prst="roundRect">
            <a:avLst>
              <a:gd name="adj" fmla="val 1408"/>
            </a:avLst>
          </a:prstGeom>
          <a:solidFill>
            <a:srgbClr val="1C2026"/>
          </a:solidFill>
          <a:ln w="12700">
            <a:solidFill>
              <a:srgbClr val="1C2026"/>
            </a:solidFill>
            <a:prstDash val="solid"/>
          </a:ln>
        </p:spPr>
      </p:sp>
      <p:sp>
        <p:nvSpPr>
          <p:cNvPr id="9" name="Text 7"/>
          <p:cNvSpPr/>
          <p:nvPr/>
        </p:nvSpPr>
        <p:spPr>
          <a:xfrm>
            <a:off x="7168896" y="1938528"/>
            <a:ext cx="4133088"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The three pointers you set</a:t>
            </a:r>
            <a:endParaRPr lang="en-US" sz="1200" dirty="0"/>
          </a:p>
        </p:txBody>
      </p:sp>
      <p:sp>
        <p:nvSpPr>
          <p:cNvPr id="10" name="Text 8"/>
          <p:cNvSpPr/>
          <p:nvPr/>
        </p:nvSpPr>
        <p:spPr>
          <a:xfrm>
            <a:off x="7168896" y="2340864"/>
            <a:ext cx="4133088" cy="237744"/>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script.name</a:t>
            </a:r>
            <a:endParaRPr lang="en-US" sz="1050" dirty="0"/>
          </a:p>
        </p:txBody>
      </p:sp>
      <p:sp>
        <p:nvSpPr>
          <p:cNvPr id="11" name="Text 9"/>
          <p:cNvSpPr/>
          <p:nvPr/>
        </p:nvSpPr>
        <p:spPr>
          <a:xfrm>
            <a:off x="7168896" y="2596896"/>
            <a:ext cx="4133088" cy="23774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 script package in Action Center → Scripts Library</a:t>
            </a:r>
            <a:endParaRPr lang="en-US" sz="1050" dirty="0"/>
          </a:p>
        </p:txBody>
      </p:sp>
      <p:sp>
        <p:nvSpPr>
          <p:cNvPr id="12" name="Text 10"/>
          <p:cNvSpPr/>
          <p:nvPr/>
        </p:nvSpPr>
        <p:spPr>
          <a:xfrm>
            <a:off x="7168896" y="2889504"/>
            <a:ext cx="4133088" cy="219456"/>
          </a:xfrm>
          <a:prstGeom prst="rect">
            <a:avLst/>
          </a:prstGeom>
          <a:noFill/>
          <a:ln/>
        </p:spPr>
        <p:txBody>
          <a:bodyPr wrap="square" lIns="0" tIns="0" rIns="0" bIns="0" rtlCol="0" anchor="t"/>
          <a:lstStyle/>
          <a:p>
            <a:pPr indent="0" marL="0">
              <a:buNone/>
            </a:pPr>
            <a:r>
              <a:rPr lang="en-US" sz="1000" i="1" dirty="0">
                <a:solidFill>
                  <a:srgbClr val="6E747E"/>
                </a:solidFill>
                <a:latin typeface="Calibri" pitchFamily="34" charset="0"/>
                <a:ea typeface="Calibri" pitchFamily="34" charset="-122"/>
                <a:cs typeface="Calibri" pitchFamily="34" charset="-120"/>
              </a:rPr>
              <a:t>Sample: KOI Deployment Script - Windows</a:t>
            </a:r>
            <a:endParaRPr lang="en-US" sz="1000" dirty="0"/>
          </a:p>
        </p:txBody>
      </p:sp>
      <p:sp>
        <p:nvSpPr>
          <p:cNvPr id="13" name="Text 11"/>
          <p:cNvSpPr/>
          <p:nvPr/>
        </p:nvSpPr>
        <p:spPr>
          <a:xfrm>
            <a:off x="7168896" y="3200400"/>
            <a:ext cx="4133088" cy="237744"/>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target.endpoint_groups</a:t>
            </a:r>
            <a:endParaRPr lang="en-US" sz="1050" dirty="0"/>
          </a:p>
        </p:txBody>
      </p:sp>
      <p:sp>
        <p:nvSpPr>
          <p:cNvPr id="14" name="Text 12"/>
          <p:cNvSpPr/>
          <p:nvPr/>
        </p:nvSpPr>
        <p:spPr>
          <a:xfrm>
            <a:off x="7168896" y="3456432"/>
            <a:ext cx="4133088" cy="23774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endpoint group holding connected, unisolated agents</a:t>
            </a:r>
            <a:endParaRPr lang="en-US" sz="1050" dirty="0"/>
          </a:p>
        </p:txBody>
      </p:sp>
      <p:sp>
        <p:nvSpPr>
          <p:cNvPr id="15" name="Text 13"/>
          <p:cNvSpPr/>
          <p:nvPr/>
        </p:nvSpPr>
        <p:spPr>
          <a:xfrm>
            <a:off x="7168896" y="3749040"/>
            <a:ext cx="4133088" cy="219456"/>
          </a:xfrm>
          <a:prstGeom prst="rect">
            <a:avLst/>
          </a:prstGeom>
          <a:noFill/>
          <a:ln/>
        </p:spPr>
        <p:txBody>
          <a:bodyPr wrap="square" lIns="0" tIns="0" rIns="0" bIns="0" rtlCol="0" anchor="t"/>
          <a:lstStyle/>
          <a:p>
            <a:pPr indent="0" marL="0">
              <a:buNone/>
            </a:pPr>
            <a:r>
              <a:rPr lang="en-US" sz="1000" i="1" dirty="0">
                <a:solidFill>
                  <a:srgbClr val="6E747E"/>
                </a:solidFill>
                <a:latin typeface="Calibri" pitchFamily="34" charset="0"/>
                <a:ea typeface="Calibri" pitchFamily="34" charset="-122"/>
                <a:cs typeface="Calibri" pitchFamily="34" charset="-120"/>
              </a:rPr>
              <a:t>Sample: KOI Endpoints</a:t>
            </a:r>
            <a:endParaRPr lang="en-US" sz="1000" dirty="0"/>
          </a:p>
        </p:txBody>
      </p:sp>
      <p:sp>
        <p:nvSpPr>
          <p:cNvPr id="16" name="Text 14"/>
          <p:cNvSpPr/>
          <p:nvPr/>
        </p:nvSpPr>
        <p:spPr>
          <a:xfrm>
            <a:off x="7168896" y="4059936"/>
            <a:ext cx="4133088" cy="237744"/>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target.endpoint_os</a:t>
            </a:r>
            <a:endParaRPr lang="en-US" sz="1050" dirty="0"/>
          </a:p>
        </p:txBody>
      </p:sp>
      <p:sp>
        <p:nvSpPr>
          <p:cNvPr id="17" name="Text 15"/>
          <p:cNvSpPr/>
          <p:nvPr/>
        </p:nvSpPr>
        <p:spPr>
          <a:xfrm>
            <a:off x="7168896" y="4315968"/>
            <a:ext cx="4133088" cy="23774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OS scope for that entry</a:t>
            </a:r>
            <a:endParaRPr lang="en-US" sz="1050" dirty="0"/>
          </a:p>
        </p:txBody>
      </p:sp>
      <p:sp>
        <p:nvSpPr>
          <p:cNvPr id="18" name="Text 16"/>
          <p:cNvSpPr/>
          <p:nvPr/>
        </p:nvSpPr>
        <p:spPr>
          <a:xfrm>
            <a:off x="7168896" y="4608576"/>
            <a:ext cx="4133088" cy="219456"/>
          </a:xfrm>
          <a:prstGeom prst="rect">
            <a:avLst/>
          </a:prstGeom>
          <a:noFill/>
          <a:ln/>
        </p:spPr>
        <p:txBody>
          <a:bodyPr wrap="square" lIns="0" tIns="0" rIns="0" bIns="0" rtlCol="0" anchor="t"/>
          <a:lstStyle/>
          <a:p>
            <a:pPr indent="0" marL="0">
              <a:buNone/>
            </a:pPr>
            <a:r>
              <a:rPr lang="en-US" sz="1000" i="1" dirty="0">
                <a:solidFill>
                  <a:srgbClr val="6E747E"/>
                </a:solidFill>
                <a:latin typeface="Calibri" pitchFamily="34" charset="0"/>
                <a:ea typeface="Calibri" pitchFamily="34" charset="-122"/>
                <a:cs typeface="Calibri" pitchFamily="34" charset="-120"/>
              </a:rPr>
              <a:t>Windows, macOS or Linux</a:t>
            </a:r>
            <a:endParaRPr lang="en-US" sz="1000" dirty="0"/>
          </a:p>
        </p:txBody>
      </p:sp>
      <p:sp>
        <p:nvSpPr>
          <p:cNvPr id="19" name="Shape 17"/>
          <p:cNvSpPr/>
          <p:nvPr/>
        </p:nvSpPr>
        <p:spPr>
          <a:xfrm>
            <a:off x="548640" y="5175504"/>
            <a:ext cx="11064240" cy="1060704"/>
          </a:xfrm>
          <a:prstGeom prst="roundRect">
            <a:avLst>
              <a:gd name="adj" fmla="val 4310"/>
            </a:avLst>
          </a:prstGeom>
          <a:solidFill>
            <a:srgbClr val="1C2026"/>
          </a:solidFill>
          <a:ln w="12700">
            <a:solidFill>
              <a:srgbClr val="1C2026"/>
            </a:solidFill>
            <a:prstDash val="solid"/>
          </a:ln>
        </p:spPr>
      </p:sp>
      <p:sp>
        <p:nvSpPr>
          <p:cNvPr id="20" name="Shape 18"/>
          <p:cNvSpPr/>
          <p:nvPr/>
        </p:nvSpPr>
        <p:spPr>
          <a:xfrm>
            <a:off x="804672" y="5541264"/>
            <a:ext cx="310896" cy="310896"/>
          </a:xfrm>
          <a:prstGeom prst="roundRect">
            <a:avLst>
              <a:gd name="adj" fmla="val 26471"/>
            </a:avLst>
          </a:prstGeom>
          <a:solidFill>
            <a:srgbClr val="F5A524"/>
          </a:solidFill>
          <a:ln w="12700">
            <a:solidFill>
              <a:srgbClr val="F5A524"/>
            </a:solidFill>
            <a:prstDash val="solid"/>
          </a:ln>
        </p:spPr>
      </p:sp>
      <p:sp>
        <p:nvSpPr>
          <p:cNvPr id="21" name="Text 19"/>
          <p:cNvSpPr/>
          <p:nvPr/>
        </p:nvSpPr>
        <p:spPr>
          <a:xfrm>
            <a:off x="804672" y="55412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1298448" y="5340096"/>
            <a:ext cx="9966960" cy="768096"/>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There is no required script name. The pack ships neither the List nor any script package — you create both, and the names above are samples from the customer guide, not fixed values. What matters is that every name in the List matches something that exists on your tenant. To retarget later — a different script, another endpoint group, a new OS — edit the List; the playbooks never change.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List field, and what it defaults to</a:t>
            </a:r>
            <a:endParaRPr lang="en-US" sz="3100" dirty="0"/>
          </a:p>
        </p:txBody>
      </p:sp>
      <p:sp>
        <p:nvSpPr>
          <p:cNvPr id="4" name="Text 2"/>
          <p:cNvSpPr/>
          <p:nvPr/>
        </p:nvSpPr>
        <p:spPr>
          <a:xfrm>
            <a:off x="822960" y="1371600"/>
            <a:ext cx="38404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Field</a:t>
            </a:r>
            <a:endParaRPr lang="en-US" sz="1050" dirty="0"/>
          </a:p>
        </p:txBody>
      </p:sp>
      <p:sp>
        <p:nvSpPr>
          <p:cNvPr id="5" name="Text 3"/>
          <p:cNvSpPr/>
          <p:nvPr/>
        </p:nvSpPr>
        <p:spPr>
          <a:xfrm>
            <a:off x="4846320" y="1371600"/>
            <a:ext cx="14630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Required</a:t>
            </a:r>
            <a:endParaRPr lang="en-US" sz="1050" dirty="0"/>
          </a:p>
        </p:txBody>
      </p:sp>
      <p:sp>
        <p:nvSpPr>
          <p:cNvPr id="6" name="Text 4"/>
          <p:cNvSpPr/>
          <p:nvPr/>
        </p:nvSpPr>
        <p:spPr>
          <a:xfrm>
            <a:off x="6492240" y="1371600"/>
            <a:ext cx="484632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Default and notes</a:t>
            </a:r>
            <a:endParaRPr lang="en-US" sz="1050" dirty="0"/>
          </a:p>
        </p:txBody>
      </p:sp>
      <p:sp>
        <p:nvSpPr>
          <p:cNvPr id="7" name="Shape 5"/>
          <p:cNvSpPr/>
          <p:nvPr/>
        </p:nvSpPr>
        <p:spPr>
          <a:xfrm>
            <a:off x="548640" y="1682496"/>
            <a:ext cx="11064240" cy="365760"/>
          </a:xfrm>
          <a:prstGeom prst="roundRect">
            <a:avLst>
              <a:gd name="adj" fmla="val 12500"/>
            </a:avLst>
          </a:prstGeom>
          <a:solidFill>
            <a:srgbClr val="15171B"/>
          </a:solidFill>
          <a:ln w="12700">
            <a:solidFill>
              <a:srgbClr val="15171B"/>
            </a:solidFill>
            <a:prstDash val="solid"/>
          </a:ln>
        </p:spPr>
      </p:sp>
      <p:sp>
        <p:nvSpPr>
          <p:cNvPr id="8" name="Text 6"/>
          <p:cNvSpPr/>
          <p:nvPr/>
        </p:nvSpPr>
        <p:spPr>
          <a:xfrm>
            <a:off x="822960" y="1764792"/>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script.name</a:t>
            </a:r>
            <a:endParaRPr lang="en-US" sz="1000" dirty="0"/>
          </a:p>
        </p:txBody>
      </p:sp>
      <p:sp>
        <p:nvSpPr>
          <p:cNvPr id="9" name="Text 7"/>
          <p:cNvSpPr/>
          <p:nvPr/>
        </p:nvSpPr>
        <p:spPr>
          <a:xfrm>
            <a:off x="4846320" y="1764792"/>
            <a:ext cx="1463040" cy="237744"/>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Yes *</a:t>
            </a:r>
            <a:endParaRPr lang="en-US" sz="1000" dirty="0"/>
          </a:p>
        </p:txBody>
      </p:sp>
      <p:sp>
        <p:nvSpPr>
          <p:cNvPr id="10" name="Text 8"/>
          <p:cNvSpPr/>
          <p:nvPr/>
        </p:nvSpPr>
        <p:spPr>
          <a:xfrm>
            <a:off x="6492240" y="1764792"/>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default. Must equal the Scripts Library name exactly.</a:t>
            </a:r>
            <a:endParaRPr lang="en-US" sz="1000" dirty="0"/>
          </a:p>
        </p:txBody>
      </p:sp>
      <p:sp>
        <p:nvSpPr>
          <p:cNvPr id="11" name="Shape 9"/>
          <p:cNvSpPr/>
          <p:nvPr/>
        </p:nvSpPr>
        <p:spPr>
          <a:xfrm>
            <a:off x="548640" y="2103120"/>
            <a:ext cx="11064240" cy="365760"/>
          </a:xfrm>
          <a:prstGeom prst="roundRect">
            <a:avLst>
              <a:gd name="adj" fmla="val 12500"/>
            </a:avLst>
          </a:prstGeom>
          <a:solidFill>
            <a:srgbClr val="15171B"/>
          </a:solidFill>
          <a:ln w="12700">
            <a:solidFill>
              <a:srgbClr val="15171B"/>
            </a:solidFill>
            <a:prstDash val="solid"/>
          </a:ln>
        </p:spPr>
      </p:sp>
      <p:sp>
        <p:nvSpPr>
          <p:cNvPr id="12" name="Text 10"/>
          <p:cNvSpPr/>
          <p:nvPr/>
        </p:nvSpPr>
        <p:spPr>
          <a:xfrm>
            <a:off x="822960" y="2185416"/>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script.uuid</a:t>
            </a:r>
            <a:endParaRPr lang="en-US" sz="1000" dirty="0"/>
          </a:p>
        </p:txBody>
      </p:sp>
      <p:sp>
        <p:nvSpPr>
          <p:cNvPr id="13" name="Text 11"/>
          <p:cNvSpPr/>
          <p:nvPr/>
        </p:nvSpPr>
        <p:spPr>
          <a:xfrm>
            <a:off x="4846320" y="2185416"/>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14" name="Text 12"/>
          <p:cNvSpPr/>
          <p:nvPr/>
        </p:nvSpPr>
        <p:spPr>
          <a:xfrm>
            <a:off x="6492240" y="2185416"/>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Wins over script.name. Use it to survive renames or duplicates.</a:t>
            </a:r>
            <a:endParaRPr lang="en-US" sz="1000" dirty="0"/>
          </a:p>
        </p:txBody>
      </p:sp>
      <p:sp>
        <p:nvSpPr>
          <p:cNvPr id="15" name="Shape 13"/>
          <p:cNvSpPr/>
          <p:nvPr/>
        </p:nvSpPr>
        <p:spPr>
          <a:xfrm>
            <a:off x="548640" y="2523744"/>
            <a:ext cx="11064240" cy="365760"/>
          </a:xfrm>
          <a:prstGeom prst="roundRect">
            <a:avLst>
              <a:gd name="adj" fmla="val 12500"/>
            </a:avLst>
          </a:prstGeom>
          <a:solidFill>
            <a:srgbClr val="15171B"/>
          </a:solidFill>
          <a:ln w="12700">
            <a:solidFill>
              <a:srgbClr val="15171B"/>
            </a:solidFill>
            <a:prstDash val="solid"/>
          </a:ln>
        </p:spPr>
      </p:sp>
      <p:sp>
        <p:nvSpPr>
          <p:cNvPr id="16" name="Text 14"/>
          <p:cNvSpPr/>
          <p:nvPr/>
        </p:nvSpPr>
        <p:spPr>
          <a:xfrm>
            <a:off x="822960" y="2606040"/>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script.polling_interval_in_seconds</a:t>
            </a:r>
            <a:endParaRPr lang="en-US" sz="1000" dirty="0"/>
          </a:p>
        </p:txBody>
      </p:sp>
      <p:sp>
        <p:nvSpPr>
          <p:cNvPr id="17" name="Text 15"/>
          <p:cNvSpPr/>
          <p:nvPr/>
        </p:nvSpPr>
        <p:spPr>
          <a:xfrm>
            <a:off x="4846320" y="2606040"/>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18" name="Text 16"/>
          <p:cNvSpPr/>
          <p:nvPr/>
        </p:nvSpPr>
        <p:spPr>
          <a:xfrm>
            <a:off x="6492240" y="2606040"/>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60 seconds.</a:t>
            </a:r>
            <a:endParaRPr lang="en-US" sz="1000" dirty="0"/>
          </a:p>
        </p:txBody>
      </p:sp>
      <p:sp>
        <p:nvSpPr>
          <p:cNvPr id="19" name="Shape 17"/>
          <p:cNvSpPr/>
          <p:nvPr/>
        </p:nvSpPr>
        <p:spPr>
          <a:xfrm>
            <a:off x="548640" y="2944368"/>
            <a:ext cx="11064240" cy="365760"/>
          </a:xfrm>
          <a:prstGeom prst="roundRect">
            <a:avLst>
              <a:gd name="adj" fmla="val 12500"/>
            </a:avLst>
          </a:prstGeom>
          <a:solidFill>
            <a:srgbClr val="15171B"/>
          </a:solidFill>
          <a:ln w="12700">
            <a:solidFill>
              <a:srgbClr val="15171B"/>
            </a:solidFill>
            <a:prstDash val="solid"/>
          </a:ln>
        </p:spPr>
      </p:sp>
      <p:sp>
        <p:nvSpPr>
          <p:cNvPr id="20" name="Text 18"/>
          <p:cNvSpPr/>
          <p:nvPr/>
        </p:nvSpPr>
        <p:spPr>
          <a:xfrm>
            <a:off x="822960" y="3026664"/>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script.timeout_in_seconds</a:t>
            </a:r>
            <a:endParaRPr lang="en-US" sz="1000" dirty="0"/>
          </a:p>
        </p:txBody>
      </p:sp>
      <p:sp>
        <p:nvSpPr>
          <p:cNvPr id="21" name="Text 19"/>
          <p:cNvSpPr/>
          <p:nvPr/>
        </p:nvSpPr>
        <p:spPr>
          <a:xfrm>
            <a:off x="4846320" y="3026664"/>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22" name="Text 20"/>
          <p:cNvSpPr/>
          <p:nvPr/>
        </p:nvSpPr>
        <p:spPr>
          <a:xfrm>
            <a:off x="6492240" y="3026664"/>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1800 seconds.</a:t>
            </a:r>
            <a:endParaRPr lang="en-US" sz="1000" dirty="0"/>
          </a:p>
        </p:txBody>
      </p:sp>
      <p:sp>
        <p:nvSpPr>
          <p:cNvPr id="23" name="Shape 21"/>
          <p:cNvSpPr/>
          <p:nvPr/>
        </p:nvSpPr>
        <p:spPr>
          <a:xfrm>
            <a:off x="548640" y="3364992"/>
            <a:ext cx="11064240" cy="365760"/>
          </a:xfrm>
          <a:prstGeom prst="roundRect">
            <a:avLst>
              <a:gd name="adj" fmla="val 12500"/>
            </a:avLst>
          </a:prstGeom>
          <a:solidFill>
            <a:srgbClr val="15171B"/>
          </a:solidFill>
          <a:ln w="12700">
            <a:solidFill>
              <a:srgbClr val="15171B"/>
            </a:solidFill>
            <a:prstDash val="solid"/>
          </a:ln>
        </p:spPr>
      </p:sp>
      <p:sp>
        <p:nvSpPr>
          <p:cNvPr id="24" name="Text 22"/>
          <p:cNvSpPr/>
          <p:nvPr/>
        </p:nvSpPr>
        <p:spPr>
          <a:xfrm>
            <a:off x="822960" y="3447288"/>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target.endpoint_os</a:t>
            </a:r>
            <a:endParaRPr lang="en-US" sz="1000" dirty="0"/>
          </a:p>
        </p:txBody>
      </p:sp>
      <p:sp>
        <p:nvSpPr>
          <p:cNvPr id="25" name="Text 23"/>
          <p:cNvSpPr/>
          <p:nvPr/>
        </p:nvSpPr>
        <p:spPr>
          <a:xfrm>
            <a:off x="4846320" y="3447288"/>
            <a:ext cx="1463040" cy="237744"/>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Yes</a:t>
            </a:r>
            <a:endParaRPr lang="en-US" sz="1000" dirty="0"/>
          </a:p>
        </p:txBody>
      </p:sp>
      <p:sp>
        <p:nvSpPr>
          <p:cNvPr id="26" name="Text 24"/>
          <p:cNvSpPr/>
          <p:nvPr/>
        </p:nvSpPr>
        <p:spPr>
          <a:xfrm>
            <a:off x="6492240" y="3447288"/>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default. Windows, macOS or Linux — case-insensitive.</a:t>
            </a:r>
            <a:endParaRPr lang="en-US" sz="1000" dirty="0"/>
          </a:p>
        </p:txBody>
      </p:sp>
      <p:sp>
        <p:nvSpPr>
          <p:cNvPr id="27" name="Shape 25"/>
          <p:cNvSpPr/>
          <p:nvPr/>
        </p:nvSpPr>
        <p:spPr>
          <a:xfrm>
            <a:off x="548640" y="3785616"/>
            <a:ext cx="11064240" cy="365760"/>
          </a:xfrm>
          <a:prstGeom prst="roundRect">
            <a:avLst>
              <a:gd name="adj" fmla="val 12500"/>
            </a:avLst>
          </a:prstGeom>
          <a:solidFill>
            <a:srgbClr val="15171B"/>
          </a:solidFill>
          <a:ln w="12700">
            <a:solidFill>
              <a:srgbClr val="15171B"/>
            </a:solidFill>
            <a:prstDash val="solid"/>
          </a:ln>
        </p:spPr>
      </p:sp>
      <p:sp>
        <p:nvSpPr>
          <p:cNvPr id="28" name="Text 26"/>
          <p:cNvSpPr/>
          <p:nvPr/>
        </p:nvSpPr>
        <p:spPr>
          <a:xfrm>
            <a:off x="822960" y="3867912"/>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target.endpoint_groups</a:t>
            </a:r>
            <a:endParaRPr lang="en-US" sz="1000" dirty="0"/>
          </a:p>
        </p:txBody>
      </p:sp>
      <p:sp>
        <p:nvSpPr>
          <p:cNvPr id="29" name="Text 27"/>
          <p:cNvSpPr/>
          <p:nvPr/>
        </p:nvSpPr>
        <p:spPr>
          <a:xfrm>
            <a:off x="4846320" y="3867912"/>
            <a:ext cx="1463040" cy="237744"/>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One of these</a:t>
            </a:r>
            <a:endParaRPr lang="en-US" sz="1000" dirty="0"/>
          </a:p>
        </p:txBody>
      </p:sp>
      <p:sp>
        <p:nvSpPr>
          <p:cNvPr id="30" name="Text 28"/>
          <p:cNvSpPr/>
          <p:nvPr/>
        </p:nvSpPr>
        <p:spPr>
          <a:xfrm>
            <a:off x="6492240" y="3867912"/>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default. Group names holding the target agents.</a:t>
            </a:r>
            <a:endParaRPr lang="en-US" sz="1000" dirty="0"/>
          </a:p>
        </p:txBody>
      </p:sp>
      <p:sp>
        <p:nvSpPr>
          <p:cNvPr id="31" name="Shape 29"/>
          <p:cNvSpPr/>
          <p:nvPr/>
        </p:nvSpPr>
        <p:spPr>
          <a:xfrm>
            <a:off x="548640" y="4206240"/>
            <a:ext cx="11064240" cy="365760"/>
          </a:xfrm>
          <a:prstGeom prst="roundRect">
            <a:avLst>
              <a:gd name="adj" fmla="val 12500"/>
            </a:avLst>
          </a:prstGeom>
          <a:solidFill>
            <a:srgbClr val="15171B"/>
          </a:solidFill>
          <a:ln w="12700">
            <a:solidFill>
              <a:srgbClr val="15171B"/>
            </a:solidFill>
            <a:prstDash val="solid"/>
          </a:ln>
        </p:spPr>
      </p:sp>
      <p:sp>
        <p:nvSpPr>
          <p:cNvPr id="32" name="Text 30"/>
          <p:cNvSpPr/>
          <p:nvPr/>
        </p:nvSpPr>
        <p:spPr>
          <a:xfrm>
            <a:off x="822960" y="4288536"/>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target.endpoint_hostnames</a:t>
            </a:r>
            <a:endParaRPr lang="en-US" sz="1000" dirty="0"/>
          </a:p>
        </p:txBody>
      </p:sp>
      <p:sp>
        <p:nvSpPr>
          <p:cNvPr id="33" name="Text 31"/>
          <p:cNvSpPr/>
          <p:nvPr/>
        </p:nvSpPr>
        <p:spPr>
          <a:xfrm>
            <a:off x="4846320" y="4288536"/>
            <a:ext cx="1463040" cy="237744"/>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One of these</a:t>
            </a:r>
            <a:endParaRPr lang="en-US" sz="1000" dirty="0"/>
          </a:p>
        </p:txBody>
      </p:sp>
      <p:sp>
        <p:nvSpPr>
          <p:cNvPr id="34" name="Text 32"/>
          <p:cNvSpPr/>
          <p:nvPr/>
        </p:nvSpPr>
        <p:spPr>
          <a:xfrm>
            <a:off x="6492240" y="4288536"/>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default. Specific hostnames instead of a group.</a:t>
            </a:r>
            <a:endParaRPr lang="en-US" sz="1000" dirty="0"/>
          </a:p>
        </p:txBody>
      </p:sp>
      <p:sp>
        <p:nvSpPr>
          <p:cNvPr id="35" name="Shape 33"/>
          <p:cNvSpPr/>
          <p:nvPr/>
        </p:nvSpPr>
        <p:spPr>
          <a:xfrm>
            <a:off x="548640" y="4626864"/>
            <a:ext cx="11064240" cy="365760"/>
          </a:xfrm>
          <a:prstGeom prst="roundRect">
            <a:avLst>
              <a:gd name="adj" fmla="val 12500"/>
            </a:avLst>
          </a:prstGeom>
          <a:solidFill>
            <a:srgbClr val="15171B"/>
          </a:solidFill>
          <a:ln w="12700">
            <a:solidFill>
              <a:srgbClr val="15171B"/>
            </a:solidFill>
            <a:prstDash val="solid"/>
          </a:ln>
        </p:spPr>
      </p:sp>
      <p:sp>
        <p:nvSpPr>
          <p:cNvPr id="36" name="Text 34"/>
          <p:cNvSpPr/>
          <p:nvPr/>
        </p:nvSpPr>
        <p:spPr>
          <a:xfrm>
            <a:off x="822960" y="4709160"/>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notification.recipients</a:t>
            </a:r>
            <a:endParaRPr lang="en-US" sz="1000" dirty="0"/>
          </a:p>
        </p:txBody>
      </p:sp>
      <p:sp>
        <p:nvSpPr>
          <p:cNvPr id="37" name="Text 35"/>
          <p:cNvSpPr/>
          <p:nvPr/>
        </p:nvSpPr>
        <p:spPr>
          <a:xfrm>
            <a:off x="4846320" y="4709160"/>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38" name="Text 36"/>
          <p:cNvSpPr/>
          <p:nvPr/>
        </p:nvSpPr>
        <p:spPr>
          <a:xfrm>
            <a:off x="6492240" y="4709160"/>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Omit for no email at all.</a:t>
            </a:r>
            <a:endParaRPr lang="en-US" sz="1000" dirty="0"/>
          </a:p>
        </p:txBody>
      </p:sp>
      <p:sp>
        <p:nvSpPr>
          <p:cNvPr id="39" name="Shape 37"/>
          <p:cNvSpPr/>
          <p:nvPr/>
        </p:nvSpPr>
        <p:spPr>
          <a:xfrm>
            <a:off x="548640" y="5047488"/>
            <a:ext cx="11064240" cy="365760"/>
          </a:xfrm>
          <a:prstGeom prst="roundRect">
            <a:avLst>
              <a:gd name="adj" fmla="val 12500"/>
            </a:avLst>
          </a:prstGeom>
          <a:solidFill>
            <a:srgbClr val="15171B"/>
          </a:solidFill>
          <a:ln w="12700">
            <a:solidFill>
              <a:srgbClr val="15171B"/>
            </a:solidFill>
            <a:prstDash val="solid"/>
          </a:ln>
        </p:spPr>
      </p:sp>
      <p:sp>
        <p:nvSpPr>
          <p:cNvPr id="40" name="Text 38"/>
          <p:cNvSpPr/>
          <p:nvPr/>
        </p:nvSpPr>
        <p:spPr>
          <a:xfrm>
            <a:off x="822960" y="5129784"/>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notification.sendmail_instance.name</a:t>
            </a:r>
            <a:endParaRPr lang="en-US" sz="1000" dirty="0"/>
          </a:p>
        </p:txBody>
      </p:sp>
      <p:sp>
        <p:nvSpPr>
          <p:cNvPr id="41" name="Text 39"/>
          <p:cNvSpPr/>
          <p:nvPr/>
        </p:nvSpPr>
        <p:spPr>
          <a:xfrm>
            <a:off x="4846320" y="5129784"/>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42" name="Text 40"/>
          <p:cNvSpPr/>
          <p:nvPr/>
        </p:nvSpPr>
        <p:spPr>
          <a:xfrm>
            <a:off x="6492240" y="5129784"/>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Omit to use any enabled mail instance.</a:t>
            </a:r>
            <a:endParaRPr lang="en-US" sz="1000" dirty="0"/>
          </a:p>
        </p:txBody>
      </p:sp>
      <p:sp>
        <p:nvSpPr>
          <p:cNvPr id="43" name="Shape 41"/>
          <p:cNvSpPr/>
          <p:nvPr/>
        </p:nvSpPr>
        <p:spPr>
          <a:xfrm>
            <a:off x="548640" y="5468112"/>
            <a:ext cx="11064240" cy="365760"/>
          </a:xfrm>
          <a:prstGeom prst="roundRect">
            <a:avLst>
              <a:gd name="adj" fmla="val 12500"/>
            </a:avLst>
          </a:prstGeom>
          <a:solidFill>
            <a:srgbClr val="15171B"/>
          </a:solidFill>
          <a:ln w="12700">
            <a:solidFill>
              <a:srgbClr val="15171B"/>
            </a:solidFill>
            <a:prstDash val="solid"/>
          </a:ln>
        </p:spPr>
      </p:sp>
      <p:sp>
        <p:nvSpPr>
          <p:cNvPr id="44" name="Text 42"/>
          <p:cNvSpPr/>
          <p:nvPr/>
        </p:nvSpPr>
        <p:spPr>
          <a:xfrm>
            <a:off x="822960" y="5550408"/>
            <a:ext cx="3840480" cy="237744"/>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disabled</a:t>
            </a:r>
            <a:endParaRPr lang="en-US" sz="1000" dirty="0"/>
          </a:p>
        </p:txBody>
      </p:sp>
      <p:sp>
        <p:nvSpPr>
          <p:cNvPr id="45" name="Text 43"/>
          <p:cNvSpPr/>
          <p:nvPr/>
        </p:nvSpPr>
        <p:spPr>
          <a:xfrm>
            <a:off x="4846320" y="5550408"/>
            <a:ext cx="1463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No</a:t>
            </a:r>
            <a:endParaRPr lang="en-US" sz="1000" dirty="0"/>
          </a:p>
        </p:txBody>
      </p:sp>
      <p:sp>
        <p:nvSpPr>
          <p:cNvPr id="46" name="Text 44"/>
          <p:cNvSpPr/>
          <p:nvPr/>
        </p:nvSpPr>
        <p:spPr>
          <a:xfrm>
            <a:off x="6492240" y="5550408"/>
            <a:ext cx="484632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false. Set true to skip the entry without deleting it.</a:t>
            </a:r>
            <a:endParaRPr lang="en-US" sz="1000" dirty="0"/>
          </a:p>
        </p:txBody>
      </p:sp>
      <p:sp>
        <p:nvSpPr>
          <p:cNvPr id="47" name="Text 45"/>
          <p:cNvSpPr/>
          <p:nvPr/>
        </p:nvSpPr>
        <p:spPr>
          <a:xfrm>
            <a:off x="548640" y="6016752"/>
            <a:ext cx="11064240" cy="274320"/>
          </a:xfrm>
          <a:prstGeom prst="rect">
            <a:avLst/>
          </a:prstGeom>
          <a:noFill/>
          <a:ln/>
        </p:spPr>
        <p:txBody>
          <a:bodyPr wrap="square" lIns="0" tIns="0" rIns="0" bIns="0" rtlCol="0" anchor="t"/>
          <a:lstStyle/>
          <a:p>
            <a:pPr indent="0" marL="0">
              <a:buNone/>
            </a:pPr>
            <a:r>
              <a:rPr lang="en-US" sz="1000" i="1" dirty="0">
                <a:solidFill>
                  <a:srgbClr val="6E747E"/>
                </a:solidFill>
                <a:latin typeface="Calibri" pitchFamily="34" charset="0"/>
                <a:ea typeface="Calibri" pitchFamily="34" charset="-122"/>
                <a:cs typeface="Calibri" pitchFamily="34" charset="-120"/>
              </a:rPr>
              <a:t>*  script.name or script.uuid — one of the two is required.   Every entry also needs endpoint_os, plus endpoint_groups or endpoint_hostnames.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are going to prove</a:t>
            </a:r>
            <a:endParaRPr lang="en-US" sz="3100" dirty="0"/>
          </a:p>
        </p:txBody>
      </p:sp>
      <p:sp>
        <p:nvSpPr>
          <p:cNvPr id="4" name="Shape 2"/>
          <p:cNvSpPr/>
          <p:nvPr/>
        </p:nvSpPr>
        <p:spPr>
          <a:xfrm>
            <a:off x="548640" y="1481328"/>
            <a:ext cx="3505200" cy="1298448"/>
          </a:xfrm>
          <a:prstGeom prst="roundRect">
            <a:avLst>
              <a:gd name="adj" fmla="val 3521"/>
            </a:avLst>
          </a:prstGeom>
          <a:solidFill>
            <a:srgbClr val="15171B"/>
          </a:solidFill>
          <a:ln w="12700">
            <a:solidFill>
              <a:srgbClr val="15171B"/>
            </a:solidFill>
            <a:prstDash val="solid"/>
          </a:ln>
        </p:spPr>
      </p:sp>
      <p:sp>
        <p:nvSpPr>
          <p:cNvPr id="5" name="Shape 3"/>
          <p:cNvSpPr/>
          <p:nvPr/>
        </p:nvSpPr>
        <p:spPr>
          <a:xfrm>
            <a:off x="786384" y="1719072"/>
            <a:ext cx="310896" cy="310896"/>
          </a:xfrm>
          <a:prstGeom prst="roundRect">
            <a:avLst>
              <a:gd name="adj" fmla="val 26471"/>
            </a:avLst>
          </a:prstGeom>
          <a:solidFill>
            <a:srgbClr val="E8551F"/>
          </a:solidFill>
          <a:ln w="12700">
            <a:solidFill>
              <a:srgbClr val="E8551F"/>
            </a:solidFill>
            <a:prstDash val="solid"/>
          </a:ln>
        </p:spPr>
      </p:sp>
      <p:sp>
        <p:nvSpPr>
          <p:cNvPr id="6" name="Text 4"/>
          <p:cNvSpPr/>
          <p:nvPr/>
        </p:nvSpPr>
        <p:spPr>
          <a:xfrm>
            <a:off x="78638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8638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Connectivity &amp; authorisation</a:t>
            </a:r>
            <a:endParaRPr lang="en-US" sz="1250" dirty="0"/>
          </a:p>
        </p:txBody>
      </p:sp>
      <p:sp>
        <p:nvSpPr>
          <p:cNvPr id="8" name="Text 6"/>
          <p:cNvSpPr/>
          <p:nvPr/>
        </p:nvSpPr>
        <p:spPr>
          <a:xfrm>
            <a:off x="78638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key works and your egress is accepted</a:t>
            </a:r>
            <a:endParaRPr lang="en-US" sz="1000" dirty="0"/>
          </a:p>
        </p:txBody>
      </p:sp>
      <p:sp>
        <p:nvSpPr>
          <p:cNvPr id="9" name="Shape 7"/>
          <p:cNvSpPr/>
          <p:nvPr/>
        </p:nvSpPr>
        <p:spPr>
          <a:xfrm>
            <a:off x="4328160" y="1481328"/>
            <a:ext cx="3505200" cy="1298448"/>
          </a:xfrm>
          <a:prstGeom prst="roundRect">
            <a:avLst>
              <a:gd name="adj" fmla="val 3521"/>
            </a:avLst>
          </a:prstGeom>
          <a:solidFill>
            <a:srgbClr val="15171B"/>
          </a:solidFill>
          <a:ln w="12700">
            <a:solidFill>
              <a:srgbClr val="15171B"/>
            </a:solidFill>
            <a:prstDash val="solid"/>
          </a:ln>
        </p:spPr>
      </p:sp>
      <p:sp>
        <p:nvSpPr>
          <p:cNvPr id="10" name="Shape 8"/>
          <p:cNvSpPr/>
          <p:nvPr/>
        </p:nvSpPr>
        <p:spPr>
          <a:xfrm>
            <a:off x="4565904" y="1719072"/>
            <a:ext cx="310896" cy="310896"/>
          </a:xfrm>
          <a:prstGeom prst="roundRect">
            <a:avLst>
              <a:gd name="adj" fmla="val 26471"/>
            </a:avLst>
          </a:prstGeom>
          <a:solidFill>
            <a:srgbClr val="E8551F"/>
          </a:solidFill>
          <a:ln w="12700">
            <a:solidFill>
              <a:srgbClr val="E8551F"/>
            </a:solidFill>
            <a:prstDash val="solid"/>
          </a:ln>
        </p:spPr>
      </p:sp>
      <p:sp>
        <p:nvSpPr>
          <p:cNvPr id="11" name="Text 9"/>
          <p:cNvSpPr/>
          <p:nvPr/>
        </p:nvSpPr>
        <p:spPr>
          <a:xfrm>
            <a:off x="456590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456590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Event collection</a:t>
            </a:r>
            <a:endParaRPr lang="en-US" sz="1250" dirty="0"/>
          </a:p>
        </p:txBody>
      </p:sp>
      <p:sp>
        <p:nvSpPr>
          <p:cNvPr id="13" name="Text 11"/>
          <p:cNvSpPr/>
          <p:nvPr/>
        </p:nvSpPr>
        <p:spPr>
          <a:xfrm>
            <a:off x="456590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Alerts and audit logs land in koi_koi_raw</a:t>
            </a:r>
            <a:endParaRPr lang="en-US" sz="1000" dirty="0"/>
          </a:p>
        </p:txBody>
      </p:sp>
      <p:sp>
        <p:nvSpPr>
          <p:cNvPr id="14" name="Shape 12"/>
          <p:cNvSpPr/>
          <p:nvPr/>
        </p:nvSpPr>
        <p:spPr>
          <a:xfrm>
            <a:off x="8107680" y="1481328"/>
            <a:ext cx="3505200" cy="1298448"/>
          </a:xfrm>
          <a:prstGeom prst="roundRect">
            <a:avLst>
              <a:gd name="adj" fmla="val 3521"/>
            </a:avLst>
          </a:prstGeom>
          <a:solidFill>
            <a:srgbClr val="15171B"/>
          </a:solidFill>
          <a:ln w="12700">
            <a:solidFill>
              <a:srgbClr val="15171B"/>
            </a:solidFill>
            <a:prstDash val="solid"/>
          </a:ln>
        </p:spPr>
      </p:sp>
      <p:sp>
        <p:nvSpPr>
          <p:cNvPr id="15" name="Shape 13"/>
          <p:cNvSpPr/>
          <p:nvPr/>
        </p:nvSpPr>
        <p:spPr>
          <a:xfrm>
            <a:off x="8345424" y="1719072"/>
            <a:ext cx="310896" cy="310896"/>
          </a:xfrm>
          <a:prstGeom prst="roundRect">
            <a:avLst>
              <a:gd name="adj" fmla="val 26471"/>
            </a:avLst>
          </a:prstGeom>
          <a:solidFill>
            <a:srgbClr val="E8551F"/>
          </a:solidFill>
          <a:ln w="12700">
            <a:solidFill>
              <a:srgbClr val="E8551F"/>
            </a:solidFill>
            <a:prstDash val="solid"/>
          </a:ln>
        </p:spPr>
      </p:sp>
      <p:sp>
        <p:nvSpPr>
          <p:cNvPr id="16" name="Text 14"/>
          <p:cNvSpPr/>
          <p:nvPr/>
        </p:nvSpPr>
        <p:spPr>
          <a:xfrm>
            <a:off x="834542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834542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Command surface</a:t>
            </a:r>
            <a:endParaRPr lang="en-US" sz="1250" dirty="0"/>
          </a:p>
        </p:txBody>
      </p:sp>
      <p:sp>
        <p:nvSpPr>
          <p:cNvPr id="18" name="Text 16"/>
          <p:cNvSpPr/>
          <p:nvPr/>
        </p:nvSpPr>
        <p:spPr>
          <a:xfrm>
            <a:off x="834542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read commands return live tenant data</a:t>
            </a:r>
            <a:endParaRPr lang="en-US" sz="1000" dirty="0"/>
          </a:p>
        </p:txBody>
      </p:sp>
      <p:sp>
        <p:nvSpPr>
          <p:cNvPr id="19" name="Shape 17"/>
          <p:cNvSpPr/>
          <p:nvPr/>
        </p:nvSpPr>
        <p:spPr>
          <a:xfrm>
            <a:off x="548640" y="2999232"/>
            <a:ext cx="3505200" cy="1298448"/>
          </a:xfrm>
          <a:prstGeom prst="roundRect">
            <a:avLst>
              <a:gd name="adj" fmla="val 3521"/>
            </a:avLst>
          </a:prstGeom>
          <a:solidFill>
            <a:srgbClr val="15171B"/>
          </a:solidFill>
          <a:ln w="12700">
            <a:solidFill>
              <a:srgbClr val="15171B"/>
            </a:solidFill>
            <a:prstDash val="solid"/>
          </a:ln>
        </p:spPr>
      </p:sp>
      <p:sp>
        <p:nvSpPr>
          <p:cNvPr id="20" name="Shape 18"/>
          <p:cNvSpPr/>
          <p:nvPr/>
        </p:nvSpPr>
        <p:spPr>
          <a:xfrm>
            <a:off x="786384" y="3236976"/>
            <a:ext cx="310896" cy="310896"/>
          </a:xfrm>
          <a:prstGeom prst="roundRect">
            <a:avLst>
              <a:gd name="adj" fmla="val 26471"/>
            </a:avLst>
          </a:prstGeom>
          <a:solidFill>
            <a:srgbClr val="E8551F"/>
          </a:solidFill>
          <a:ln w="12700">
            <a:solidFill>
              <a:srgbClr val="E8551F"/>
            </a:solidFill>
            <a:prstDash val="solid"/>
          </a:ln>
        </p:spPr>
      </p:sp>
      <p:sp>
        <p:nvSpPr>
          <p:cNvPr id="21" name="Text 19"/>
          <p:cNvSpPr/>
          <p:nvPr/>
        </p:nvSpPr>
        <p:spPr>
          <a:xfrm>
            <a:off x="78638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78638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Dashboard &amp; data model</a:t>
            </a:r>
            <a:endParaRPr lang="en-US" sz="1250" dirty="0"/>
          </a:p>
        </p:txBody>
      </p:sp>
      <p:sp>
        <p:nvSpPr>
          <p:cNvPr id="23" name="Text 21"/>
          <p:cNvSpPr/>
          <p:nvPr/>
        </p:nvSpPr>
        <p:spPr>
          <a:xfrm>
            <a:off x="78638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Events are normalised and visualised</a:t>
            </a:r>
            <a:endParaRPr lang="en-US" sz="1000" dirty="0"/>
          </a:p>
        </p:txBody>
      </p:sp>
      <p:sp>
        <p:nvSpPr>
          <p:cNvPr id="24" name="Shape 22"/>
          <p:cNvSpPr/>
          <p:nvPr/>
        </p:nvSpPr>
        <p:spPr>
          <a:xfrm>
            <a:off x="4328160" y="2999232"/>
            <a:ext cx="3505200" cy="1298448"/>
          </a:xfrm>
          <a:prstGeom prst="roundRect">
            <a:avLst>
              <a:gd name="adj" fmla="val 3521"/>
            </a:avLst>
          </a:prstGeom>
          <a:solidFill>
            <a:srgbClr val="15171B"/>
          </a:solidFill>
          <a:ln w="12700">
            <a:solidFill>
              <a:srgbClr val="15171B"/>
            </a:solidFill>
            <a:prstDash val="solid"/>
          </a:ln>
        </p:spPr>
      </p:sp>
      <p:sp>
        <p:nvSpPr>
          <p:cNvPr id="25" name="Shape 23"/>
          <p:cNvSpPr/>
          <p:nvPr/>
        </p:nvSpPr>
        <p:spPr>
          <a:xfrm>
            <a:off x="4565904" y="3236976"/>
            <a:ext cx="310896" cy="310896"/>
          </a:xfrm>
          <a:prstGeom prst="roundRect">
            <a:avLst>
              <a:gd name="adj" fmla="val 26471"/>
            </a:avLst>
          </a:prstGeom>
          <a:solidFill>
            <a:srgbClr val="22D3EE"/>
          </a:solidFill>
          <a:ln w="12700">
            <a:solidFill>
              <a:srgbClr val="22D3EE"/>
            </a:solidFill>
            <a:prstDash val="solid"/>
          </a:ln>
        </p:spPr>
      </p:sp>
      <p:sp>
        <p:nvSpPr>
          <p:cNvPr id="26" name="Text 24"/>
          <p:cNvSpPr/>
          <p:nvPr/>
        </p:nvSpPr>
        <p:spPr>
          <a:xfrm>
            <a:off x="456590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6590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Alert triage end to end</a:t>
            </a:r>
            <a:endParaRPr lang="en-US" sz="1250" dirty="0"/>
          </a:p>
        </p:txBody>
      </p:sp>
      <p:sp>
        <p:nvSpPr>
          <p:cNvPr id="28" name="Text 26"/>
          <p:cNvSpPr/>
          <p:nvPr/>
        </p:nvSpPr>
        <p:spPr>
          <a:xfrm>
            <a:off x="456590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 alert is investigated and classified</a:t>
            </a:r>
            <a:endParaRPr lang="en-US" sz="1000" dirty="0"/>
          </a:p>
        </p:txBody>
      </p:sp>
      <p:sp>
        <p:nvSpPr>
          <p:cNvPr id="29" name="Shape 27"/>
          <p:cNvSpPr/>
          <p:nvPr/>
        </p:nvSpPr>
        <p:spPr>
          <a:xfrm>
            <a:off x="8107680" y="2999232"/>
            <a:ext cx="3505200" cy="1298448"/>
          </a:xfrm>
          <a:prstGeom prst="roundRect">
            <a:avLst>
              <a:gd name="adj" fmla="val 3521"/>
            </a:avLst>
          </a:prstGeom>
          <a:solidFill>
            <a:srgbClr val="15171B"/>
          </a:solidFill>
          <a:ln w="12700">
            <a:solidFill>
              <a:srgbClr val="15171B"/>
            </a:solidFill>
            <a:prstDash val="solid"/>
          </a:ln>
        </p:spPr>
      </p:sp>
      <p:sp>
        <p:nvSpPr>
          <p:cNvPr id="30" name="Shape 28"/>
          <p:cNvSpPr/>
          <p:nvPr/>
        </p:nvSpPr>
        <p:spPr>
          <a:xfrm>
            <a:off x="8345424" y="3236976"/>
            <a:ext cx="310896" cy="310896"/>
          </a:xfrm>
          <a:prstGeom prst="roundRect">
            <a:avLst>
              <a:gd name="adj" fmla="val 26471"/>
            </a:avLst>
          </a:prstGeom>
          <a:solidFill>
            <a:srgbClr val="22D3EE"/>
          </a:solidFill>
          <a:ln w="12700">
            <a:solidFill>
              <a:srgbClr val="22D3EE"/>
            </a:solidFill>
            <a:prstDash val="solid"/>
          </a:ln>
        </p:spPr>
      </p:sp>
      <p:sp>
        <p:nvSpPr>
          <p:cNvPr id="31" name="Text 29"/>
          <p:cNvSpPr/>
          <p:nvPr/>
        </p:nvSpPr>
        <p:spPr>
          <a:xfrm>
            <a:off x="834542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834542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The two investigations</a:t>
            </a:r>
            <a:endParaRPr lang="en-US" sz="1250" dirty="0"/>
          </a:p>
        </p:txBody>
      </p:sp>
      <p:sp>
        <p:nvSpPr>
          <p:cNvPr id="33" name="Text 31"/>
          <p:cNvSpPr/>
          <p:nvPr/>
        </p:nvSpPr>
        <p:spPr>
          <a:xfrm>
            <a:off x="834542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Item and device context is gathered</a:t>
            </a:r>
            <a:endParaRPr lang="en-US" sz="1000" dirty="0"/>
          </a:p>
        </p:txBody>
      </p:sp>
      <p:sp>
        <p:nvSpPr>
          <p:cNvPr id="34" name="Shape 32"/>
          <p:cNvSpPr/>
          <p:nvPr/>
        </p:nvSpPr>
        <p:spPr>
          <a:xfrm>
            <a:off x="548640" y="4517136"/>
            <a:ext cx="3505200" cy="1298448"/>
          </a:xfrm>
          <a:prstGeom prst="roundRect">
            <a:avLst>
              <a:gd name="adj" fmla="val 3521"/>
            </a:avLst>
          </a:prstGeom>
          <a:solidFill>
            <a:srgbClr val="15171B"/>
          </a:solidFill>
          <a:ln w="12700">
            <a:solidFill>
              <a:srgbClr val="15171B"/>
            </a:solidFill>
            <a:prstDash val="solid"/>
          </a:ln>
        </p:spPr>
      </p:sp>
      <p:sp>
        <p:nvSpPr>
          <p:cNvPr id="35" name="Shape 33"/>
          <p:cNvSpPr/>
          <p:nvPr/>
        </p:nvSpPr>
        <p:spPr>
          <a:xfrm>
            <a:off x="786384" y="4754880"/>
            <a:ext cx="310896" cy="310896"/>
          </a:xfrm>
          <a:prstGeom prst="roundRect">
            <a:avLst>
              <a:gd name="adj" fmla="val 26471"/>
            </a:avLst>
          </a:prstGeom>
          <a:solidFill>
            <a:srgbClr val="3FB950"/>
          </a:solidFill>
          <a:ln w="12700">
            <a:solidFill>
              <a:srgbClr val="3FB950"/>
            </a:solidFill>
            <a:prstDash val="solid"/>
          </a:ln>
        </p:spPr>
      </p:sp>
      <p:sp>
        <p:nvSpPr>
          <p:cNvPr id="36" name="Text 34"/>
          <p:cNvSpPr/>
          <p:nvPr/>
        </p:nvSpPr>
        <p:spPr>
          <a:xfrm>
            <a:off x="78638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p:nvPr/>
        </p:nvSpPr>
        <p:spPr>
          <a:xfrm>
            <a:off x="78638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Gated response</a:t>
            </a:r>
            <a:endParaRPr lang="en-US" sz="1250" dirty="0"/>
          </a:p>
        </p:txBody>
      </p:sp>
      <p:sp>
        <p:nvSpPr>
          <p:cNvPr id="38" name="Text 36"/>
          <p:cNvSpPr/>
          <p:nvPr/>
        </p:nvSpPr>
        <p:spPr>
          <a:xfrm>
            <a:off x="78638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is blocked without a human</a:t>
            </a:r>
            <a:endParaRPr lang="en-US" sz="1000" dirty="0"/>
          </a:p>
        </p:txBody>
      </p:sp>
      <p:sp>
        <p:nvSpPr>
          <p:cNvPr id="39" name="Shape 37"/>
          <p:cNvSpPr/>
          <p:nvPr/>
        </p:nvSpPr>
        <p:spPr>
          <a:xfrm>
            <a:off x="4328160" y="4517136"/>
            <a:ext cx="3505200" cy="1298448"/>
          </a:xfrm>
          <a:prstGeom prst="roundRect">
            <a:avLst>
              <a:gd name="adj" fmla="val 3521"/>
            </a:avLst>
          </a:prstGeom>
          <a:solidFill>
            <a:srgbClr val="15171B"/>
          </a:solidFill>
          <a:ln w="12700">
            <a:solidFill>
              <a:srgbClr val="15171B"/>
            </a:solidFill>
            <a:prstDash val="solid"/>
          </a:ln>
        </p:spPr>
      </p:sp>
      <p:sp>
        <p:nvSpPr>
          <p:cNvPr id="40" name="Shape 38"/>
          <p:cNvSpPr/>
          <p:nvPr/>
        </p:nvSpPr>
        <p:spPr>
          <a:xfrm>
            <a:off x="4565904" y="4754880"/>
            <a:ext cx="310896" cy="310896"/>
          </a:xfrm>
          <a:prstGeom prst="roundRect">
            <a:avLst>
              <a:gd name="adj" fmla="val 26471"/>
            </a:avLst>
          </a:prstGeom>
          <a:solidFill>
            <a:srgbClr val="22D3EE"/>
          </a:solidFill>
          <a:ln w="12700">
            <a:solidFill>
              <a:srgbClr val="22D3EE"/>
            </a:solidFill>
            <a:prstDash val="solid"/>
          </a:ln>
        </p:spPr>
      </p:sp>
      <p:sp>
        <p:nvSpPr>
          <p:cNvPr id="41" name="Text 39"/>
          <p:cNvSpPr/>
          <p:nvPr/>
        </p:nvSpPr>
        <p:spPr>
          <a:xfrm>
            <a:off x="456590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p:nvPr/>
        </p:nvSpPr>
        <p:spPr>
          <a:xfrm>
            <a:off x="456590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Scheduled hunt</a:t>
            </a:r>
            <a:endParaRPr lang="en-US" sz="1250" dirty="0"/>
          </a:p>
        </p:txBody>
      </p:sp>
      <p:sp>
        <p:nvSpPr>
          <p:cNvPr id="43" name="Text 41"/>
          <p:cNvSpPr/>
          <p:nvPr/>
        </p:nvSpPr>
        <p:spPr>
          <a:xfrm>
            <a:off x="456590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Risky MCP servers surface without an alert</a:t>
            </a:r>
            <a:endParaRPr lang="en-US" sz="1000" dirty="0"/>
          </a:p>
        </p:txBody>
      </p:sp>
      <p:sp>
        <p:nvSpPr>
          <p:cNvPr id="44" name="Shape 42"/>
          <p:cNvSpPr/>
          <p:nvPr/>
        </p:nvSpPr>
        <p:spPr>
          <a:xfrm>
            <a:off x="8107680" y="4517136"/>
            <a:ext cx="3505200" cy="1298448"/>
          </a:xfrm>
          <a:prstGeom prst="roundRect">
            <a:avLst>
              <a:gd name="adj" fmla="val 3521"/>
            </a:avLst>
          </a:prstGeom>
          <a:solidFill>
            <a:srgbClr val="15171B"/>
          </a:solidFill>
          <a:ln w="12700">
            <a:solidFill>
              <a:srgbClr val="15171B"/>
            </a:solidFill>
            <a:prstDash val="solid"/>
          </a:ln>
        </p:spPr>
      </p:sp>
      <p:sp>
        <p:nvSpPr>
          <p:cNvPr id="45" name="Shape 43"/>
          <p:cNvSpPr/>
          <p:nvPr/>
        </p:nvSpPr>
        <p:spPr>
          <a:xfrm>
            <a:off x="8345424" y="4754880"/>
            <a:ext cx="310896" cy="310896"/>
          </a:xfrm>
          <a:prstGeom prst="roundRect">
            <a:avLst>
              <a:gd name="adj" fmla="val 26471"/>
            </a:avLst>
          </a:prstGeom>
          <a:solidFill>
            <a:srgbClr val="E8551F"/>
          </a:solidFill>
          <a:ln w="12700">
            <a:solidFill>
              <a:srgbClr val="E8551F"/>
            </a:solidFill>
            <a:prstDash val="solid"/>
          </a:ln>
        </p:spPr>
      </p:sp>
      <p:sp>
        <p:nvSpPr>
          <p:cNvPr id="46" name="Text 44"/>
          <p:cNvSpPr/>
          <p:nvPr/>
        </p:nvSpPr>
        <p:spPr>
          <a:xfrm>
            <a:off x="834542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p:nvPr/>
        </p:nvSpPr>
        <p:spPr>
          <a:xfrm>
            <a:off x="834542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Script Runner job</a:t>
            </a:r>
            <a:endParaRPr lang="en-US" sz="1250" dirty="0"/>
          </a:p>
        </p:txBody>
      </p:sp>
      <p:sp>
        <p:nvSpPr>
          <p:cNvPr id="48" name="Text 46"/>
          <p:cNvSpPr/>
          <p:nvPr/>
        </p:nvSpPr>
        <p:spPr>
          <a:xfrm>
            <a:off x="834542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scripts run on Cortex-Agent endpoints</a:t>
            </a:r>
            <a:endParaRPr lang="en-US" sz="1000" dirty="0"/>
          </a:p>
        </p:txBody>
      </p:sp>
      <p:sp>
        <p:nvSpPr>
          <p:cNvPr id="49" name="Text 47"/>
          <p:cNvSpPr/>
          <p:nvPr/>
        </p:nvSpPr>
        <p:spPr>
          <a:xfrm>
            <a:off x="548640" y="6053328"/>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Run them in order — each test assumes the previous one passed.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&amp; authorisation</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add a KOI instance.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then click Test.</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!koi-users-list limit=1</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table with up to five rows.</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koi-users-list returns a user record.</a:t>
            </a:r>
            <a:endParaRPr lang="en-US" sz="1150" dirty="0"/>
          </a:p>
        </p:txBody>
      </p:sp>
      <p:sp>
        <p:nvSpPr>
          <p:cNvPr id="24" name="Text 22"/>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Forbidden on either command.</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koi-users-list is the egress probe. A valid key can still return 403 from a shared cloud egress — if it does, run the integration on a Cortex engine whose egress IP KOI accepts. Event collection is unaffected either way.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 the instance, enable Fetch events and save.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one or two fetch cycles.</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the query after the next cycle.</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!koi-fetch-context-get</a:t>
            </a:r>
            <a:endParaRPr lang="en-US" sz="10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for the Alerts and Audit log types.</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koi-fetch-context-get shows the cursor.</a:t>
            </a:r>
            <a:endParaRPr lang="en-US" sz="1150" dirty="0"/>
          </a:p>
        </p:txBody>
      </p:sp>
      <p:sp>
        <p:nvSpPr>
          <p:cNvPr id="26" name="Shape 24"/>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Event collection uses a different KOI endpoint from the command surface, so it keeps working even when the sensitive endpoints return 403. A passing test 2 alongside a failing test 1 points squarely at egress.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Command surface</a:t>
            </a:r>
            <a:endParaRPr lang="en-US" sz="3100" dirty="0"/>
          </a:p>
        </p:txBody>
      </p:sp>
      <p:sp>
        <p:nvSpPr>
          <p:cNvPr id="4" name="Shape 2"/>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Sweep the read commands in the playground: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!koi-koidex-search query=&lt;package&gt;</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a:t>
            </a:r>
            <a:endParaRPr lang="en-US" sz="10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!koi-findings-list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Take a device id from test 1 and run:</a:t>
            </a:r>
            <a:endParaRPr lang="en-US" sz="11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!koi-device-inventory-get device_id=&lt;id&gt;</a:t>
            </a:r>
            <a:endParaRPr lang="en-US" sz="10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returns a table plus context under Koi.*</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on any of them.</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Lists everything installed on that host.</a:t>
            </a:r>
            <a:endParaRPr lang="en-US" sz="1150" dirty="0"/>
          </a:p>
        </p:txBody>
      </p:sp>
      <p:sp>
        <p:nvSpPr>
          <p:cNvPr id="30" name="Text 28"/>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500 items on one host, 35 flagged high risk.</a:t>
            </a:r>
            <a:endParaRPr lang="en-US" sz="1150" dirty="0"/>
          </a:p>
        </p:txBody>
      </p:sp>
      <p:sp>
        <p:nvSpPr>
          <p:cNvPr id="32" name="Shape 30"/>
          <p:cNvSpPr/>
          <p:nvPr/>
        </p:nvSpPr>
        <p:spPr>
          <a:xfrm>
            <a:off x="548640" y="5175504"/>
            <a:ext cx="11064240" cy="841248"/>
          </a:xfrm>
          <a:prstGeom prst="roundRect">
            <a:avLst>
              <a:gd name="adj" fmla="val 5435"/>
            </a:avLst>
          </a:prstGeom>
          <a:solidFill>
            <a:srgbClr val="1C2026"/>
          </a:solidFill>
          <a:ln w="12700">
            <a:solidFill>
              <a:srgbClr val="1C2026"/>
            </a:solidFill>
            <a:prstDash val="solid"/>
          </a:ln>
        </p:spPr>
      </p:sp>
      <p:sp>
        <p:nvSpPr>
          <p:cNvPr id="33" name="Shape 31"/>
          <p:cNvSpPr/>
          <p:nvPr/>
        </p:nvSpPr>
        <p:spPr>
          <a:xfrm>
            <a:off x="804672" y="5422392"/>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422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3492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Twenty of the twenty-six commands are read-only. Only six change tenant state: the allowlist and blocklist add/remove pairs, koi-policy-status-update and koi-fetch-context-set. None of them run in this test.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 &amp; data model</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Koi Alerts Dashboard.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the time range to cover your ingested data.</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each widget renders.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check the modelling with XQL:</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 not empty states.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XDM fields are populated, not null.</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activity matches what KOI shows.</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empty dashboard with a passing test 2 usually means the time range, not the data. Widen it before investigating the rules.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 end to end</a:t>
            </a:r>
            <a:endParaRPr lang="en-US" sz="3100" dirty="0"/>
          </a:p>
        </p:txBody>
      </p:sp>
      <p:sp>
        <p:nvSpPr>
          <p:cNvPr id="4" name="Shape 2"/>
          <p:cNvSpPr/>
          <p:nvPr/>
        </p:nvSpPr>
        <p:spPr>
          <a:xfrm>
            <a:off x="548640" y="1444752"/>
            <a:ext cx="6400800" cy="2711196"/>
          </a:xfrm>
          <a:prstGeom prst="roundRect">
            <a:avLst>
              <a:gd name="adj" fmla="val 1686"/>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ingested KOI alert (source koi).</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and run KOI - Alert Triage.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to completion.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from top to bottom.</a:t>
            </a:r>
            <a:endParaRPr lang="en-US" sz="1150" dirty="0"/>
          </a:p>
        </p:txBody>
      </p:sp>
      <p:sp>
        <p:nvSpPr>
          <p:cNvPr id="14" name="Shape 12"/>
          <p:cNvSpPr/>
          <p:nvPr/>
        </p:nvSpPr>
        <p:spPr>
          <a:xfrm>
            <a:off x="7315200" y="1444752"/>
            <a:ext cx="4297680" cy="2711196"/>
          </a:xfrm>
          <a:prstGeom prst="roundRect">
            <a:avLst>
              <a:gd name="adj" fmla="val 1686"/>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completes — runStatus: completed.</a:t>
            </a:r>
            <a:endParaRPr lang="en-US" sz="1150" dirty="0"/>
          </a:p>
        </p:txBody>
      </p:sp>
      <p:sp>
        <p:nvSpPr>
          <p:cNvPr id="18" name="Text 1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investigation summary is posted.</a:t>
            </a:r>
            <a:endParaRPr lang="en-US" sz="1150" dirty="0"/>
          </a:p>
        </p:txBody>
      </p:sp>
      <p:sp>
        <p:nvSpPr>
          <p:cNvPr id="20" name="Text 18"/>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investigation summary is posted.</a:t>
            </a:r>
            <a:endParaRPr lang="en-US" sz="1150" dirty="0"/>
          </a:p>
        </p:txBody>
      </p:sp>
      <p:sp>
        <p:nvSpPr>
          <p:cNvPr id="22" name="Text 20"/>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triage summary carries a verdict.</a:t>
            </a:r>
            <a:endParaRPr lang="en-US" sz="1150" dirty="0"/>
          </a:p>
        </p:txBody>
      </p:sp>
      <p:sp>
        <p:nvSpPr>
          <p:cNvPr id="24" name="Text 22"/>
          <p:cNvSpPr/>
          <p:nvPr/>
        </p:nvSpPr>
        <p:spPr>
          <a:xfrm>
            <a:off x="7626096" y="33649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649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Benign auto-closes, Suspicious stays open, Malicious raises severity.</a:t>
            </a:r>
            <a:endParaRPr lang="en-US" sz="1150" dirty="0"/>
          </a:p>
        </p:txBody>
      </p:sp>
      <p:sp>
        <p:nvSpPr>
          <p:cNvPr id="26" name="Shape 24"/>
          <p:cNvSpPr/>
          <p:nvPr/>
        </p:nvSpPr>
        <p:spPr>
          <a:xfrm>
            <a:off x="548640" y="4375404"/>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622292"/>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6222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5491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Reference run: a vulnerable-dependency alert on a package whose KOI catalog risk is High escalated to Malicious — driven by the independent catalog data, not the alert's own severity. That corroboration is the point of the verdict logic.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two investigations</a:t>
            </a:r>
            <a:endParaRPr lang="en-US" sz="3100" dirty="0"/>
          </a:p>
        </p:txBody>
      </p:sp>
      <p:sp>
        <p:nvSpPr>
          <p:cNvPr id="4" name="Shape 2"/>
          <p:cNvSpPr/>
          <p:nvPr/>
        </p:nvSpPr>
        <p:spPr>
          <a:xfrm>
            <a:off x="548640" y="1444752"/>
            <a:ext cx="6400800" cy="2194560"/>
          </a:xfrm>
          <a:prstGeom prst="roundRect">
            <a:avLst>
              <a:gd name="adj" fmla="val 208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test 5 run, open the item investigation summary.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device investigation summary and its risky-items table.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run the device investigation on its own: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Investigate Device, device_id=&lt;id&gt;</a:t>
            </a:r>
            <a:endParaRPr lang="en-US" sz="1050" dirty="0"/>
          </a:p>
        </p:txBody>
      </p:sp>
      <p:sp>
        <p:nvSpPr>
          <p:cNvPr id="14" name="Shape 12"/>
          <p:cNvSpPr/>
          <p:nvPr/>
        </p:nvSpPr>
        <p:spPr>
          <a:xfrm>
            <a:off x="7315200" y="1444752"/>
            <a:ext cx="4297680" cy="2194560"/>
          </a:xfrm>
          <a:prstGeom prst="roundRect">
            <a:avLst>
              <a:gd name="adj" fmla="val 2083"/>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 catalog risk and AI summary, org exposure, endpoints and users, blocklist state, remediation and approval history.</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Device: everything installed on the host, which of it is risky, host remediations.</a:t>
            </a:r>
            <a:endParaRPr lang="en-US" sz="1150" dirty="0"/>
          </a:p>
        </p:txBody>
      </p:sp>
      <p:sp>
        <p:nvSpPr>
          <p:cNvPr id="20" name="Shape 18"/>
          <p:cNvSpPr/>
          <p:nvPr/>
        </p:nvSpPr>
        <p:spPr>
          <a:xfrm>
            <a:off x="548640" y="3858768"/>
            <a:ext cx="11064240" cy="841248"/>
          </a:xfrm>
          <a:prstGeom prst="roundRect">
            <a:avLst>
              <a:gd name="adj" fmla="val 5435"/>
            </a:avLst>
          </a:prstGeom>
          <a:solidFill>
            <a:srgbClr val="1C2026"/>
          </a:solidFill>
          <a:ln w="12700">
            <a:solidFill>
              <a:srgbClr val="1C2026"/>
            </a:solidFill>
            <a:prstDash val="solid"/>
          </a:ln>
        </p:spPr>
      </p:sp>
      <p:sp>
        <p:nvSpPr>
          <p:cNvPr id="21" name="Shape 19"/>
          <p:cNvSpPr/>
          <p:nvPr/>
        </p:nvSpPr>
        <p:spPr>
          <a:xfrm>
            <a:off x="804672" y="4105656"/>
            <a:ext cx="310896" cy="310896"/>
          </a:xfrm>
          <a:prstGeom prst="roundRect">
            <a:avLst>
              <a:gd name="adj" fmla="val 26471"/>
            </a:avLst>
          </a:prstGeom>
          <a:solidFill>
            <a:srgbClr val="F5A524"/>
          </a:solidFill>
          <a:ln w="12700">
            <a:solidFill>
              <a:srgbClr val="F5A524"/>
            </a:solidFill>
            <a:prstDash val="solid"/>
          </a:ln>
        </p:spPr>
      </p:sp>
      <p:sp>
        <p:nvSpPr>
          <p:cNvPr id="22" name="Text 20"/>
          <p:cNvSpPr/>
          <p:nvPr/>
        </p:nvSpPr>
        <p:spPr>
          <a:xfrm>
            <a:off x="804672" y="4105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98448" y="4032504"/>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Known cosmetic issue: a few item-investigation fields render with array brackets — ["high"] rather than high — because the platform resolves arrays differently inside a sub-playbook. The values are correct and the analyst-facing triage summary renders clean.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SAFETY-CRITICAL</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Response stays gated on a human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Let a Malicious verdict reach the response step, or run it directly: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Block and Remediate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item_id=&lt;id&gt;  marketplace=&lt;mp&gt;  auto_block=false</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approve yet.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Inspect the run state and the war room.</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approve, and re-inspect.</a:t>
            </a:r>
            <a:endParaRPr lang="en-US" sz="11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 runStatus: waiting.</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koi-blocklist-items-add has NOT executed.</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a:t>
            </a:r>
            <a:endParaRPr lang="en-US" sz="1150" dirty="0"/>
          </a:p>
        </p:txBody>
      </p:sp>
      <p:sp>
        <p:nvSpPr>
          <p:cNvPr id="26" name="Text 24"/>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358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already-blocklisted item short-circuits as Already blocked.</a:t>
            </a:r>
            <a:endParaRPr lang="en-US" sz="1150" dirty="0"/>
          </a:p>
        </p:txBody>
      </p:sp>
      <p:sp>
        <p:nvSpPr>
          <p:cNvPr id="28" name="Text 26"/>
          <p:cNvSpPr/>
          <p:nvPr/>
        </p:nvSpPr>
        <p:spPr>
          <a:xfrm>
            <a:off x="7626096" y="35524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524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Only then does the blocklist write fire.</a:t>
            </a:r>
            <a:endParaRPr lang="en-US" sz="1150" dirty="0"/>
          </a:p>
        </p:txBody>
      </p:sp>
      <p:sp>
        <p:nvSpPr>
          <p:cNvPr id="30" name="Shape 28"/>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31" name="Shape 29"/>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This is the one test that must pass before you use the pack in production. Triage always calls the response playbook with auto_block=false, so a Malicious verdict can never block software on its own.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Scheduled hunt for risky MCP servers</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KOI - MCP Server Audit manually first.</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Leave risk_levels at its default:</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high,critical</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Review what it flags.</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attach it to a time-triggered Job.</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MCP-server inventory is enumerated.</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Items at or above the threshold are flagged and reported.</a:t>
            </a:r>
            <a:endParaRPr lang="en-US" sz="1150" dirty="0"/>
          </a:p>
        </p:txBody>
      </p:sp>
      <p:sp>
        <p:nvSpPr>
          <p:cNvPr id="22" name="Text 20"/>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Runs on your schedule with no alert needed.</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audit queries koi-inventory-list with view=mcp_servers. Confirm that view matches how your tenant categorises MCP servers — if it returns nothing, check the categorisation before assuming the estate is clean.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job</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prerequisites exist and match by name.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Create the JSON List named exactly:</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Run now.</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open Action Center.</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is green.</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ScriptResult ok:true plus an action_id.</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SKIPPED info entries where no connected endpoint matches the OS scope — and no failure email.</a:t>
            </a:r>
            <a:endParaRPr lang="en-US" sz="1150" dirty="0"/>
          </a:p>
        </p:txBody>
      </p:sp>
      <p:sp>
        <p:nvSpPr>
          <p:cNvPr id="24" name="Text 22"/>
          <p:cNvSpPr/>
          <p:nvPr/>
        </p:nvSpPr>
        <p:spPr>
          <a:xfrm>
            <a:off x="7626096" y="3223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22326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Action Center shows COMPLETED_SUCCESSFULLY.</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 binding on the 'Names that must match exactly' slide applies here. The war room records which reference broke, and a SKIPPED entry is not a failure — it means no connected, unisolated endpoint currently matches that OS scope.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Symptom → cause → fix</a:t>
            </a:r>
            <a:endParaRPr lang="en-US" sz="3100" dirty="0"/>
          </a:p>
        </p:txBody>
      </p:sp>
      <p:sp>
        <p:nvSpPr>
          <p:cNvPr id="4" name="Shape 2"/>
          <p:cNvSpPr/>
          <p:nvPr/>
        </p:nvSpPr>
        <p:spPr>
          <a:xfrm>
            <a:off x="548640" y="1517904"/>
            <a:ext cx="11064240" cy="548640"/>
          </a:xfrm>
          <a:prstGeom prst="roundRect">
            <a:avLst>
              <a:gd name="adj" fmla="val 8333"/>
            </a:avLst>
          </a:prstGeom>
          <a:solidFill>
            <a:srgbClr val="15171B"/>
          </a:solidFill>
          <a:ln w="12700">
            <a:solidFill>
              <a:srgbClr val="15171B"/>
            </a:solidFill>
            <a:prstDash val="solid"/>
          </a:ln>
        </p:spPr>
      </p:sp>
      <p:sp>
        <p:nvSpPr>
          <p:cNvPr id="5" name="Text 3"/>
          <p:cNvSpPr/>
          <p:nvPr/>
        </p:nvSpPr>
        <p:spPr>
          <a:xfrm>
            <a:off x="822960" y="167335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403 on inventory, koidex or users</a:t>
            </a:r>
            <a:endParaRPr lang="en-US" sz="1150" dirty="0"/>
          </a:p>
        </p:txBody>
      </p:sp>
      <p:sp>
        <p:nvSpPr>
          <p:cNvPr id="6" name="Text 4"/>
          <p:cNvSpPr/>
          <p:nvPr/>
        </p:nvSpPr>
        <p:spPr>
          <a:xfrm>
            <a:off x="4206240" y="168249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Source IP not accepted by KOI's edge</a:t>
            </a:r>
            <a:endParaRPr lang="en-US" sz="1050" dirty="0"/>
          </a:p>
        </p:txBody>
      </p:sp>
      <p:sp>
        <p:nvSpPr>
          <p:cNvPr id="7" name="Text 5"/>
          <p:cNvSpPr/>
          <p:nvPr/>
        </p:nvSpPr>
        <p:spPr>
          <a:xfrm>
            <a:off x="7680960" y="168249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integration on a Cortex engine with an allowlisted egress IP</a:t>
            </a:r>
            <a:endParaRPr lang="en-US" sz="1050" dirty="0"/>
          </a:p>
        </p:txBody>
      </p:sp>
      <p:sp>
        <p:nvSpPr>
          <p:cNvPr id="8" name="Shape 6"/>
          <p:cNvSpPr/>
          <p:nvPr/>
        </p:nvSpPr>
        <p:spPr>
          <a:xfrm>
            <a:off x="548640" y="2194560"/>
            <a:ext cx="11064240" cy="548640"/>
          </a:xfrm>
          <a:prstGeom prst="roundRect">
            <a:avLst>
              <a:gd name="adj" fmla="val 8333"/>
            </a:avLst>
          </a:prstGeom>
          <a:solidFill>
            <a:srgbClr val="15171B"/>
          </a:solidFill>
          <a:ln w="12700">
            <a:solidFill>
              <a:srgbClr val="15171B"/>
            </a:solidFill>
            <a:prstDash val="solid"/>
          </a:ln>
        </p:spPr>
      </p:sp>
      <p:sp>
        <p:nvSpPr>
          <p:cNvPr id="9" name="Text 7"/>
          <p:cNvSpPr/>
          <p:nvPr/>
        </p:nvSpPr>
        <p:spPr>
          <a:xfrm>
            <a:off x="822960" y="235000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Test passes but no events arrive</a:t>
            </a:r>
            <a:endParaRPr lang="en-US" sz="1150" dirty="0"/>
          </a:p>
        </p:txBody>
      </p:sp>
      <p:sp>
        <p:nvSpPr>
          <p:cNvPr id="10" name="Text 8"/>
          <p:cNvSpPr/>
          <p:nvPr/>
        </p:nvSpPr>
        <p:spPr>
          <a:xfrm>
            <a:off x="4206240" y="235915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Fetch events not enabled, or no new KOI activity</a:t>
            </a:r>
            <a:endParaRPr lang="en-US" sz="1050" dirty="0"/>
          </a:p>
        </p:txBody>
      </p:sp>
      <p:sp>
        <p:nvSpPr>
          <p:cNvPr id="11" name="Text 9"/>
          <p:cNvSpPr/>
          <p:nvPr/>
        </p:nvSpPr>
        <p:spPr>
          <a:xfrm>
            <a:off x="7680960" y="235915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Enable it, wait two cycles, check koi-fetch-context-get</a:t>
            </a:r>
            <a:endParaRPr lang="en-US" sz="1050" dirty="0"/>
          </a:p>
        </p:txBody>
      </p:sp>
      <p:sp>
        <p:nvSpPr>
          <p:cNvPr id="12" name="Shape 10"/>
          <p:cNvSpPr/>
          <p:nvPr/>
        </p:nvSpPr>
        <p:spPr>
          <a:xfrm>
            <a:off x="548640" y="2871216"/>
            <a:ext cx="11064240" cy="548640"/>
          </a:xfrm>
          <a:prstGeom prst="roundRect">
            <a:avLst>
              <a:gd name="adj" fmla="val 8333"/>
            </a:avLst>
          </a:prstGeom>
          <a:solidFill>
            <a:srgbClr val="15171B"/>
          </a:solidFill>
          <a:ln w="12700">
            <a:solidFill>
              <a:srgbClr val="15171B"/>
            </a:solidFill>
            <a:prstDash val="solid"/>
          </a:ln>
        </p:spPr>
      </p:sp>
      <p:sp>
        <p:nvSpPr>
          <p:cNvPr id="13" name="Text 11"/>
          <p:cNvSpPr/>
          <p:nvPr/>
        </p:nvSpPr>
        <p:spPr>
          <a:xfrm>
            <a:off x="822960" y="3026664"/>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Triage cannot find the item</a:t>
            </a:r>
            <a:endParaRPr lang="en-US" sz="1150" dirty="0"/>
          </a:p>
        </p:txBody>
      </p:sp>
      <p:sp>
        <p:nvSpPr>
          <p:cNvPr id="14" name="Text 12"/>
          <p:cNvSpPr/>
          <p:nvPr/>
        </p:nvSpPr>
        <p:spPr>
          <a:xfrm>
            <a:off x="4206240" y="3035808"/>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The alert maps the KOI payload elsewhere</a:t>
            </a:r>
            <a:endParaRPr lang="en-US" sz="1050" dirty="0"/>
          </a:p>
        </p:txBody>
      </p:sp>
      <p:sp>
        <p:nvSpPr>
          <p:cNvPr id="15" name="Text 13"/>
          <p:cNvSpPr/>
          <p:nvPr/>
        </p:nvSpPr>
        <p:spPr>
          <a:xfrm>
            <a:off x="7680960" y="3035808"/>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Adjust alert_description on KOI - Extract Alert Context</a:t>
            </a:r>
            <a:endParaRPr lang="en-US" sz="1050" dirty="0"/>
          </a:p>
        </p:txBody>
      </p:sp>
      <p:sp>
        <p:nvSpPr>
          <p:cNvPr id="16" name="Shape 14"/>
          <p:cNvSpPr/>
          <p:nvPr/>
        </p:nvSpPr>
        <p:spPr>
          <a:xfrm>
            <a:off x="548640" y="3547872"/>
            <a:ext cx="11064240" cy="548640"/>
          </a:xfrm>
          <a:prstGeom prst="roundRect">
            <a:avLst>
              <a:gd name="adj" fmla="val 8333"/>
            </a:avLst>
          </a:prstGeom>
          <a:solidFill>
            <a:srgbClr val="15171B"/>
          </a:solidFill>
          <a:ln w="12700">
            <a:solidFill>
              <a:srgbClr val="15171B"/>
            </a:solidFill>
            <a:prstDash val="solid"/>
          </a:ln>
        </p:spPr>
      </p:sp>
      <p:sp>
        <p:nvSpPr>
          <p:cNvPr id="17" name="Text 15"/>
          <p:cNvSpPr/>
          <p:nvPr/>
        </p:nvSpPr>
        <p:spPr>
          <a:xfrm>
            <a:off x="822960" y="370332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Enrichment empty, playbook still green</a:t>
            </a:r>
            <a:endParaRPr lang="en-US" sz="1150" dirty="0"/>
          </a:p>
        </p:txBody>
      </p:sp>
      <p:sp>
        <p:nvSpPr>
          <p:cNvPr id="18" name="Text 16"/>
          <p:cNvSpPr/>
          <p:nvPr/>
        </p:nvSpPr>
        <p:spPr>
          <a:xfrm>
            <a:off x="4206240" y="371246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Best-effort by design — KOI was unreachable</a:t>
            </a:r>
            <a:endParaRPr lang="en-US" sz="1050" dirty="0"/>
          </a:p>
        </p:txBody>
      </p:sp>
      <p:sp>
        <p:nvSpPr>
          <p:cNvPr id="19" name="Text 17"/>
          <p:cNvSpPr/>
          <p:nvPr/>
        </p:nvSpPr>
        <p:spPr>
          <a:xfrm>
            <a:off x="7680960" y="371246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Verify with !koi-users-list limit=1</a:t>
            </a:r>
            <a:endParaRPr lang="en-US" sz="1050" dirty="0"/>
          </a:p>
        </p:txBody>
      </p:sp>
      <p:sp>
        <p:nvSpPr>
          <p:cNvPr id="20" name="Shape 18"/>
          <p:cNvSpPr/>
          <p:nvPr/>
        </p:nvSpPr>
        <p:spPr>
          <a:xfrm>
            <a:off x="548640" y="4224528"/>
            <a:ext cx="11064240" cy="548640"/>
          </a:xfrm>
          <a:prstGeom prst="roundRect">
            <a:avLst>
              <a:gd name="adj" fmla="val 8333"/>
            </a:avLst>
          </a:prstGeom>
          <a:solidFill>
            <a:srgbClr val="15171B"/>
          </a:solidFill>
          <a:ln w="12700">
            <a:solidFill>
              <a:srgbClr val="15171B"/>
            </a:solidFill>
            <a:prstDash val="solid"/>
          </a:ln>
        </p:spPr>
      </p:sp>
      <p:sp>
        <p:nvSpPr>
          <p:cNvPr id="21" name="Text 19"/>
          <p:cNvSpPr/>
          <p:nvPr/>
        </p:nvSpPr>
        <p:spPr>
          <a:xfrm>
            <a:off x="822960" y="4379976"/>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Job entry reports SKIPPED</a:t>
            </a:r>
            <a:endParaRPr lang="en-US" sz="1150" dirty="0"/>
          </a:p>
        </p:txBody>
      </p:sp>
      <p:sp>
        <p:nvSpPr>
          <p:cNvPr id="22" name="Text 20"/>
          <p:cNvSpPr/>
          <p:nvPr/>
        </p:nvSpPr>
        <p:spPr>
          <a:xfrm>
            <a:off x="4206240" y="4389120"/>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 connected, unisolated endpoint matches the OS scope</a:t>
            </a:r>
            <a:endParaRPr lang="en-US" sz="1050" dirty="0"/>
          </a:p>
        </p:txBody>
      </p:sp>
      <p:sp>
        <p:nvSpPr>
          <p:cNvPr id="23" name="Text 21"/>
          <p:cNvSpPr/>
          <p:nvPr/>
        </p:nvSpPr>
        <p:spPr>
          <a:xfrm>
            <a:off x="7680960" y="4389120"/>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Check group membership and endpoint_os in the List</a:t>
            </a:r>
            <a:endParaRPr lang="en-US" sz="1050" dirty="0"/>
          </a:p>
        </p:txBody>
      </p:sp>
      <p:sp>
        <p:nvSpPr>
          <p:cNvPr id="24" name="Shape 22"/>
          <p:cNvSpPr/>
          <p:nvPr/>
        </p:nvSpPr>
        <p:spPr>
          <a:xfrm>
            <a:off x="548640" y="4901184"/>
            <a:ext cx="11064240" cy="548640"/>
          </a:xfrm>
          <a:prstGeom prst="roundRect">
            <a:avLst>
              <a:gd name="adj" fmla="val 8333"/>
            </a:avLst>
          </a:prstGeom>
          <a:solidFill>
            <a:srgbClr val="15171B"/>
          </a:solidFill>
          <a:ln w="12700">
            <a:solidFill>
              <a:srgbClr val="15171B"/>
            </a:solidFill>
            <a:prstDash val="solid"/>
          </a:ln>
        </p:spPr>
      </p:sp>
      <p:sp>
        <p:nvSpPr>
          <p:cNvPr id="25" name="Text 23"/>
          <p:cNvSpPr/>
          <p:nvPr/>
        </p:nvSpPr>
        <p:spPr>
          <a:xfrm>
            <a:off x="822960" y="505663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Script not found at dispatch</a:t>
            </a:r>
            <a:endParaRPr lang="en-US" sz="1150" dirty="0"/>
          </a:p>
        </p:txBody>
      </p:sp>
      <p:sp>
        <p:nvSpPr>
          <p:cNvPr id="26" name="Text 24"/>
          <p:cNvSpPr/>
          <p:nvPr/>
        </p:nvSpPr>
        <p:spPr>
          <a:xfrm>
            <a:off x="4206240" y="506577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Library name does not match script.name exactly</a:t>
            </a:r>
            <a:endParaRPr lang="en-US" sz="1050" dirty="0"/>
          </a:p>
        </p:txBody>
      </p:sp>
      <p:sp>
        <p:nvSpPr>
          <p:cNvPr id="27" name="Text 25"/>
          <p:cNvSpPr/>
          <p:nvPr/>
        </p:nvSpPr>
        <p:spPr>
          <a:xfrm>
            <a:off x="7680960" y="506577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Fix the name, or pin script.uuid to be rename-proof</a:t>
            </a:r>
            <a:endParaRPr lang="en-US" sz="1050" dirty="0"/>
          </a:p>
        </p:txBody>
      </p:sp>
      <p:sp>
        <p:nvSpPr>
          <p:cNvPr id="28" name="Text 26"/>
          <p:cNvSpPr/>
          <p:nvPr/>
        </p:nvSpPr>
        <p:spPr>
          <a:xfrm>
            <a:off x="548640" y="574243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first row accounts for most real-world failures — check egress before anything else.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572768"/>
            <a:ext cx="5349240" cy="585216"/>
          </a:xfrm>
          <a:prstGeom prst="roundRect">
            <a:avLst>
              <a:gd name="adj" fmla="val 7813"/>
            </a:avLst>
          </a:prstGeom>
          <a:solidFill>
            <a:srgbClr val="15171B"/>
          </a:solidFill>
          <a:ln w="12700">
            <a:solidFill>
              <a:srgbClr val="15171B"/>
            </a:solidFill>
            <a:prstDash val="solid"/>
          </a:ln>
        </p:spPr>
      </p:sp>
      <p:sp>
        <p:nvSpPr>
          <p:cNvPr id="6" name="Shape 4"/>
          <p:cNvSpPr/>
          <p:nvPr/>
        </p:nvSpPr>
        <p:spPr>
          <a:xfrm>
            <a:off x="749808" y="1700784"/>
            <a:ext cx="329184" cy="329184"/>
          </a:xfrm>
          <a:prstGeom prst="roundRect">
            <a:avLst>
              <a:gd name="adj" fmla="val 25000"/>
            </a:avLst>
          </a:prstGeom>
          <a:solidFill>
            <a:srgbClr val="3FB950"/>
          </a:solidFill>
          <a:ln w="12700">
            <a:solidFill>
              <a:srgbClr val="3FB950"/>
            </a:solidFill>
            <a:prstDash val="solid"/>
          </a:ln>
        </p:spPr>
      </p:sp>
      <p:sp>
        <p:nvSpPr>
          <p:cNvPr id="7" name="Text 5"/>
          <p:cNvSpPr/>
          <p:nvPr/>
        </p:nvSpPr>
        <p:spPr>
          <a:xfrm>
            <a:off x="749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43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Test returns Success and koi-devices-list returns rows</a:t>
            </a:r>
            <a:endParaRPr lang="en-US" sz="1100" dirty="0"/>
          </a:p>
        </p:txBody>
      </p:sp>
      <p:sp>
        <p:nvSpPr>
          <p:cNvPr id="9" name="Shape 7"/>
          <p:cNvSpPr/>
          <p:nvPr/>
        </p:nvSpPr>
        <p:spPr>
          <a:xfrm>
            <a:off x="548640" y="2286000"/>
            <a:ext cx="5349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49808" y="2414016"/>
            <a:ext cx="329184" cy="329184"/>
          </a:xfrm>
          <a:prstGeom prst="roundRect">
            <a:avLst>
              <a:gd name="adj" fmla="val 25000"/>
            </a:avLst>
          </a:prstGeom>
          <a:solidFill>
            <a:srgbClr val="3FB950"/>
          </a:solidFill>
          <a:ln w="12700">
            <a:solidFill>
              <a:srgbClr val="3FB950"/>
            </a:solidFill>
            <a:prstDash val="solid"/>
          </a:ln>
        </p:spPr>
      </p:sp>
      <p:sp>
        <p:nvSpPr>
          <p:cNvPr id="11" name="Text 9"/>
          <p:cNvSpPr/>
          <p:nvPr/>
        </p:nvSpPr>
        <p:spPr>
          <a:xfrm>
            <a:off x="749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43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koi_koi_raw event counts grow between fetch cycles</a:t>
            </a:r>
            <a:endParaRPr lang="en-US" sz="1100" dirty="0"/>
          </a:p>
        </p:txBody>
      </p:sp>
      <p:sp>
        <p:nvSpPr>
          <p:cNvPr id="13" name="Shape 11"/>
          <p:cNvSpPr/>
          <p:nvPr/>
        </p:nvSpPr>
        <p:spPr>
          <a:xfrm>
            <a:off x="548640" y="2999232"/>
            <a:ext cx="5349240" cy="585216"/>
          </a:xfrm>
          <a:prstGeom prst="roundRect">
            <a:avLst>
              <a:gd name="adj" fmla="val 7813"/>
            </a:avLst>
          </a:prstGeom>
          <a:solidFill>
            <a:srgbClr val="15171B"/>
          </a:solidFill>
          <a:ln w="12700">
            <a:solidFill>
              <a:srgbClr val="15171B"/>
            </a:solidFill>
            <a:prstDash val="solid"/>
          </a:ln>
        </p:spPr>
      </p:sp>
      <p:sp>
        <p:nvSpPr>
          <p:cNvPr id="14" name="Shape 12"/>
          <p:cNvSpPr/>
          <p:nvPr/>
        </p:nvSpPr>
        <p:spPr>
          <a:xfrm>
            <a:off x="749808" y="3127248"/>
            <a:ext cx="329184" cy="329184"/>
          </a:xfrm>
          <a:prstGeom prst="roundRect">
            <a:avLst>
              <a:gd name="adj" fmla="val 25000"/>
            </a:avLst>
          </a:prstGeom>
          <a:solidFill>
            <a:srgbClr val="3FB950"/>
          </a:solidFill>
          <a:ln w="12700">
            <a:solidFill>
              <a:srgbClr val="3FB950"/>
            </a:solidFill>
            <a:prstDash val="solid"/>
          </a:ln>
        </p:spPr>
      </p:sp>
      <p:sp>
        <p:nvSpPr>
          <p:cNvPr id="15" name="Text 13"/>
          <p:cNvSpPr/>
          <p:nvPr/>
        </p:nvSpPr>
        <p:spPr>
          <a:xfrm>
            <a:off x="749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43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Read commands return tenant data with no 403</a:t>
            </a:r>
            <a:endParaRPr lang="en-US" sz="1100" dirty="0"/>
          </a:p>
        </p:txBody>
      </p:sp>
      <p:sp>
        <p:nvSpPr>
          <p:cNvPr id="17" name="Shape 15"/>
          <p:cNvSpPr/>
          <p:nvPr/>
        </p:nvSpPr>
        <p:spPr>
          <a:xfrm>
            <a:off x="548640" y="3712464"/>
            <a:ext cx="5349240" cy="585216"/>
          </a:xfrm>
          <a:prstGeom prst="roundRect">
            <a:avLst>
              <a:gd name="adj" fmla="val 7813"/>
            </a:avLst>
          </a:prstGeom>
          <a:solidFill>
            <a:srgbClr val="15171B"/>
          </a:solidFill>
          <a:ln w="12700">
            <a:solidFill>
              <a:srgbClr val="15171B"/>
            </a:solidFill>
            <a:prstDash val="solid"/>
          </a:ln>
        </p:spPr>
      </p:sp>
      <p:sp>
        <p:nvSpPr>
          <p:cNvPr id="18" name="Shape 16"/>
          <p:cNvSpPr/>
          <p:nvPr/>
        </p:nvSpPr>
        <p:spPr>
          <a:xfrm>
            <a:off x="749808" y="3840480"/>
            <a:ext cx="329184" cy="329184"/>
          </a:xfrm>
          <a:prstGeom prst="roundRect">
            <a:avLst>
              <a:gd name="adj" fmla="val 25000"/>
            </a:avLst>
          </a:prstGeom>
          <a:solidFill>
            <a:srgbClr val="3FB950"/>
          </a:solidFill>
          <a:ln w="12700">
            <a:solidFill>
              <a:srgbClr val="3FB950"/>
            </a:solidFill>
            <a:prstDash val="solid"/>
          </a:ln>
        </p:spPr>
      </p:sp>
      <p:sp>
        <p:nvSpPr>
          <p:cNvPr id="19" name="Text 17"/>
          <p:cNvSpPr/>
          <p:nvPr/>
        </p:nvSpPr>
        <p:spPr>
          <a:xfrm>
            <a:off x="749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43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Dashboard widgets render and XDM fields are populated</a:t>
            </a:r>
            <a:endParaRPr lang="en-US" sz="1100" dirty="0"/>
          </a:p>
        </p:txBody>
      </p:sp>
      <p:sp>
        <p:nvSpPr>
          <p:cNvPr id="21" name="Shape 19"/>
          <p:cNvSpPr/>
          <p:nvPr/>
        </p:nvSpPr>
        <p:spPr>
          <a:xfrm>
            <a:off x="548640" y="4425696"/>
            <a:ext cx="5349240" cy="585216"/>
          </a:xfrm>
          <a:prstGeom prst="roundRect">
            <a:avLst>
              <a:gd name="adj" fmla="val 7813"/>
            </a:avLst>
          </a:prstGeom>
          <a:solidFill>
            <a:srgbClr val="15171B"/>
          </a:solidFill>
          <a:ln w="12700">
            <a:solidFill>
              <a:srgbClr val="15171B"/>
            </a:solidFill>
            <a:prstDash val="solid"/>
          </a:ln>
        </p:spPr>
      </p:sp>
      <p:sp>
        <p:nvSpPr>
          <p:cNvPr id="22" name="Shape 20"/>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3" name="Text 21"/>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43584" y="4562856"/>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Triage completes with a verdict and both summaries</a:t>
            </a:r>
            <a:endParaRPr lang="en-US" sz="1100" dirty="0"/>
          </a:p>
        </p:txBody>
      </p:sp>
      <p:sp>
        <p:nvSpPr>
          <p:cNvPr id="25" name="Shape 23"/>
          <p:cNvSpPr/>
          <p:nvPr/>
        </p:nvSpPr>
        <p:spPr>
          <a:xfrm>
            <a:off x="6263640" y="1572768"/>
            <a:ext cx="5349240" cy="585216"/>
          </a:xfrm>
          <a:prstGeom prst="roundRect">
            <a:avLst>
              <a:gd name="adj" fmla="val 7813"/>
            </a:avLst>
          </a:prstGeom>
          <a:solidFill>
            <a:srgbClr val="15171B"/>
          </a:solidFill>
          <a:ln w="12700">
            <a:solidFill>
              <a:srgbClr val="15171B"/>
            </a:solidFill>
            <a:prstDash val="solid"/>
          </a:ln>
        </p:spPr>
      </p:sp>
      <p:sp>
        <p:nvSpPr>
          <p:cNvPr id="26" name="Shape 24"/>
          <p:cNvSpPr/>
          <p:nvPr/>
        </p:nvSpPr>
        <p:spPr>
          <a:xfrm>
            <a:off x="6464808" y="1700784"/>
            <a:ext cx="329184" cy="329184"/>
          </a:xfrm>
          <a:prstGeom prst="roundRect">
            <a:avLst>
              <a:gd name="adj" fmla="val 25000"/>
            </a:avLst>
          </a:prstGeom>
          <a:solidFill>
            <a:srgbClr val="3FB950"/>
          </a:solidFill>
          <a:ln w="12700">
            <a:solidFill>
              <a:srgbClr val="3FB950"/>
            </a:solidFill>
            <a:prstDash val="solid"/>
          </a:ln>
        </p:spPr>
      </p:sp>
      <p:sp>
        <p:nvSpPr>
          <p:cNvPr id="27" name="Text 25"/>
          <p:cNvSpPr/>
          <p:nvPr/>
        </p:nvSpPr>
        <p:spPr>
          <a:xfrm>
            <a:off x="6464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58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Item and device investigations carry real KOI data</a:t>
            </a:r>
            <a:endParaRPr lang="en-US" sz="1100" dirty="0"/>
          </a:p>
        </p:txBody>
      </p:sp>
      <p:sp>
        <p:nvSpPr>
          <p:cNvPr id="29" name="Shape 27"/>
          <p:cNvSpPr/>
          <p:nvPr/>
        </p:nvSpPr>
        <p:spPr>
          <a:xfrm>
            <a:off x="6263640" y="2286000"/>
            <a:ext cx="5349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6464808" y="2414016"/>
            <a:ext cx="329184" cy="329184"/>
          </a:xfrm>
          <a:prstGeom prst="roundRect">
            <a:avLst>
              <a:gd name="adj" fmla="val 25000"/>
            </a:avLst>
          </a:prstGeom>
          <a:solidFill>
            <a:srgbClr val="3FB950"/>
          </a:solidFill>
          <a:ln w="12700">
            <a:solidFill>
              <a:srgbClr val="3FB950"/>
            </a:solidFill>
            <a:prstDash val="solid"/>
          </a:ln>
        </p:spPr>
      </p:sp>
      <p:sp>
        <p:nvSpPr>
          <p:cNvPr id="31" name="Text 29"/>
          <p:cNvSpPr/>
          <p:nvPr/>
        </p:nvSpPr>
        <p:spPr>
          <a:xfrm>
            <a:off x="6464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58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Run parks on approval; blocklist write did not execute</a:t>
            </a:r>
            <a:endParaRPr lang="en-US" sz="1100" dirty="0"/>
          </a:p>
        </p:txBody>
      </p:sp>
      <p:sp>
        <p:nvSpPr>
          <p:cNvPr id="33" name="Shape 31"/>
          <p:cNvSpPr/>
          <p:nvPr/>
        </p:nvSpPr>
        <p:spPr>
          <a:xfrm>
            <a:off x="6263640" y="2999232"/>
            <a:ext cx="5349240" cy="585216"/>
          </a:xfrm>
          <a:prstGeom prst="roundRect">
            <a:avLst>
              <a:gd name="adj" fmla="val 7813"/>
            </a:avLst>
          </a:prstGeom>
          <a:solidFill>
            <a:srgbClr val="15171B"/>
          </a:solidFill>
          <a:ln w="12700">
            <a:solidFill>
              <a:srgbClr val="15171B"/>
            </a:solidFill>
            <a:prstDash val="solid"/>
          </a:ln>
        </p:spPr>
      </p:sp>
      <p:sp>
        <p:nvSpPr>
          <p:cNvPr id="34" name="Shape 32"/>
          <p:cNvSpPr/>
          <p:nvPr/>
        </p:nvSpPr>
        <p:spPr>
          <a:xfrm>
            <a:off x="6464808" y="3127248"/>
            <a:ext cx="329184" cy="329184"/>
          </a:xfrm>
          <a:prstGeom prst="roundRect">
            <a:avLst>
              <a:gd name="adj" fmla="val 25000"/>
            </a:avLst>
          </a:prstGeom>
          <a:solidFill>
            <a:srgbClr val="3FB950"/>
          </a:solidFill>
          <a:ln w="12700">
            <a:solidFill>
              <a:srgbClr val="3FB950"/>
            </a:solidFill>
            <a:prstDash val="solid"/>
          </a:ln>
        </p:spPr>
      </p:sp>
      <p:sp>
        <p:nvSpPr>
          <p:cNvPr id="35" name="Text 33"/>
          <p:cNvSpPr/>
          <p:nvPr/>
        </p:nvSpPr>
        <p:spPr>
          <a:xfrm>
            <a:off x="6464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58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MCP audit flags items at or above the threshold</a:t>
            </a:r>
            <a:endParaRPr lang="en-US" sz="1100" dirty="0"/>
          </a:p>
        </p:txBody>
      </p:sp>
      <p:sp>
        <p:nvSpPr>
          <p:cNvPr id="37" name="Shape 35"/>
          <p:cNvSpPr/>
          <p:nvPr/>
        </p:nvSpPr>
        <p:spPr>
          <a:xfrm>
            <a:off x="6263640" y="3712464"/>
            <a:ext cx="5349240" cy="585216"/>
          </a:xfrm>
          <a:prstGeom prst="roundRect">
            <a:avLst>
              <a:gd name="adj" fmla="val 7813"/>
            </a:avLst>
          </a:prstGeom>
          <a:solidFill>
            <a:srgbClr val="15171B"/>
          </a:solidFill>
          <a:ln w="12700">
            <a:solidFill>
              <a:srgbClr val="15171B"/>
            </a:solidFill>
            <a:prstDash val="solid"/>
          </a:ln>
        </p:spPr>
      </p:sp>
      <p:sp>
        <p:nvSpPr>
          <p:cNvPr id="38" name="Shape 36"/>
          <p:cNvSpPr/>
          <p:nvPr/>
        </p:nvSpPr>
        <p:spPr>
          <a:xfrm>
            <a:off x="6464808" y="3840480"/>
            <a:ext cx="329184" cy="329184"/>
          </a:xfrm>
          <a:prstGeom prst="roundRect">
            <a:avLst>
              <a:gd name="adj" fmla="val 25000"/>
            </a:avLst>
          </a:prstGeom>
          <a:solidFill>
            <a:srgbClr val="3FB950"/>
          </a:solidFill>
          <a:ln w="12700">
            <a:solidFill>
              <a:srgbClr val="3FB950"/>
            </a:solidFill>
            <a:prstDash val="solid"/>
          </a:ln>
        </p:spPr>
      </p:sp>
      <p:sp>
        <p:nvSpPr>
          <p:cNvPr id="39" name="Text 37"/>
          <p:cNvSpPr/>
          <p:nvPr/>
        </p:nvSpPr>
        <p:spPr>
          <a:xfrm>
            <a:off x="6464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58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Job returns ScriptResult ok with an action_id</a:t>
            </a:r>
            <a:endParaRPr lang="en-US" sz="1100" dirty="0"/>
          </a:p>
        </p:txBody>
      </p:sp>
      <p:sp>
        <p:nvSpPr>
          <p:cNvPr id="41" name="Shape 39"/>
          <p:cNvSpPr/>
          <p:nvPr/>
        </p:nvSpPr>
        <p:spPr>
          <a:xfrm>
            <a:off x="6263640" y="4425696"/>
            <a:ext cx="5349240" cy="585216"/>
          </a:xfrm>
          <a:prstGeom prst="roundRect">
            <a:avLst>
              <a:gd name="adj" fmla="val 7813"/>
            </a:avLst>
          </a:prstGeom>
          <a:solidFill>
            <a:srgbClr val="1C2026"/>
          </a:solidFill>
          <a:ln w="12700">
            <a:solidFill>
              <a:srgbClr val="1C2026"/>
            </a:solidFill>
            <a:prstDash val="solid"/>
          </a:ln>
        </p:spPr>
      </p:sp>
      <p:sp>
        <p:nvSpPr>
          <p:cNvPr id="42" name="Text 40"/>
          <p:cNvSpPr/>
          <p:nvPr/>
        </p:nvSpPr>
        <p:spPr>
          <a:xfrm>
            <a:off x="6464808" y="4572000"/>
            <a:ext cx="4946904" cy="365760"/>
          </a:xfrm>
          <a:prstGeom prst="rect">
            <a:avLst/>
          </a:prstGeom>
          <a:noFill/>
          <a:ln/>
        </p:spPr>
        <p:txBody>
          <a:bodyPr wrap="square" lIns="0" tIns="0" rIns="0" bIns="0" rtlCol="0" anchor="t"/>
          <a:lstStyle/>
          <a:p>
            <a:pPr indent="0" marL="0">
              <a:buNone/>
            </a:pPr>
            <a:r>
              <a:rPr lang="en-US" sz="1100" b="1" i="1" dirty="0">
                <a:solidFill>
                  <a:srgbClr val="3FB950"/>
                </a:solidFill>
                <a:latin typeface="Calibri" pitchFamily="34" charset="0"/>
                <a:ea typeface="Calibri" pitchFamily="34" charset="-122"/>
                <a:cs typeface="Calibri" pitchFamily="34" charset="-120"/>
              </a:rPr>
              <a:t>All nine green → the pack is ready for production use.</a:t>
            </a:r>
            <a:endParaRPr lang="en-US" sz="1100" dirty="0"/>
          </a:p>
        </p:txBody>
      </p:sp>
      <p:sp>
        <p:nvSpPr>
          <p:cNvPr id="43" name="Text 41"/>
          <p:cNvSpPr/>
          <p:nvPr/>
        </p:nvSpPr>
        <p:spPr>
          <a:xfrm>
            <a:off x="548640" y="58064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Full detail for every step is in the customer guide — KOI_Integration_Customer_Guide_v1.3.0 (Word and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2026-07-20T08:57:05Z</dcterms:created>
  <dcterms:modified xsi:type="dcterms:W3CDTF">2026-07-20T08:57:05Z</dcterms:modified>
</cp:coreProperties>
</file>