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top to bottom. Tests 1-4 prove the plumbing, 5-8 prove the automation, 9 proves fleet execution. Test 7 is the safety gate and must pass before production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egress prerequisite is the single most common cause of a failed test 1 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1-4 are plumbing, 5-8 automation, 9 fleet execution. Test 7 is the one that must pass before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Test succeeds but koi-users-list returns 403, the key is fine and the source IP is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it two cycles before judging. A single cycle with no new KOI activity legitimately returns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test that most often exposes the egress problem, because it hits the sensitive endpoints hardest.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parsing and modeling rules are user-defined and target koi_koi_raw.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playbook cannot find the item, the alert may map the KOI payload to a field other than incident.details — adjust the alert_description input on KOI - Extract Alert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investigations are best-effort: if KOI is unreachable the playbook still completes, it just has less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blocklist add is the only state-changing command the automation can reach. Verify it did not run before approval — check the war room command history, not just the playbook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proactive half of the pack: it finds risky agentic-AI assets without waiting for KOI to raise an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are by design: ok, skipped (valid entry, nothing to run on right now) and failed. Skipped is not a failure and deliberately sends no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Almost every real-world failure is one of these six. The first is by far the most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7 is the gate. The other eight can be re-run any time; test 7 should be re-run after any change to the response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503920" y="-1463040"/>
            <a:ext cx="5486400" cy="5486400"/>
          </a:xfrm>
          <a:prstGeom prst="ellipse">
            <a:avLst/>
          </a:prstGeom>
          <a:solidFill>
            <a:srgbClr val="3FB950">
              <a:alpha val="7000"/>
            </a:srgbClr>
          </a:solidFill>
          <a:ln w="12700">
            <a:solidFill>
              <a:srgbClr val="3FB950"/>
            </a:solidFill>
            <a:prstDash val="solid"/>
          </a:ln>
        </p:spPr>
      </p:sp>
      <p:sp>
        <p:nvSpPr>
          <p:cNvPr id="3" name="Shape 1"/>
          <p:cNvSpPr/>
          <p:nvPr/>
        </p:nvSpPr>
        <p:spPr>
          <a:xfrm>
            <a:off x="9875520" y="3200400"/>
            <a:ext cx="3108960" cy="3108960"/>
          </a:xfrm>
          <a:prstGeom prst="ellipse">
            <a:avLst/>
          </a:prstGeom>
          <a:solidFill>
            <a:srgbClr val="E8551F">
              <a:alpha val="7000"/>
            </a:srgbClr>
          </a:solidFill>
          <a:ln w="12700">
            <a:solidFill>
              <a:srgbClr val="E8551F"/>
            </a:solidFill>
            <a:prstDash val="solid"/>
          </a:ln>
        </p:spPr>
      </p:sp>
      <p:sp>
        <p:nvSpPr>
          <p:cNvPr id="4" name="Text 2"/>
          <p:cNvSpPr/>
          <p:nvPr/>
        </p:nvSpPr>
        <p:spPr>
          <a:xfrm>
            <a:off x="548640" y="1600200"/>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KOI CONTENT PACK  ·  ACCEPTANCE TESTING</a:t>
            </a:r>
            <a:endParaRPr lang="en-US" sz="1200" dirty="0"/>
          </a:p>
        </p:txBody>
      </p:sp>
      <p:sp>
        <p:nvSpPr>
          <p:cNvPr id="5" name="Text 3"/>
          <p:cNvSpPr/>
          <p:nvPr/>
        </p:nvSpPr>
        <p:spPr>
          <a:xfrm>
            <a:off x="548640" y="1874520"/>
            <a:ext cx="7863840" cy="123444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Test Guide</a:t>
            </a:r>
            <a:endParaRPr lang="en-US" sz="6600" dirty="0"/>
          </a:p>
        </p:txBody>
      </p:sp>
      <p:sp>
        <p:nvSpPr>
          <p:cNvPr id="6" name="Text 4"/>
          <p:cNvSpPr/>
          <p:nvPr/>
        </p:nvSpPr>
        <p:spPr>
          <a:xfrm>
            <a:off x="548640" y="3310128"/>
            <a:ext cx="7680960" cy="822960"/>
          </a:xfrm>
          <a:prstGeom prst="rect">
            <a:avLst/>
          </a:prstGeom>
          <a:noFill/>
          <a:ln/>
        </p:spPr>
        <p:txBody>
          <a:bodyPr wrap="square" lIns="0" tIns="0" rIns="0" bIns="0" rtlCol="0" anchor="t"/>
          <a:lstStyle/>
          <a:p>
            <a:pPr indent="0" marL="0">
              <a:lnSpc>
                <a:spcPts val="2400"/>
              </a:lnSpc>
              <a:buNone/>
            </a:pPr>
            <a:r>
              <a:rPr lang="en-US" sz="1700" dirty="0">
                <a:solidFill>
                  <a:srgbClr val="B4B7BD"/>
                </a:solidFill>
                <a:latin typeface="Calibri" pitchFamily="34" charset="0"/>
                <a:ea typeface="Calibri" pitchFamily="34" charset="-122"/>
                <a:cs typeface="Calibri" pitchFamily="34" charset="-120"/>
              </a:rPr>
              <a:t>Nine tests that prove every part of the pack works on your tenant — and what a pass looks like for each.</a:t>
            </a:r>
            <a:endParaRPr lang="en-US" sz="1700" dirty="0"/>
          </a:p>
        </p:txBody>
      </p:sp>
      <p:sp>
        <p:nvSpPr>
          <p:cNvPr id="7" name="Text 5"/>
          <p:cNvSpPr/>
          <p:nvPr/>
        </p:nvSpPr>
        <p:spPr>
          <a:xfrm>
            <a:off x="54864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9</a:t>
            </a:r>
            <a:endParaRPr lang="en-US" sz="3400" dirty="0"/>
          </a:p>
        </p:txBody>
      </p:sp>
      <p:sp>
        <p:nvSpPr>
          <p:cNvPr id="8" name="Text 6"/>
          <p:cNvSpPr/>
          <p:nvPr/>
        </p:nvSpPr>
        <p:spPr>
          <a:xfrm>
            <a:off x="54864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tests</a:t>
            </a:r>
            <a:endParaRPr lang="en-US" sz="1100" dirty="0"/>
          </a:p>
        </p:txBody>
      </p:sp>
      <p:sp>
        <p:nvSpPr>
          <p:cNvPr id="9" name="Text 7"/>
          <p:cNvSpPr/>
          <p:nvPr/>
        </p:nvSpPr>
        <p:spPr>
          <a:xfrm>
            <a:off x="242316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~45</a:t>
            </a:r>
            <a:endParaRPr lang="en-US" sz="3400" dirty="0"/>
          </a:p>
        </p:txBody>
      </p:sp>
      <p:sp>
        <p:nvSpPr>
          <p:cNvPr id="10" name="Text 8"/>
          <p:cNvSpPr/>
          <p:nvPr/>
        </p:nvSpPr>
        <p:spPr>
          <a:xfrm>
            <a:off x="242316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minutes</a:t>
            </a:r>
            <a:endParaRPr lang="en-US" sz="1100" dirty="0"/>
          </a:p>
        </p:txBody>
      </p:sp>
      <p:sp>
        <p:nvSpPr>
          <p:cNvPr id="11" name="Text 9"/>
          <p:cNvSpPr/>
          <p:nvPr/>
        </p:nvSpPr>
        <p:spPr>
          <a:xfrm>
            <a:off x="429768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1</a:t>
            </a:r>
            <a:endParaRPr lang="en-US" sz="3400" dirty="0"/>
          </a:p>
        </p:txBody>
      </p:sp>
      <p:sp>
        <p:nvSpPr>
          <p:cNvPr id="12" name="Text 10"/>
          <p:cNvSpPr/>
          <p:nvPr/>
        </p:nvSpPr>
        <p:spPr>
          <a:xfrm>
            <a:off x="429768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tenant</a:t>
            </a:r>
            <a:endParaRPr lang="en-US" sz="1100" dirty="0"/>
          </a:p>
        </p:txBody>
      </p:sp>
      <p:sp>
        <p:nvSpPr>
          <p:cNvPr id="13" name="Text 11"/>
          <p:cNvSpPr/>
          <p:nvPr/>
        </p:nvSpPr>
        <p:spPr>
          <a:xfrm>
            <a:off x="617220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0</a:t>
            </a:r>
            <a:endParaRPr lang="en-US" sz="3400" dirty="0"/>
          </a:p>
        </p:txBody>
      </p:sp>
      <p:sp>
        <p:nvSpPr>
          <p:cNvPr id="14" name="Text 12"/>
          <p:cNvSpPr/>
          <p:nvPr/>
        </p:nvSpPr>
        <p:spPr>
          <a:xfrm>
            <a:off x="617220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risk to prod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PREREQUISITES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Before you start</a:t>
            </a:r>
            <a:endParaRPr lang="en-US" sz="3100" dirty="0"/>
          </a:p>
        </p:txBody>
      </p:sp>
      <p:sp>
        <p:nvSpPr>
          <p:cNvPr id="4" name="Text 2"/>
          <p:cNvSpPr/>
          <p:nvPr/>
        </p:nvSpPr>
        <p:spPr>
          <a:xfrm>
            <a:off x="548640" y="1298448"/>
            <a:ext cx="8778240" cy="310896"/>
          </a:xfrm>
          <a:prstGeom prst="rect">
            <a:avLst/>
          </a:prstGeom>
          <a:noFill/>
          <a:ln/>
        </p:spPr>
        <p:txBody>
          <a:bodyPr wrap="square" lIns="0" tIns="0" rIns="0" bIns="0" rtlCol="0" anchor="t"/>
          <a:lstStyle/>
          <a:p>
            <a:pPr indent="0" marL="0">
              <a:buNone/>
            </a:pPr>
            <a:r>
              <a:rPr lang="en-US" sz="1250" dirty="0">
                <a:solidFill>
                  <a:srgbClr val="B4B7BD"/>
                </a:solidFill>
                <a:latin typeface="Calibri" pitchFamily="34" charset="0"/>
                <a:ea typeface="Calibri" pitchFamily="34" charset="-122"/>
                <a:cs typeface="Calibri" pitchFamily="34" charset="-120"/>
              </a:rPr>
              <a:t>Have these in place first — most failed tests trace back to a missing item here.</a:t>
            </a:r>
            <a:endParaRPr lang="en-US" sz="1250" dirty="0"/>
          </a:p>
        </p:txBody>
      </p:sp>
      <p:sp>
        <p:nvSpPr>
          <p:cNvPr id="5" name="Shape 3"/>
          <p:cNvSpPr/>
          <p:nvPr/>
        </p:nvSpPr>
        <p:spPr>
          <a:xfrm>
            <a:off x="548640" y="1773936"/>
            <a:ext cx="5349240" cy="1298448"/>
          </a:xfrm>
          <a:prstGeom prst="roundRect">
            <a:avLst>
              <a:gd name="adj" fmla="val 3521"/>
            </a:avLst>
          </a:prstGeom>
          <a:solidFill>
            <a:srgbClr val="15171B"/>
          </a:solidFill>
          <a:ln w="12700">
            <a:solidFill>
              <a:srgbClr val="15171B"/>
            </a:solidFill>
            <a:prstDash val="solid"/>
          </a:ln>
        </p:spPr>
      </p:sp>
      <p:sp>
        <p:nvSpPr>
          <p:cNvPr id="6" name="Shape 4"/>
          <p:cNvSpPr/>
          <p:nvPr/>
        </p:nvSpPr>
        <p:spPr>
          <a:xfrm>
            <a:off x="786384" y="2029968"/>
            <a:ext cx="310896" cy="310896"/>
          </a:xfrm>
          <a:prstGeom prst="roundRect">
            <a:avLst>
              <a:gd name="adj" fmla="val 26471"/>
            </a:avLst>
          </a:prstGeom>
          <a:solidFill>
            <a:srgbClr val="E8551F"/>
          </a:solidFill>
          <a:ln w="12700">
            <a:solidFill>
              <a:srgbClr val="E8551F"/>
            </a:solidFill>
            <a:prstDash val="solid"/>
          </a:ln>
        </p:spPr>
      </p:sp>
      <p:sp>
        <p:nvSpPr>
          <p:cNvPr id="7" name="Text 5"/>
          <p:cNvSpPr/>
          <p:nvPr/>
        </p:nvSpPr>
        <p:spPr>
          <a:xfrm>
            <a:off x="786384" y="20299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80160" y="1975104"/>
            <a:ext cx="4389120" cy="292608"/>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A KOI API key</a:t>
            </a:r>
            <a:endParaRPr lang="en-US" sz="1350" dirty="0"/>
          </a:p>
        </p:txBody>
      </p:sp>
      <p:sp>
        <p:nvSpPr>
          <p:cNvPr id="9" name="Text 7"/>
          <p:cNvSpPr/>
          <p:nvPr/>
        </p:nvSpPr>
        <p:spPr>
          <a:xfrm>
            <a:off x="1280160" y="2322576"/>
            <a:ext cx="4389120" cy="60350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KOI console → Settings → API Access. Needs the xt-Administrator role.</a:t>
            </a:r>
            <a:endParaRPr lang="en-US" sz="1050" dirty="0"/>
          </a:p>
        </p:txBody>
      </p:sp>
      <p:sp>
        <p:nvSpPr>
          <p:cNvPr id="10" name="Shape 8"/>
          <p:cNvSpPr/>
          <p:nvPr/>
        </p:nvSpPr>
        <p:spPr>
          <a:xfrm>
            <a:off x="6263640" y="1773936"/>
            <a:ext cx="5349240" cy="1298448"/>
          </a:xfrm>
          <a:prstGeom prst="roundRect">
            <a:avLst>
              <a:gd name="adj" fmla="val 3521"/>
            </a:avLst>
          </a:prstGeom>
          <a:solidFill>
            <a:srgbClr val="15171B"/>
          </a:solidFill>
          <a:ln w="12700">
            <a:solidFill>
              <a:srgbClr val="15171B"/>
            </a:solidFill>
            <a:prstDash val="solid"/>
          </a:ln>
        </p:spPr>
      </p:sp>
      <p:sp>
        <p:nvSpPr>
          <p:cNvPr id="11" name="Shape 9"/>
          <p:cNvSpPr/>
          <p:nvPr/>
        </p:nvSpPr>
        <p:spPr>
          <a:xfrm>
            <a:off x="6501384" y="2029968"/>
            <a:ext cx="310896" cy="310896"/>
          </a:xfrm>
          <a:prstGeom prst="roundRect">
            <a:avLst>
              <a:gd name="adj" fmla="val 26471"/>
            </a:avLst>
          </a:prstGeom>
          <a:solidFill>
            <a:srgbClr val="E8551F"/>
          </a:solidFill>
          <a:ln w="12700">
            <a:solidFill>
              <a:srgbClr val="E8551F"/>
            </a:solidFill>
            <a:prstDash val="solid"/>
          </a:ln>
        </p:spPr>
      </p:sp>
      <p:sp>
        <p:nvSpPr>
          <p:cNvPr id="12" name="Text 10"/>
          <p:cNvSpPr/>
          <p:nvPr/>
        </p:nvSpPr>
        <p:spPr>
          <a:xfrm>
            <a:off x="6501384" y="20299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6995160" y="1975104"/>
            <a:ext cx="4389120" cy="292608"/>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The pack installed</a:t>
            </a:r>
            <a:endParaRPr lang="en-US" sz="1350" dirty="0"/>
          </a:p>
        </p:txBody>
      </p:sp>
      <p:sp>
        <p:nvSpPr>
          <p:cNvPr id="14" name="Text 12"/>
          <p:cNvSpPr/>
          <p:nvPr/>
        </p:nvSpPr>
        <p:spPr>
          <a:xfrm>
            <a:off x="6995160" y="2322576"/>
            <a:ext cx="4389120" cy="60350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Integration, parsing/modeling rules, dashboard and playbooks on the tenant.</a:t>
            </a:r>
            <a:endParaRPr lang="en-US" sz="1050" dirty="0"/>
          </a:p>
        </p:txBody>
      </p:sp>
      <p:sp>
        <p:nvSpPr>
          <p:cNvPr id="15" name="Shape 13"/>
          <p:cNvSpPr/>
          <p:nvPr/>
        </p:nvSpPr>
        <p:spPr>
          <a:xfrm>
            <a:off x="548640" y="3273552"/>
            <a:ext cx="5349240" cy="1298448"/>
          </a:xfrm>
          <a:prstGeom prst="roundRect">
            <a:avLst>
              <a:gd name="adj" fmla="val 3521"/>
            </a:avLst>
          </a:prstGeom>
          <a:solidFill>
            <a:srgbClr val="15171B"/>
          </a:solidFill>
          <a:ln w="12700">
            <a:solidFill>
              <a:srgbClr val="15171B"/>
            </a:solidFill>
            <a:prstDash val="solid"/>
          </a:ln>
        </p:spPr>
      </p:sp>
      <p:sp>
        <p:nvSpPr>
          <p:cNvPr id="16" name="Shape 14"/>
          <p:cNvSpPr/>
          <p:nvPr/>
        </p:nvSpPr>
        <p:spPr>
          <a:xfrm>
            <a:off x="786384" y="3529584"/>
            <a:ext cx="310896" cy="310896"/>
          </a:xfrm>
          <a:prstGeom prst="roundRect">
            <a:avLst>
              <a:gd name="adj" fmla="val 26471"/>
            </a:avLst>
          </a:prstGeom>
          <a:solidFill>
            <a:srgbClr val="22D3EE"/>
          </a:solidFill>
          <a:ln w="12700">
            <a:solidFill>
              <a:srgbClr val="22D3EE"/>
            </a:solidFill>
            <a:prstDash val="solid"/>
          </a:ln>
        </p:spPr>
      </p:sp>
      <p:sp>
        <p:nvSpPr>
          <p:cNvPr id="17" name="Text 15"/>
          <p:cNvSpPr/>
          <p:nvPr/>
        </p:nvSpPr>
        <p:spPr>
          <a:xfrm>
            <a:off x="786384" y="35295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1280160" y="3474720"/>
            <a:ext cx="4389120" cy="292608"/>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An egress path KOI accepts</a:t>
            </a:r>
            <a:endParaRPr lang="en-US" sz="1350" dirty="0"/>
          </a:p>
        </p:txBody>
      </p:sp>
      <p:sp>
        <p:nvSpPr>
          <p:cNvPr id="19" name="Text 17"/>
          <p:cNvSpPr/>
          <p:nvPr/>
        </p:nvSpPr>
        <p:spPr>
          <a:xfrm>
            <a:off x="1280160" y="3822192"/>
            <a:ext cx="4389120" cy="60350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KOI restricts sensitive endpoints by source IP. Cloud egress often returns 403.</a:t>
            </a:r>
            <a:endParaRPr lang="en-US" sz="1050" dirty="0"/>
          </a:p>
        </p:txBody>
      </p:sp>
      <p:sp>
        <p:nvSpPr>
          <p:cNvPr id="20" name="Shape 18"/>
          <p:cNvSpPr/>
          <p:nvPr/>
        </p:nvSpPr>
        <p:spPr>
          <a:xfrm>
            <a:off x="6263640" y="3273552"/>
            <a:ext cx="5349240" cy="1298448"/>
          </a:xfrm>
          <a:prstGeom prst="roundRect">
            <a:avLst>
              <a:gd name="adj" fmla="val 3521"/>
            </a:avLst>
          </a:prstGeom>
          <a:solidFill>
            <a:srgbClr val="15171B"/>
          </a:solidFill>
          <a:ln w="12700">
            <a:solidFill>
              <a:srgbClr val="15171B"/>
            </a:solidFill>
            <a:prstDash val="solid"/>
          </a:ln>
        </p:spPr>
      </p:sp>
      <p:sp>
        <p:nvSpPr>
          <p:cNvPr id="21" name="Shape 19"/>
          <p:cNvSpPr/>
          <p:nvPr/>
        </p:nvSpPr>
        <p:spPr>
          <a:xfrm>
            <a:off x="6501384" y="3529584"/>
            <a:ext cx="310896" cy="310896"/>
          </a:xfrm>
          <a:prstGeom prst="roundRect">
            <a:avLst>
              <a:gd name="adj" fmla="val 26471"/>
            </a:avLst>
          </a:prstGeom>
          <a:solidFill>
            <a:srgbClr val="E8551F"/>
          </a:solidFill>
          <a:ln w="12700">
            <a:solidFill>
              <a:srgbClr val="E8551F"/>
            </a:solidFill>
            <a:prstDash val="solid"/>
          </a:ln>
        </p:spPr>
      </p:sp>
      <p:sp>
        <p:nvSpPr>
          <p:cNvPr id="22" name="Text 20"/>
          <p:cNvSpPr/>
          <p:nvPr/>
        </p:nvSpPr>
        <p:spPr>
          <a:xfrm>
            <a:off x="6501384" y="35295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6995160" y="3474720"/>
            <a:ext cx="4389120" cy="292608"/>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A KOI alert to work with</a:t>
            </a:r>
            <a:endParaRPr lang="en-US" sz="1350" dirty="0"/>
          </a:p>
        </p:txBody>
      </p:sp>
      <p:sp>
        <p:nvSpPr>
          <p:cNvPr id="24" name="Text 22"/>
          <p:cNvSpPr/>
          <p:nvPr/>
        </p:nvSpPr>
        <p:spPr>
          <a:xfrm>
            <a:off x="6995160" y="3822192"/>
            <a:ext cx="4389120" cy="60350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At least one ingested alert with source koi, for tests 5 to 7.</a:t>
            </a:r>
            <a:endParaRPr lang="en-US" sz="1050" dirty="0"/>
          </a:p>
        </p:txBody>
      </p:sp>
      <p:sp>
        <p:nvSpPr>
          <p:cNvPr id="25" name="Shape 23"/>
          <p:cNvSpPr/>
          <p:nvPr/>
        </p:nvSpPr>
        <p:spPr>
          <a:xfrm>
            <a:off x="548640" y="4773168"/>
            <a:ext cx="5349240" cy="1298448"/>
          </a:xfrm>
          <a:prstGeom prst="roundRect">
            <a:avLst>
              <a:gd name="adj" fmla="val 3521"/>
            </a:avLst>
          </a:prstGeom>
          <a:solidFill>
            <a:srgbClr val="15171B"/>
          </a:solidFill>
          <a:ln w="12700">
            <a:solidFill>
              <a:srgbClr val="15171B"/>
            </a:solidFill>
            <a:prstDash val="solid"/>
          </a:ln>
        </p:spPr>
      </p:sp>
      <p:sp>
        <p:nvSpPr>
          <p:cNvPr id="26" name="Shape 24"/>
          <p:cNvSpPr/>
          <p:nvPr/>
        </p:nvSpPr>
        <p:spPr>
          <a:xfrm>
            <a:off x="786384" y="5029200"/>
            <a:ext cx="310896" cy="310896"/>
          </a:xfrm>
          <a:prstGeom prst="roundRect">
            <a:avLst>
              <a:gd name="adj" fmla="val 26471"/>
            </a:avLst>
          </a:prstGeom>
          <a:solidFill>
            <a:srgbClr val="22D3EE"/>
          </a:solidFill>
          <a:ln w="12700">
            <a:solidFill>
              <a:srgbClr val="22D3EE"/>
            </a:solidFill>
            <a:prstDash val="solid"/>
          </a:ln>
        </p:spPr>
      </p:sp>
      <p:sp>
        <p:nvSpPr>
          <p:cNvPr id="27" name="Text 25"/>
          <p:cNvSpPr/>
          <p:nvPr/>
        </p:nvSpPr>
        <p:spPr>
          <a:xfrm>
            <a:off x="786384" y="50292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1280160" y="4974336"/>
            <a:ext cx="4389120" cy="292608"/>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For test 9 only</a:t>
            </a:r>
            <a:endParaRPr lang="en-US" sz="1350" dirty="0"/>
          </a:p>
        </p:txBody>
      </p:sp>
      <p:sp>
        <p:nvSpPr>
          <p:cNvPr id="29" name="Text 27"/>
          <p:cNvSpPr/>
          <p:nvPr/>
        </p:nvSpPr>
        <p:spPr>
          <a:xfrm>
            <a:off x="1280160" y="5321808"/>
            <a:ext cx="4389120" cy="60350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A script package in the Scripts Library, an endpoint group, and the Koi Script Runner List.</a:t>
            </a:r>
            <a:endParaRPr lang="en-US" sz="1050" dirty="0"/>
          </a:p>
        </p:txBody>
      </p:sp>
      <p:sp>
        <p:nvSpPr>
          <p:cNvPr id="30" name="Shape 28"/>
          <p:cNvSpPr/>
          <p:nvPr/>
        </p:nvSpPr>
        <p:spPr>
          <a:xfrm>
            <a:off x="6263640" y="4773168"/>
            <a:ext cx="5349240" cy="1298448"/>
          </a:xfrm>
          <a:prstGeom prst="roundRect">
            <a:avLst>
              <a:gd name="adj" fmla="val 3521"/>
            </a:avLst>
          </a:prstGeom>
          <a:solidFill>
            <a:srgbClr val="15171B"/>
          </a:solidFill>
          <a:ln w="12700">
            <a:solidFill>
              <a:srgbClr val="15171B"/>
            </a:solidFill>
            <a:prstDash val="solid"/>
          </a:ln>
        </p:spPr>
      </p:sp>
      <p:sp>
        <p:nvSpPr>
          <p:cNvPr id="31" name="Shape 29"/>
          <p:cNvSpPr/>
          <p:nvPr/>
        </p:nvSpPr>
        <p:spPr>
          <a:xfrm>
            <a:off x="6501384" y="5029200"/>
            <a:ext cx="310896" cy="310896"/>
          </a:xfrm>
          <a:prstGeom prst="roundRect">
            <a:avLst>
              <a:gd name="adj" fmla="val 26471"/>
            </a:avLst>
          </a:prstGeom>
          <a:solidFill>
            <a:srgbClr val="3FB950"/>
          </a:solidFill>
          <a:ln w="12700">
            <a:solidFill>
              <a:srgbClr val="3FB950"/>
            </a:solidFill>
            <a:prstDash val="solid"/>
          </a:ln>
        </p:spPr>
      </p:sp>
      <p:sp>
        <p:nvSpPr>
          <p:cNvPr id="32" name="Text 30"/>
          <p:cNvSpPr/>
          <p:nvPr/>
        </p:nvSpPr>
        <p:spPr>
          <a:xfrm>
            <a:off x="6501384" y="50292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3" name="Text 31"/>
          <p:cNvSpPr/>
          <p:nvPr/>
        </p:nvSpPr>
        <p:spPr>
          <a:xfrm>
            <a:off x="6995160" y="4974336"/>
            <a:ext cx="4389120" cy="292608"/>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Nothing in production</a:t>
            </a:r>
            <a:endParaRPr lang="en-US" sz="1350" dirty="0"/>
          </a:p>
        </p:txBody>
      </p:sp>
      <p:sp>
        <p:nvSpPr>
          <p:cNvPr id="34" name="Text 32"/>
          <p:cNvSpPr/>
          <p:nvPr/>
        </p:nvSpPr>
        <p:spPr>
          <a:xfrm>
            <a:off x="6995160" y="5321808"/>
            <a:ext cx="4389120" cy="60350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Every test is read-only except the one you explicitly approve in test 7.</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PLAN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you are going to prove</a:t>
            </a:r>
            <a:endParaRPr lang="en-US" sz="3100" dirty="0"/>
          </a:p>
        </p:txBody>
      </p:sp>
      <p:sp>
        <p:nvSpPr>
          <p:cNvPr id="4" name="Shape 2"/>
          <p:cNvSpPr/>
          <p:nvPr/>
        </p:nvSpPr>
        <p:spPr>
          <a:xfrm>
            <a:off x="548640" y="1481328"/>
            <a:ext cx="3505200" cy="1298448"/>
          </a:xfrm>
          <a:prstGeom prst="roundRect">
            <a:avLst>
              <a:gd name="adj" fmla="val 3521"/>
            </a:avLst>
          </a:prstGeom>
          <a:solidFill>
            <a:srgbClr val="15171B"/>
          </a:solidFill>
          <a:ln w="12700">
            <a:solidFill>
              <a:srgbClr val="15171B"/>
            </a:solidFill>
            <a:prstDash val="solid"/>
          </a:ln>
        </p:spPr>
      </p:sp>
      <p:sp>
        <p:nvSpPr>
          <p:cNvPr id="5" name="Shape 3"/>
          <p:cNvSpPr/>
          <p:nvPr/>
        </p:nvSpPr>
        <p:spPr>
          <a:xfrm>
            <a:off x="786384" y="1719072"/>
            <a:ext cx="310896" cy="310896"/>
          </a:xfrm>
          <a:prstGeom prst="roundRect">
            <a:avLst>
              <a:gd name="adj" fmla="val 26471"/>
            </a:avLst>
          </a:prstGeom>
          <a:solidFill>
            <a:srgbClr val="E8551F"/>
          </a:solidFill>
          <a:ln w="12700">
            <a:solidFill>
              <a:srgbClr val="E8551F"/>
            </a:solidFill>
            <a:prstDash val="solid"/>
          </a:ln>
        </p:spPr>
      </p:sp>
      <p:sp>
        <p:nvSpPr>
          <p:cNvPr id="6" name="Text 4"/>
          <p:cNvSpPr/>
          <p:nvPr/>
        </p:nvSpPr>
        <p:spPr>
          <a:xfrm>
            <a:off x="78638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78638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Connectivity &amp; authorisation</a:t>
            </a:r>
            <a:endParaRPr lang="en-US" sz="1250" dirty="0"/>
          </a:p>
        </p:txBody>
      </p:sp>
      <p:sp>
        <p:nvSpPr>
          <p:cNvPr id="8" name="Text 6"/>
          <p:cNvSpPr/>
          <p:nvPr/>
        </p:nvSpPr>
        <p:spPr>
          <a:xfrm>
            <a:off x="78638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key works and your egress is accepted</a:t>
            </a:r>
            <a:endParaRPr lang="en-US" sz="1000" dirty="0"/>
          </a:p>
        </p:txBody>
      </p:sp>
      <p:sp>
        <p:nvSpPr>
          <p:cNvPr id="9" name="Shape 7"/>
          <p:cNvSpPr/>
          <p:nvPr/>
        </p:nvSpPr>
        <p:spPr>
          <a:xfrm>
            <a:off x="4328160" y="1481328"/>
            <a:ext cx="3505200" cy="1298448"/>
          </a:xfrm>
          <a:prstGeom prst="roundRect">
            <a:avLst>
              <a:gd name="adj" fmla="val 3521"/>
            </a:avLst>
          </a:prstGeom>
          <a:solidFill>
            <a:srgbClr val="15171B"/>
          </a:solidFill>
          <a:ln w="12700">
            <a:solidFill>
              <a:srgbClr val="15171B"/>
            </a:solidFill>
            <a:prstDash val="solid"/>
          </a:ln>
        </p:spPr>
      </p:sp>
      <p:sp>
        <p:nvSpPr>
          <p:cNvPr id="10" name="Shape 8"/>
          <p:cNvSpPr/>
          <p:nvPr/>
        </p:nvSpPr>
        <p:spPr>
          <a:xfrm>
            <a:off x="4565904" y="1719072"/>
            <a:ext cx="310896" cy="310896"/>
          </a:xfrm>
          <a:prstGeom prst="roundRect">
            <a:avLst>
              <a:gd name="adj" fmla="val 26471"/>
            </a:avLst>
          </a:prstGeom>
          <a:solidFill>
            <a:srgbClr val="E8551F"/>
          </a:solidFill>
          <a:ln w="12700">
            <a:solidFill>
              <a:srgbClr val="E8551F"/>
            </a:solidFill>
            <a:prstDash val="solid"/>
          </a:ln>
        </p:spPr>
      </p:sp>
      <p:sp>
        <p:nvSpPr>
          <p:cNvPr id="11" name="Text 9"/>
          <p:cNvSpPr/>
          <p:nvPr/>
        </p:nvSpPr>
        <p:spPr>
          <a:xfrm>
            <a:off x="456590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456590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Event collection</a:t>
            </a:r>
            <a:endParaRPr lang="en-US" sz="1250" dirty="0"/>
          </a:p>
        </p:txBody>
      </p:sp>
      <p:sp>
        <p:nvSpPr>
          <p:cNvPr id="13" name="Text 11"/>
          <p:cNvSpPr/>
          <p:nvPr/>
        </p:nvSpPr>
        <p:spPr>
          <a:xfrm>
            <a:off x="456590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Alerts and audit logs land in koi_koi_raw</a:t>
            </a:r>
            <a:endParaRPr lang="en-US" sz="1000" dirty="0"/>
          </a:p>
        </p:txBody>
      </p:sp>
      <p:sp>
        <p:nvSpPr>
          <p:cNvPr id="14" name="Shape 12"/>
          <p:cNvSpPr/>
          <p:nvPr/>
        </p:nvSpPr>
        <p:spPr>
          <a:xfrm>
            <a:off x="8107680" y="1481328"/>
            <a:ext cx="3505200" cy="1298448"/>
          </a:xfrm>
          <a:prstGeom prst="roundRect">
            <a:avLst>
              <a:gd name="adj" fmla="val 3521"/>
            </a:avLst>
          </a:prstGeom>
          <a:solidFill>
            <a:srgbClr val="15171B"/>
          </a:solidFill>
          <a:ln w="12700">
            <a:solidFill>
              <a:srgbClr val="15171B"/>
            </a:solidFill>
            <a:prstDash val="solid"/>
          </a:ln>
        </p:spPr>
      </p:sp>
      <p:sp>
        <p:nvSpPr>
          <p:cNvPr id="15" name="Shape 13"/>
          <p:cNvSpPr/>
          <p:nvPr/>
        </p:nvSpPr>
        <p:spPr>
          <a:xfrm>
            <a:off x="8345424" y="1719072"/>
            <a:ext cx="310896" cy="310896"/>
          </a:xfrm>
          <a:prstGeom prst="roundRect">
            <a:avLst>
              <a:gd name="adj" fmla="val 26471"/>
            </a:avLst>
          </a:prstGeom>
          <a:solidFill>
            <a:srgbClr val="E8551F"/>
          </a:solidFill>
          <a:ln w="12700">
            <a:solidFill>
              <a:srgbClr val="E8551F"/>
            </a:solidFill>
            <a:prstDash val="solid"/>
          </a:ln>
        </p:spPr>
      </p:sp>
      <p:sp>
        <p:nvSpPr>
          <p:cNvPr id="16" name="Text 14"/>
          <p:cNvSpPr/>
          <p:nvPr/>
        </p:nvSpPr>
        <p:spPr>
          <a:xfrm>
            <a:off x="834542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834542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Command surface</a:t>
            </a:r>
            <a:endParaRPr lang="en-US" sz="1250" dirty="0"/>
          </a:p>
        </p:txBody>
      </p:sp>
      <p:sp>
        <p:nvSpPr>
          <p:cNvPr id="18" name="Text 16"/>
          <p:cNvSpPr/>
          <p:nvPr/>
        </p:nvSpPr>
        <p:spPr>
          <a:xfrm>
            <a:off x="834542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read commands return live tenant data</a:t>
            </a:r>
            <a:endParaRPr lang="en-US" sz="1000" dirty="0"/>
          </a:p>
        </p:txBody>
      </p:sp>
      <p:sp>
        <p:nvSpPr>
          <p:cNvPr id="19" name="Shape 17"/>
          <p:cNvSpPr/>
          <p:nvPr/>
        </p:nvSpPr>
        <p:spPr>
          <a:xfrm>
            <a:off x="548640" y="2999232"/>
            <a:ext cx="3505200" cy="1298448"/>
          </a:xfrm>
          <a:prstGeom prst="roundRect">
            <a:avLst>
              <a:gd name="adj" fmla="val 3521"/>
            </a:avLst>
          </a:prstGeom>
          <a:solidFill>
            <a:srgbClr val="15171B"/>
          </a:solidFill>
          <a:ln w="12700">
            <a:solidFill>
              <a:srgbClr val="15171B"/>
            </a:solidFill>
            <a:prstDash val="solid"/>
          </a:ln>
        </p:spPr>
      </p:sp>
      <p:sp>
        <p:nvSpPr>
          <p:cNvPr id="20" name="Shape 18"/>
          <p:cNvSpPr/>
          <p:nvPr/>
        </p:nvSpPr>
        <p:spPr>
          <a:xfrm>
            <a:off x="786384" y="3236976"/>
            <a:ext cx="310896" cy="310896"/>
          </a:xfrm>
          <a:prstGeom prst="roundRect">
            <a:avLst>
              <a:gd name="adj" fmla="val 26471"/>
            </a:avLst>
          </a:prstGeom>
          <a:solidFill>
            <a:srgbClr val="E8551F"/>
          </a:solidFill>
          <a:ln w="12700">
            <a:solidFill>
              <a:srgbClr val="E8551F"/>
            </a:solidFill>
            <a:prstDash val="solid"/>
          </a:ln>
        </p:spPr>
      </p:sp>
      <p:sp>
        <p:nvSpPr>
          <p:cNvPr id="21" name="Text 19"/>
          <p:cNvSpPr/>
          <p:nvPr/>
        </p:nvSpPr>
        <p:spPr>
          <a:xfrm>
            <a:off x="78638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78638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Dashboard &amp; data model</a:t>
            </a:r>
            <a:endParaRPr lang="en-US" sz="1250" dirty="0"/>
          </a:p>
        </p:txBody>
      </p:sp>
      <p:sp>
        <p:nvSpPr>
          <p:cNvPr id="23" name="Text 21"/>
          <p:cNvSpPr/>
          <p:nvPr/>
        </p:nvSpPr>
        <p:spPr>
          <a:xfrm>
            <a:off x="78638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Events are normalised and visualised</a:t>
            </a:r>
            <a:endParaRPr lang="en-US" sz="1000" dirty="0"/>
          </a:p>
        </p:txBody>
      </p:sp>
      <p:sp>
        <p:nvSpPr>
          <p:cNvPr id="24" name="Shape 22"/>
          <p:cNvSpPr/>
          <p:nvPr/>
        </p:nvSpPr>
        <p:spPr>
          <a:xfrm>
            <a:off x="4328160" y="2999232"/>
            <a:ext cx="3505200" cy="1298448"/>
          </a:xfrm>
          <a:prstGeom prst="roundRect">
            <a:avLst>
              <a:gd name="adj" fmla="val 3521"/>
            </a:avLst>
          </a:prstGeom>
          <a:solidFill>
            <a:srgbClr val="15171B"/>
          </a:solidFill>
          <a:ln w="12700">
            <a:solidFill>
              <a:srgbClr val="15171B"/>
            </a:solidFill>
            <a:prstDash val="solid"/>
          </a:ln>
        </p:spPr>
      </p:sp>
      <p:sp>
        <p:nvSpPr>
          <p:cNvPr id="25" name="Shape 23"/>
          <p:cNvSpPr/>
          <p:nvPr/>
        </p:nvSpPr>
        <p:spPr>
          <a:xfrm>
            <a:off x="4565904" y="3236976"/>
            <a:ext cx="310896" cy="310896"/>
          </a:xfrm>
          <a:prstGeom prst="roundRect">
            <a:avLst>
              <a:gd name="adj" fmla="val 26471"/>
            </a:avLst>
          </a:prstGeom>
          <a:solidFill>
            <a:srgbClr val="22D3EE"/>
          </a:solidFill>
          <a:ln w="12700">
            <a:solidFill>
              <a:srgbClr val="22D3EE"/>
            </a:solidFill>
            <a:prstDash val="solid"/>
          </a:ln>
        </p:spPr>
      </p:sp>
      <p:sp>
        <p:nvSpPr>
          <p:cNvPr id="26" name="Text 24"/>
          <p:cNvSpPr/>
          <p:nvPr/>
        </p:nvSpPr>
        <p:spPr>
          <a:xfrm>
            <a:off x="456590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456590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Alert triage end to end</a:t>
            </a:r>
            <a:endParaRPr lang="en-US" sz="1250" dirty="0"/>
          </a:p>
        </p:txBody>
      </p:sp>
      <p:sp>
        <p:nvSpPr>
          <p:cNvPr id="28" name="Text 26"/>
          <p:cNvSpPr/>
          <p:nvPr/>
        </p:nvSpPr>
        <p:spPr>
          <a:xfrm>
            <a:off x="456590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Every alert is investigated and classified</a:t>
            </a:r>
            <a:endParaRPr lang="en-US" sz="1000" dirty="0"/>
          </a:p>
        </p:txBody>
      </p:sp>
      <p:sp>
        <p:nvSpPr>
          <p:cNvPr id="29" name="Shape 27"/>
          <p:cNvSpPr/>
          <p:nvPr/>
        </p:nvSpPr>
        <p:spPr>
          <a:xfrm>
            <a:off x="8107680" y="2999232"/>
            <a:ext cx="3505200" cy="1298448"/>
          </a:xfrm>
          <a:prstGeom prst="roundRect">
            <a:avLst>
              <a:gd name="adj" fmla="val 3521"/>
            </a:avLst>
          </a:prstGeom>
          <a:solidFill>
            <a:srgbClr val="15171B"/>
          </a:solidFill>
          <a:ln w="12700">
            <a:solidFill>
              <a:srgbClr val="15171B"/>
            </a:solidFill>
            <a:prstDash val="solid"/>
          </a:ln>
        </p:spPr>
      </p:sp>
      <p:sp>
        <p:nvSpPr>
          <p:cNvPr id="30" name="Shape 28"/>
          <p:cNvSpPr/>
          <p:nvPr/>
        </p:nvSpPr>
        <p:spPr>
          <a:xfrm>
            <a:off x="8345424" y="3236976"/>
            <a:ext cx="310896" cy="310896"/>
          </a:xfrm>
          <a:prstGeom prst="roundRect">
            <a:avLst>
              <a:gd name="adj" fmla="val 26471"/>
            </a:avLst>
          </a:prstGeom>
          <a:solidFill>
            <a:srgbClr val="22D3EE"/>
          </a:solidFill>
          <a:ln w="12700">
            <a:solidFill>
              <a:srgbClr val="22D3EE"/>
            </a:solidFill>
            <a:prstDash val="solid"/>
          </a:ln>
        </p:spPr>
      </p:sp>
      <p:sp>
        <p:nvSpPr>
          <p:cNvPr id="31" name="Text 29"/>
          <p:cNvSpPr/>
          <p:nvPr/>
        </p:nvSpPr>
        <p:spPr>
          <a:xfrm>
            <a:off x="834542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834542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The two investigations</a:t>
            </a:r>
            <a:endParaRPr lang="en-US" sz="1250" dirty="0"/>
          </a:p>
        </p:txBody>
      </p:sp>
      <p:sp>
        <p:nvSpPr>
          <p:cNvPr id="33" name="Text 31"/>
          <p:cNvSpPr/>
          <p:nvPr/>
        </p:nvSpPr>
        <p:spPr>
          <a:xfrm>
            <a:off x="834542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Item and device context is gathered</a:t>
            </a:r>
            <a:endParaRPr lang="en-US" sz="1000" dirty="0"/>
          </a:p>
        </p:txBody>
      </p:sp>
      <p:sp>
        <p:nvSpPr>
          <p:cNvPr id="34" name="Shape 32"/>
          <p:cNvSpPr/>
          <p:nvPr/>
        </p:nvSpPr>
        <p:spPr>
          <a:xfrm>
            <a:off x="548640" y="4517136"/>
            <a:ext cx="3505200" cy="1298448"/>
          </a:xfrm>
          <a:prstGeom prst="roundRect">
            <a:avLst>
              <a:gd name="adj" fmla="val 3521"/>
            </a:avLst>
          </a:prstGeom>
          <a:solidFill>
            <a:srgbClr val="15171B"/>
          </a:solidFill>
          <a:ln w="12700">
            <a:solidFill>
              <a:srgbClr val="15171B"/>
            </a:solidFill>
            <a:prstDash val="solid"/>
          </a:ln>
        </p:spPr>
      </p:sp>
      <p:sp>
        <p:nvSpPr>
          <p:cNvPr id="35" name="Shape 33"/>
          <p:cNvSpPr/>
          <p:nvPr/>
        </p:nvSpPr>
        <p:spPr>
          <a:xfrm>
            <a:off x="786384" y="4754880"/>
            <a:ext cx="310896" cy="310896"/>
          </a:xfrm>
          <a:prstGeom prst="roundRect">
            <a:avLst>
              <a:gd name="adj" fmla="val 26471"/>
            </a:avLst>
          </a:prstGeom>
          <a:solidFill>
            <a:srgbClr val="3FB950"/>
          </a:solidFill>
          <a:ln w="12700">
            <a:solidFill>
              <a:srgbClr val="3FB950"/>
            </a:solidFill>
            <a:prstDash val="solid"/>
          </a:ln>
        </p:spPr>
      </p:sp>
      <p:sp>
        <p:nvSpPr>
          <p:cNvPr id="36" name="Text 34"/>
          <p:cNvSpPr/>
          <p:nvPr/>
        </p:nvSpPr>
        <p:spPr>
          <a:xfrm>
            <a:off x="78638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7" name="Text 35"/>
          <p:cNvSpPr/>
          <p:nvPr/>
        </p:nvSpPr>
        <p:spPr>
          <a:xfrm>
            <a:off x="78638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Gated response</a:t>
            </a:r>
            <a:endParaRPr lang="en-US" sz="1250" dirty="0"/>
          </a:p>
        </p:txBody>
      </p:sp>
      <p:sp>
        <p:nvSpPr>
          <p:cNvPr id="38" name="Text 36"/>
          <p:cNvSpPr/>
          <p:nvPr/>
        </p:nvSpPr>
        <p:spPr>
          <a:xfrm>
            <a:off x="78638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Nothing is blocked without a human</a:t>
            </a:r>
            <a:endParaRPr lang="en-US" sz="1000" dirty="0"/>
          </a:p>
        </p:txBody>
      </p:sp>
      <p:sp>
        <p:nvSpPr>
          <p:cNvPr id="39" name="Shape 37"/>
          <p:cNvSpPr/>
          <p:nvPr/>
        </p:nvSpPr>
        <p:spPr>
          <a:xfrm>
            <a:off x="4328160" y="4517136"/>
            <a:ext cx="3505200" cy="1298448"/>
          </a:xfrm>
          <a:prstGeom prst="roundRect">
            <a:avLst>
              <a:gd name="adj" fmla="val 3521"/>
            </a:avLst>
          </a:prstGeom>
          <a:solidFill>
            <a:srgbClr val="15171B"/>
          </a:solidFill>
          <a:ln w="12700">
            <a:solidFill>
              <a:srgbClr val="15171B"/>
            </a:solidFill>
            <a:prstDash val="solid"/>
          </a:ln>
        </p:spPr>
      </p:sp>
      <p:sp>
        <p:nvSpPr>
          <p:cNvPr id="40" name="Shape 38"/>
          <p:cNvSpPr/>
          <p:nvPr/>
        </p:nvSpPr>
        <p:spPr>
          <a:xfrm>
            <a:off x="4565904" y="4754880"/>
            <a:ext cx="310896" cy="310896"/>
          </a:xfrm>
          <a:prstGeom prst="roundRect">
            <a:avLst>
              <a:gd name="adj" fmla="val 26471"/>
            </a:avLst>
          </a:prstGeom>
          <a:solidFill>
            <a:srgbClr val="22D3EE"/>
          </a:solidFill>
          <a:ln w="12700">
            <a:solidFill>
              <a:srgbClr val="22D3EE"/>
            </a:solidFill>
            <a:prstDash val="solid"/>
          </a:ln>
        </p:spPr>
      </p:sp>
      <p:sp>
        <p:nvSpPr>
          <p:cNvPr id="41" name="Text 39"/>
          <p:cNvSpPr/>
          <p:nvPr/>
        </p:nvSpPr>
        <p:spPr>
          <a:xfrm>
            <a:off x="456590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2" name="Text 40"/>
          <p:cNvSpPr/>
          <p:nvPr/>
        </p:nvSpPr>
        <p:spPr>
          <a:xfrm>
            <a:off x="456590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Scheduled hunt</a:t>
            </a:r>
            <a:endParaRPr lang="en-US" sz="1250" dirty="0"/>
          </a:p>
        </p:txBody>
      </p:sp>
      <p:sp>
        <p:nvSpPr>
          <p:cNvPr id="43" name="Text 41"/>
          <p:cNvSpPr/>
          <p:nvPr/>
        </p:nvSpPr>
        <p:spPr>
          <a:xfrm>
            <a:off x="456590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Risky MCP servers surface without an alert</a:t>
            </a:r>
            <a:endParaRPr lang="en-US" sz="1000" dirty="0"/>
          </a:p>
        </p:txBody>
      </p:sp>
      <p:sp>
        <p:nvSpPr>
          <p:cNvPr id="44" name="Shape 42"/>
          <p:cNvSpPr/>
          <p:nvPr/>
        </p:nvSpPr>
        <p:spPr>
          <a:xfrm>
            <a:off x="8107680" y="4517136"/>
            <a:ext cx="3505200" cy="1298448"/>
          </a:xfrm>
          <a:prstGeom prst="roundRect">
            <a:avLst>
              <a:gd name="adj" fmla="val 3521"/>
            </a:avLst>
          </a:prstGeom>
          <a:solidFill>
            <a:srgbClr val="15171B"/>
          </a:solidFill>
          <a:ln w="12700">
            <a:solidFill>
              <a:srgbClr val="15171B"/>
            </a:solidFill>
            <a:prstDash val="solid"/>
          </a:ln>
        </p:spPr>
      </p:sp>
      <p:sp>
        <p:nvSpPr>
          <p:cNvPr id="45" name="Shape 43"/>
          <p:cNvSpPr/>
          <p:nvPr/>
        </p:nvSpPr>
        <p:spPr>
          <a:xfrm>
            <a:off x="8345424" y="4754880"/>
            <a:ext cx="310896" cy="310896"/>
          </a:xfrm>
          <a:prstGeom prst="roundRect">
            <a:avLst>
              <a:gd name="adj" fmla="val 26471"/>
            </a:avLst>
          </a:prstGeom>
          <a:solidFill>
            <a:srgbClr val="E8551F"/>
          </a:solidFill>
          <a:ln w="12700">
            <a:solidFill>
              <a:srgbClr val="E8551F"/>
            </a:solidFill>
            <a:prstDash val="solid"/>
          </a:ln>
        </p:spPr>
      </p:sp>
      <p:sp>
        <p:nvSpPr>
          <p:cNvPr id="46" name="Text 44"/>
          <p:cNvSpPr/>
          <p:nvPr/>
        </p:nvSpPr>
        <p:spPr>
          <a:xfrm>
            <a:off x="834542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7" name="Text 45"/>
          <p:cNvSpPr/>
          <p:nvPr/>
        </p:nvSpPr>
        <p:spPr>
          <a:xfrm>
            <a:off x="834542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Script Runner job</a:t>
            </a:r>
            <a:endParaRPr lang="en-US" sz="1250" dirty="0"/>
          </a:p>
        </p:txBody>
      </p:sp>
      <p:sp>
        <p:nvSpPr>
          <p:cNvPr id="48" name="Text 46"/>
          <p:cNvSpPr/>
          <p:nvPr/>
        </p:nvSpPr>
        <p:spPr>
          <a:xfrm>
            <a:off x="834542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scripts run on Cortex-Agent endpoints</a:t>
            </a:r>
            <a:endParaRPr lang="en-US" sz="1000" dirty="0"/>
          </a:p>
        </p:txBody>
      </p:sp>
      <p:sp>
        <p:nvSpPr>
          <p:cNvPr id="49" name="Text 47"/>
          <p:cNvSpPr/>
          <p:nvPr/>
        </p:nvSpPr>
        <p:spPr>
          <a:xfrm>
            <a:off x="548640" y="6053328"/>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Run them in order — each test assumes the previous one passed.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Connectivity &amp; authorisation</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Integrations → add a KOI instance.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Server URL:  https://api.prod.koi.security/</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then click Test.</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!koi-devices-list limit=5</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!koi-users-list limit=1</a:t>
            </a:r>
            <a:endParaRPr lang="en-US" sz="10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device table with up to five rows.</a:t>
            </a:r>
            <a:endParaRPr lang="en-US" sz="1150" dirty="0"/>
          </a:p>
        </p:txBody>
      </p:sp>
      <p:sp>
        <p:nvSpPr>
          <p:cNvPr id="22" name="Text 20"/>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koi-users-list returns a user record.</a:t>
            </a:r>
            <a:endParaRPr lang="en-US" sz="1150" dirty="0"/>
          </a:p>
        </p:txBody>
      </p:sp>
      <p:sp>
        <p:nvSpPr>
          <p:cNvPr id="24" name="Text 22"/>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403 Forbidden on either command.</a:t>
            </a:r>
            <a:endParaRPr lang="en-US" sz="1150" dirty="0"/>
          </a:p>
        </p:txBody>
      </p:sp>
      <p:sp>
        <p:nvSpPr>
          <p:cNvPr id="26" name="Shape 24"/>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koi-users-list is the egress probe. A valid key can still return 403 from a shared cloud egress — if it does, run the integration on a Cortex engine whose egress IP KOI accepts. Event collection is unaffected either way.</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a:t>
            </a:r>
            <a:endParaRPr lang="en-US" sz="3100" dirty="0"/>
          </a:p>
        </p:txBody>
      </p:sp>
      <p:sp>
        <p:nvSpPr>
          <p:cNvPr id="4" name="Shape 2"/>
          <p:cNvSpPr/>
          <p:nvPr/>
        </p:nvSpPr>
        <p:spPr>
          <a:xfrm>
            <a:off x="548640" y="1444752"/>
            <a:ext cx="6400800" cy="2852928"/>
          </a:xfrm>
          <a:prstGeom prst="roundRect">
            <a:avLst>
              <a:gd name="adj" fmla="val 160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On the instance, enable Fetch events and save.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one or two fetch cycles.</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events by source_log_type</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 the query after the next cycle.</a:t>
            </a:r>
            <a:endParaRPr lang="en-US" sz="11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!koi-fetch-context-get</a:t>
            </a:r>
            <a:endParaRPr lang="en-US" sz="1050" dirty="0"/>
          </a:p>
        </p:txBody>
      </p:sp>
      <p:sp>
        <p:nvSpPr>
          <p:cNvPr id="18" name="Shape 16"/>
          <p:cNvSpPr/>
          <p:nvPr/>
        </p:nvSpPr>
        <p:spPr>
          <a:xfrm>
            <a:off x="7315200" y="1444752"/>
            <a:ext cx="4297680" cy="2852928"/>
          </a:xfrm>
          <a:prstGeom prst="roundRect">
            <a:avLst>
              <a:gd name="adj" fmla="val 1603"/>
            </a:avLst>
          </a:prstGeom>
          <a:solidFill>
            <a:srgbClr val="1C2026"/>
          </a:solidFill>
          <a:ln w="12700">
            <a:solidFill>
              <a:srgbClr val="1C2026"/>
            </a:solidFill>
            <a:prstDash val="solid"/>
          </a:ln>
        </p:spPr>
      </p:sp>
      <p:sp>
        <p:nvSpPr>
          <p:cNvPr id="19" name="Text 17"/>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0" name="Text 18"/>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for the Alerts and Audit log types.</a:t>
            </a:r>
            <a:endParaRPr lang="en-US" sz="1150" dirty="0"/>
          </a:p>
        </p:txBody>
      </p:sp>
      <p:sp>
        <p:nvSpPr>
          <p:cNvPr id="22" name="Text 20"/>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increase between the two runs.</a:t>
            </a:r>
            <a:endParaRPr lang="en-US" sz="1150" dirty="0"/>
          </a:p>
        </p:txBody>
      </p:sp>
      <p:sp>
        <p:nvSpPr>
          <p:cNvPr id="24" name="Text 22"/>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koi-fetch-context-get shows the cursor.</a:t>
            </a:r>
            <a:endParaRPr lang="en-US" sz="1150" dirty="0"/>
          </a:p>
        </p:txBody>
      </p:sp>
      <p:sp>
        <p:nvSpPr>
          <p:cNvPr id="26" name="Shape 24"/>
          <p:cNvSpPr/>
          <p:nvPr/>
        </p:nvSpPr>
        <p:spPr>
          <a:xfrm>
            <a:off x="548640" y="4517136"/>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764024"/>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7640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690872"/>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Event collection uses a different KOI endpoint from the command surface, so it keeps working even when the sensitive endpoints return 403. A passing test 2 alongside a failing test 1 points squarely at egress.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Command surface</a:t>
            </a:r>
            <a:endParaRPr lang="en-US" sz="3100" dirty="0"/>
          </a:p>
        </p:txBody>
      </p:sp>
      <p:sp>
        <p:nvSpPr>
          <p:cNvPr id="4" name="Shape 2"/>
          <p:cNvSpPr/>
          <p:nvPr/>
        </p:nvSpPr>
        <p:spPr>
          <a:xfrm>
            <a:off x="548640" y="1444752"/>
            <a:ext cx="6400800" cy="3511296"/>
          </a:xfrm>
          <a:prstGeom prst="roundRect">
            <a:avLst>
              <a:gd name="adj" fmla="val 130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Sweep the read commands in the playground:</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limit=5</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!koi-koidex-search query=&lt;package&gt;</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!koi-blocklist-get</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!koi-policy-list</a:t>
            </a:r>
            <a:endParaRPr lang="en-US" sz="10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!koi-findings-list</a:t>
            </a:r>
            <a:endParaRPr lang="en-US" sz="1050" dirty="0"/>
          </a:p>
        </p:txBody>
      </p:sp>
      <p:sp>
        <p:nvSpPr>
          <p:cNvPr id="18" name="Text 16"/>
          <p:cNvSpPr/>
          <p:nvPr/>
        </p:nvSpPr>
        <p:spPr>
          <a:xfrm>
            <a:off x="859536" y="40233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7</a:t>
            </a:r>
            <a:endParaRPr lang="en-US" sz="1150" dirty="0"/>
          </a:p>
        </p:txBody>
      </p:sp>
      <p:sp>
        <p:nvSpPr>
          <p:cNvPr id="19" name="Text 17"/>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Take a device id from test 1 and run:</a:t>
            </a:r>
            <a:endParaRPr lang="en-US" sz="1150" dirty="0"/>
          </a:p>
        </p:txBody>
      </p:sp>
      <p:sp>
        <p:nvSpPr>
          <p:cNvPr id="20" name="Text 18"/>
          <p:cNvSpPr/>
          <p:nvPr/>
        </p:nvSpPr>
        <p:spPr>
          <a:xfrm>
            <a:off x="859536" y="43525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8</a:t>
            </a:r>
            <a:endParaRPr lang="en-US" sz="1150" dirty="0"/>
          </a:p>
        </p:txBody>
      </p:sp>
      <p:sp>
        <p:nvSpPr>
          <p:cNvPr id="21" name="Text 19"/>
          <p:cNvSpPr/>
          <p:nvPr/>
        </p:nvSpPr>
        <p:spPr>
          <a:xfrm>
            <a:off x="1152144" y="435254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!koi-device-inventory-get device_id=&lt;id&gt;</a:t>
            </a:r>
            <a:endParaRPr lang="en-US" sz="1050" dirty="0"/>
          </a:p>
        </p:txBody>
      </p:sp>
      <p:sp>
        <p:nvSpPr>
          <p:cNvPr id="22" name="Shape 20"/>
          <p:cNvSpPr/>
          <p:nvPr/>
        </p:nvSpPr>
        <p:spPr>
          <a:xfrm>
            <a:off x="7315200" y="1444752"/>
            <a:ext cx="4297680" cy="3511296"/>
          </a:xfrm>
          <a:prstGeom prst="roundRect">
            <a:avLst>
              <a:gd name="adj" fmla="val 1302"/>
            </a:avLst>
          </a:prstGeom>
          <a:solidFill>
            <a:srgbClr val="1C2026"/>
          </a:solidFill>
          <a:ln w="12700">
            <a:solidFill>
              <a:srgbClr val="1C2026"/>
            </a:solidFill>
            <a:prstDash val="solid"/>
          </a:ln>
        </p:spPr>
      </p:sp>
      <p:sp>
        <p:nvSpPr>
          <p:cNvPr id="23" name="Text 21"/>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4" name="Text 22"/>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Each returns a table plus context under Koi.*</a:t>
            </a:r>
            <a:endParaRPr lang="en-US" sz="1150" dirty="0"/>
          </a:p>
        </p:txBody>
      </p:sp>
      <p:sp>
        <p:nvSpPr>
          <p:cNvPr id="26" name="Text 24"/>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403 on any of them.</a:t>
            </a:r>
            <a:endParaRPr lang="en-US" sz="1150" dirty="0"/>
          </a:p>
        </p:txBody>
      </p:sp>
      <p:sp>
        <p:nvSpPr>
          <p:cNvPr id="28" name="Text 26"/>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Lists everything installed on that host.</a:t>
            </a:r>
            <a:endParaRPr lang="en-US" sz="1150" dirty="0"/>
          </a:p>
        </p:txBody>
      </p:sp>
      <p:sp>
        <p:nvSpPr>
          <p:cNvPr id="30" name="Text 28"/>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500 items on one host, 35 flagged high risk.</a:t>
            </a:r>
            <a:endParaRPr lang="en-US" sz="1150" dirty="0"/>
          </a:p>
        </p:txBody>
      </p:sp>
      <p:sp>
        <p:nvSpPr>
          <p:cNvPr id="32" name="Shape 30"/>
          <p:cNvSpPr/>
          <p:nvPr/>
        </p:nvSpPr>
        <p:spPr>
          <a:xfrm>
            <a:off x="548640" y="5175504"/>
            <a:ext cx="11064240" cy="841248"/>
          </a:xfrm>
          <a:prstGeom prst="roundRect">
            <a:avLst>
              <a:gd name="adj" fmla="val 5435"/>
            </a:avLst>
          </a:prstGeom>
          <a:solidFill>
            <a:srgbClr val="1C2026"/>
          </a:solidFill>
          <a:ln w="12700">
            <a:solidFill>
              <a:srgbClr val="1C2026"/>
            </a:solidFill>
            <a:prstDash val="solid"/>
          </a:ln>
        </p:spPr>
      </p:sp>
      <p:sp>
        <p:nvSpPr>
          <p:cNvPr id="33" name="Shape 31"/>
          <p:cNvSpPr/>
          <p:nvPr/>
        </p:nvSpPr>
        <p:spPr>
          <a:xfrm>
            <a:off x="804672" y="5422392"/>
            <a:ext cx="310896" cy="310896"/>
          </a:xfrm>
          <a:prstGeom prst="roundRect">
            <a:avLst>
              <a:gd name="adj" fmla="val 26471"/>
            </a:avLst>
          </a:prstGeom>
          <a:solidFill>
            <a:srgbClr val="F5A524"/>
          </a:solidFill>
          <a:ln w="12700">
            <a:solidFill>
              <a:srgbClr val="F5A524"/>
            </a:solidFill>
            <a:prstDash val="solid"/>
          </a:ln>
        </p:spPr>
      </p:sp>
      <p:sp>
        <p:nvSpPr>
          <p:cNvPr id="34" name="Text 32"/>
          <p:cNvSpPr/>
          <p:nvPr/>
        </p:nvSpPr>
        <p:spPr>
          <a:xfrm>
            <a:off x="804672" y="54223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98448" y="5349240"/>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Twenty of the twenty-six commands are read-only. Only six change tenant state: the allowlist and blocklist add/remove pairs, koi-policy-status-update and koi-fetch-context-set. None of them run in this test.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Dashboard &amp; data model</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open Koi Alerts Dashboard.</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 the time range to cover your ingested data.</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each widget renders.</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check the modelling with XQL:</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fields xdm.*</a:t>
            </a:r>
            <a:endParaRPr lang="en-US" sz="10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Widgets render with data, not empty states.</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XDM fields are populated, not null.</a:t>
            </a:r>
            <a:endParaRPr lang="en-US" sz="1150" dirty="0"/>
          </a:p>
        </p:txBody>
      </p:sp>
      <p:sp>
        <p:nvSpPr>
          <p:cNvPr id="22" name="Text 20"/>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Alert activity matches what KOI shows.</a:t>
            </a:r>
            <a:endParaRPr lang="en-US" sz="1150" dirty="0"/>
          </a:p>
        </p:txBody>
      </p:sp>
      <p:sp>
        <p:nvSpPr>
          <p:cNvPr id="24" name="Shape 22"/>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5" name="Shape 23"/>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6" name="Text 24"/>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An empty dashboard with a passing test 2 usually means the time range, not the data. Widen it before investigating the rules.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triage, end to end</a:t>
            </a:r>
            <a:endParaRPr lang="en-US" sz="3100" dirty="0"/>
          </a:p>
        </p:txBody>
      </p:sp>
      <p:sp>
        <p:nvSpPr>
          <p:cNvPr id="4" name="Shape 2"/>
          <p:cNvSpPr/>
          <p:nvPr/>
        </p:nvSpPr>
        <p:spPr>
          <a:xfrm>
            <a:off x="548640" y="1444752"/>
            <a:ext cx="6400800" cy="2711196"/>
          </a:xfrm>
          <a:prstGeom prst="roundRect">
            <a:avLst>
              <a:gd name="adj" fmla="val 1686"/>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an ingested KOI alert (source koi).</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Attach and run KOI - Alert Triage.</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Watch the Work Plan to completion.</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war room from top to bottom.</a:t>
            </a:r>
            <a:endParaRPr lang="en-US" sz="1150" dirty="0"/>
          </a:p>
        </p:txBody>
      </p:sp>
      <p:sp>
        <p:nvSpPr>
          <p:cNvPr id="14" name="Shape 12"/>
          <p:cNvSpPr/>
          <p:nvPr/>
        </p:nvSpPr>
        <p:spPr>
          <a:xfrm>
            <a:off x="7315200" y="1444752"/>
            <a:ext cx="4297680" cy="2711196"/>
          </a:xfrm>
          <a:prstGeom prst="roundRect">
            <a:avLst>
              <a:gd name="adj" fmla="val 1686"/>
            </a:avLst>
          </a:prstGeom>
          <a:solidFill>
            <a:srgbClr val="1C2026"/>
          </a:solidFill>
          <a:ln w="12700">
            <a:solidFill>
              <a:srgbClr val="1C2026"/>
            </a:solidFill>
            <a:prstDash val="solid"/>
          </a:ln>
        </p:spPr>
      </p:sp>
      <p:sp>
        <p:nvSpPr>
          <p:cNvPr id="15" name="Text 1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6" name="Text 1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Work Plan completes — runStatus: completed.</a:t>
            </a:r>
            <a:endParaRPr lang="en-US" sz="1150" dirty="0"/>
          </a:p>
        </p:txBody>
      </p:sp>
      <p:sp>
        <p:nvSpPr>
          <p:cNvPr id="18" name="Text 16"/>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item investigation summary is posted.</a:t>
            </a:r>
            <a:endParaRPr lang="en-US" sz="1150" dirty="0"/>
          </a:p>
        </p:txBody>
      </p:sp>
      <p:sp>
        <p:nvSpPr>
          <p:cNvPr id="20" name="Text 18"/>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device investigation summary is posted.</a:t>
            </a:r>
            <a:endParaRPr lang="en-US" sz="1150" dirty="0"/>
          </a:p>
        </p:txBody>
      </p:sp>
      <p:sp>
        <p:nvSpPr>
          <p:cNvPr id="22" name="Text 20"/>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triage summary carries a verdict.</a:t>
            </a:r>
            <a:endParaRPr lang="en-US" sz="1150" dirty="0"/>
          </a:p>
        </p:txBody>
      </p:sp>
      <p:sp>
        <p:nvSpPr>
          <p:cNvPr id="24" name="Text 22"/>
          <p:cNvSpPr/>
          <p:nvPr/>
        </p:nvSpPr>
        <p:spPr>
          <a:xfrm>
            <a:off x="7626096" y="33649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649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Benign auto-closes, Suspicious stays open, Malicious raises severity.</a:t>
            </a:r>
            <a:endParaRPr lang="en-US" sz="1150" dirty="0"/>
          </a:p>
        </p:txBody>
      </p:sp>
      <p:sp>
        <p:nvSpPr>
          <p:cNvPr id="26" name="Shape 24"/>
          <p:cNvSpPr/>
          <p:nvPr/>
        </p:nvSpPr>
        <p:spPr>
          <a:xfrm>
            <a:off x="548640" y="4375404"/>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622292"/>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6222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549140"/>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Reference run: a vulnerable-dependency alert on a package whose KOI catalog risk is High escalated to Malicious — driven by the independent catalog data, not the alert's own severity. That corroboration is the point of the verdict logic.</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The two investigations</a:t>
            </a:r>
            <a:endParaRPr lang="en-US" sz="3100" dirty="0"/>
          </a:p>
        </p:txBody>
      </p:sp>
      <p:sp>
        <p:nvSpPr>
          <p:cNvPr id="4" name="Shape 2"/>
          <p:cNvSpPr/>
          <p:nvPr/>
        </p:nvSpPr>
        <p:spPr>
          <a:xfrm>
            <a:off x="548640" y="1444752"/>
            <a:ext cx="6400800" cy="2194560"/>
          </a:xfrm>
          <a:prstGeom prst="roundRect">
            <a:avLst>
              <a:gd name="adj" fmla="val 208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the test 5 run, open the item investigation summary.</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device investigation summary and its risky-items table.</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run the device investigation on its own:</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 - Investigate Device, device_id=&lt;id&gt;</a:t>
            </a:r>
            <a:endParaRPr lang="en-US" sz="1050" dirty="0"/>
          </a:p>
        </p:txBody>
      </p:sp>
      <p:sp>
        <p:nvSpPr>
          <p:cNvPr id="14" name="Shape 12"/>
          <p:cNvSpPr/>
          <p:nvPr/>
        </p:nvSpPr>
        <p:spPr>
          <a:xfrm>
            <a:off x="7315200" y="1444752"/>
            <a:ext cx="4297680" cy="2194560"/>
          </a:xfrm>
          <a:prstGeom prst="roundRect">
            <a:avLst>
              <a:gd name="adj" fmla="val 2083"/>
            </a:avLst>
          </a:prstGeom>
          <a:solidFill>
            <a:srgbClr val="1C2026"/>
          </a:solidFill>
          <a:ln w="12700">
            <a:solidFill>
              <a:srgbClr val="1C2026"/>
            </a:solidFill>
            <a:prstDash val="solid"/>
          </a:ln>
        </p:spPr>
      </p:sp>
      <p:sp>
        <p:nvSpPr>
          <p:cNvPr id="15" name="Text 1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6" name="Text 1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7918704" y="204825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Item: catalog risk and AI summary, org exposure, endpoints and users, blocklist state, remediation and approval history.</a:t>
            </a:r>
            <a:endParaRPr lang="en-US" sz="1150" dirty="0"/>
          </a:p>
        </p:txBody>
      </p:sp>
      <p:sp>
        <p:nvSpPr>
          <p:cNvPr id="18" name="Text 16"/>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75234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Device: everything installed on the host, which of it is risky, host remediations.</a:t>
            </a:r>
            <a:endParaRPr lang="en-US" sz="1150" dirty="0"/>
          </a:p>
        </p:txBody>
      </p:sp>
      <p:sp>
        <p:nvSpPr>
          <p:cNvPr id="20" name="Shape 18"/>
          <p:cNvSpPr/>
          <p:nvPr/>
        </p:nvSpPr>
        <p:spPr>
          <a:xfrm>
            <a:off x="548640" y="3858768"/>
            <a:ext cx="11064240" cy="841248"/>
          </a:xfrm>
          <a:prstGeom prst="roundRect">
            <a:avLst>
              <a:gd name="adj" fmla="val 5435"/>
            </a:avLst>
          </a:prstGeom>
          <a:solidFill>
            <a:srgbClr val="1C2026"/>
          </a:solidFill>
          <a:ln w="12700">
            <a:solidFill>
              <a:srgbClr val="1C2026"/>
            </a:solidFill>
            <a:prstDash val="solid"/>
          </a:ln>
        </p:spPr>
      </p:sp>
      <p:sp>
        <p:nvSpPr>
          <p:cNvPr id="21" name="Shape 19"/>
          <p:cNvSpPr/>
          <p:nvPr/>
        </p:nvSpPr>
        <p:spPr>
          <a:xfrm>
            <a:off x="804672" y="4105656"/>
            <a:ext cx="310896" cy="310896"/>
          </a:xfrm>
          <a:prstGeom prst="roundRect">
            <a:avLst>
              <a:gd name="adj" fmla="val 26471"/>
            </a:avLst>
          </a:prstGeom>
          <a:solidFill>
            <a:srgbClr val="F5A524"/>
          </a:solidFill>
          <a:ln w="12700">
            <a:solidFill>
              <a:srgbClr val="F5A524"/>
            </a:solidFill>
            <a:prstDash val="solid"/>
          </a:ln>
        </p:spPr>
      </p:sp>
      <p:sp>
        <p:nvSpPr>
          <p:cNvPr id="22" name="Text 20"/>
          <p:cNvSpPr/>
          <p:nvPr/>
        </p:nvSpPr>
        <p:spPr>
          <a:xfrm>
            <a:off x="804672" y="41056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p:cNvSpPr/>
          <p:nvPr/>
        </p:nvSpPr>
        <p:spPr>
          <a:xfrm>
            <a:off x="1298448" y="4032504"/>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Known cosmetic issue: a few item-investigation fields render with array brackets — ["high"] rather than high — because XSOAR resolves arrays differently inside a sub-playbook. The values are correct and the analyst-facing triage summary renders clean.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  ·  SAFETY-CRITICAL</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Response stays gated on a human</a:t>
            </a:r>
            <a:endParaRPr lang="en-US" sz="3100" dirty="0"/>
          </a:p>
        </p:txBody>
      </p:sp>
      <p:sp>
        <p:nvSpPr>
          <p:cNvPr id="4" name="Shape 2"/>
          <p:cNvSpPr/>
          <p:nvPr/>
        </p:nvSpPr>
        <p:spPr>
          <a:xfrm>
            <a:off x="548640" y="1444752"/>
            <a:ext cx="6400800" cy="2852928"/>
          </a:xfrm>
          <a:prstGeom prst="roundRect">
            <a:avLst>
              <a:gd name="adj" fmla="val 160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Let a Malicious verdict reach the response step, or run it directly:</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 - Block and Remediate</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item_id=&lt;id&gt;  marketplace=&lt;mp&gt;  auto_block=false</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Do not approve yet.</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Inspect the run state and the war room.</a:t>
            </a:r>
            <a:endParaRPr lang="en-US" sz="11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approve, and re-inspect.</a:t>
            </a:r>
            <a:endParaRPr lang="en-US" sz="1150" dirty="0"/>
          </a:p>
        </p:txBody>
      </p:sp>
      <p:sp>
        <p:nvSpPr>
          <p:cNvPr id="18" name="Shape 16"/>
          <p:cNvSpPr/>
          <p:nvPr/>
        </p:nvSpPr>
        <p:spPr>
          <a:xfrm>
            <a:off x="7315200" y="1444752"/>
            <a:ext cx="4297680" cy="2852928"/>
          </a:xfrm>
          <a:prstGeom prst="roundRect">
            <a:avLst>
              <a:gd name="adj" fmla="val 1603"/>
            </a:avLst>
          </a:prstGeom>
          <a:solidFill>
            <a:srgbClr val="1C2026"/>
          </a:solidFill>
          <a:ln w="12700">
            <a:solidFill>
              <a:srgbClr val="1C2026"/>
            </a:solidFill>
            <a:prstDash val="solid"/>
          </a:ln>
        </p:spPr>
      </p:sp>
      <p:sp>
        <p:nvSpPr>
          <p:cNvPr id="19" name="Text 17"/>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0" name="Text 18"/>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run parks — runStatus: waiting.</a:t>
            </a:r>
            <a:endParaRPr lang="en-US" sz="1150" dirty="0"/>
          </a:p>
        </p:txBody>
      </p:sp>
      <p:sp>
        <p:nvSpPr>
          <p:cNvPr id="22" name="Text 20"/>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koi-blocklist-items-add has NOT executed.</a:t>
            </a:r>
            <a:endParaRPr lang="en-US" sz="1150" dirty="0"/>
          </a:p>
        </p:txBody>
      </p:sp>
      <p:sp>
        <p:nvSpPr>
          <p:cNvPr id="24" name="Text 22"/>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approval shows the full investigation.</a:t>
            </a:r>
            <a:endParaRPr lang="en-US" sz="1150" dirty="0"/>
          </a:p>
        </p:txBody>
      </p:sp>
      <p:sp>
        <p:nvSpPr>
          <p:cNvPr id="26" name="Text 24"/>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0358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already-blocklisted item short-circuits as Already blocked.</a:t>
            </a:r>
            <a:endParaRPr lang="en-US" sz="1150" dirty="0"/>
          </a:p>
        </p:txBody>
      </p:sp>
      <p:sp>
        <p:nvSpPr>
          <p:cNvPr id="28" name="Text 26"/>
          <p:cNvSpPr/>
          <p:nvPr/>
        </p:nvSpPr>
        <p:spPr>
          <a:xfrm>
            <a:off x="7626096" y="35524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5524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Only then does the blocklist write fire.</a:t>
            </a:r>
            <a:endParaRPr lang="en-US" sz="1150" dirty="0"/>
          </a:p>
        </p:txBody>
      </p:sp>
      <p:sp>
        <p:nvSpPr>
          <p:cNvPr id="30" name="Shape 28"/>
          <p:cNvSpPr/>
          <p:nvPr/>
        </p:nvSpPr>
        <p:spPr>
          <a:xfrm>
            <a:off x="548640" y="4517136"/>
            <a:ext cx="11064240" cy="841248"/>
          </a:xfrm>
          <a:prstGeom prst="roundRect">
            <a:avLst>
              <a:gd name="adj" fmla="val 5435"/>
            </a:avLst>
          </a:prstGeom>
          <a:solidFill>
            <a:srgbClr val="1C2026"/>
          </a:solidFill>
          <a:ln w="12700">
            <a:solidFill>
              <a:srgbClr val="1C2026"/>
            </a:solidFill>
            <a:prstDash val="solid"/>
          </a:ln>
        </p:spPr>
      </p:sp>
      <p:sp>
        <p:nvSpPr>
          <p:cNvPr id="31" name="Shape 29"/>
          <p:cNvSpPr/>
          <p:nvPr/>
        </p:nvSpPr>
        <p:spPr>
          <a:xfrm>
            <a:off x="804672" y="4764024"/>
            <a:ext cx="310896" cy="310896"/>
          </a:xfrm>
          <a:prstGeom prst="roundRect">
            <a:avLst>
              <a:gd name="adj" fmla="val 26471"/>
            </a:avLst>
          </a:prstGeom>
          <a:solidFill>
            <a:srgbClr val="F5A524"/>
          </a:solidFill>
          <a:ln w="12700">
            <a:solidFill>
              <a:srgbClr val="F5A524"/>
            </a:solidFill>
            <a:prstDash val="solid"/>
          </a:ln>
        </p:spPr>
      </p:sp>
      <p:sp>
        <p:nvSpPr>
          <p:cNvPr id="32" name="Text 30"/>
          <p:cNvSpPr/>
          <p:nvPr/>
        </p:nvSpPr>
        <p:spPr>
          <a:xfrm>
            <a:off x="804672" y="47640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98448" y="4690872"/>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This is the one test that must pass before you use the pack in production. Triage always calls the response playbook with auto_block=false, so a Malicious verdict can never block software on its own.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Scheduled hunt for risky MCP servers</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KOI - MCP Server Audit manually first.</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Leave risk_levels at its default:</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high,critical</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Review what it flags.</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attach it to a time-triggered Job.</a:t>
            </a:r>
            <a:endParaRPr lang="en-US" sz="11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MCP-server inventory is enumerated.</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Items at or above the threshold are flagged and reported.</a:t>
            </a:r>
            <a:endParaRPr lang="en-US" sz="1150" dirty="0"/>
          </a:p>
        </p:txBody>
      </p:sp>
      <p:sp>
        <p:nvSpPr>
          <p:cNvPr id="22" name="Text 20"/>
          <p:cNvSpPr/>
          <p:nvPr/>
        </p:nvSpPr>
        <p:spPr>
          <a:xfrm>
            <a:off x="7626096" y="28940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89407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Runs on your schedule with no alert needed.</a:t>
            </a:r>
            <a:endParaRPr lang="en-US" sz="1150" dirty="0"/>
          </a:p>
        </p:txBody>
      </p:sp>
      <p:sp>
        <p:nvSpPr>
          <p:cNvPr id="24" name="Shape 22"/>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5" name="Shape 23"/>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6" name="Text 24"/>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audit queries koi-inventory-list with view=mcp_servers. Confirm that view matches how your tenant categorises MCP servers — if it returns nothing, check the categorisation before assuming the estate is clean.</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job</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the prerequisites exist and match by name.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Create the JSON List named exactly:</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 Script Runner</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Run now.</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run, then open Action Center.</a:t>
            </a:r>
            <a:endParaRPr lang="en-US" sz="11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Work Plan is green.</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ScriptResult ok:true plus an action_id.</a:t>
            </a:r>
            <a:endParaRPr lang="en-US" sz="1150" dirty="0"/>
          </a:p>
        </p:txBody>
      </p:sp>
      <p:sp>
        <p:nvSpPr>
          <p:cNvPr id="22" name="Text 20"/>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066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SKIPPED info entries where no connected endpoint matches the OS scope — and no failure email.</a:t>
            </a:r>
            <a:endParaRPr lang="en-US" sz="1150" dirty="0"/>
          </a:p>
        </p:txBody>
      </p:sp>
      <p:sp>
        <p:nvSpPr>
          <p:cNvPr id="24" name="Text 22"/>
          <p:cNvSpPr/>
          <p:nvPr/>
        </p:nvSpPr>
        <p:spPr>
          <a:xfrm>
            <a:off x="7626096" y="32232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22326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Action Center shows COMPLETED_SUCCESSFULLY.</a:t>
            </a:r>
            <a:endParaRPr lang="en-US" sz="1150" dirty="0"/>
          </a:p>
        </p:txBody>
      </p:sp>
      <p:sp>
        <p:nvSpPr>
          <p:cNvPr id="26" name="Shape 24"/>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Everything binds by name at run time: the script package in the Scripts Library, the endpoint groups, the List and the mail instance. Rename any of them without updating the List and the next run fails or skips — the war room records which reference broke.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IF SOMETHING FAILS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Symptom → cause → fix</a:t>
            </a:r>
            <a:endParaRPr lang="en-US" sz="3100" dirty="0"/>
          </a:p>
        </p:txBody>
      </p:sp>
      <p:sp>
        <p:nvSpPr>
          <p:cNvPr id="4" name="Shape 2"/>
          <p:cNvSpPr/>
          <p:nvPr/>
        </p:nvSpPr>
        <p:spPr>
          <a:xfrm>
            <a:off x="548640" y="1517904"/>
            <a:ext cx="11064240" cy="548640"/>
          </a:xfrm>
          <a:prstGeom prst="roundRect">
            <a:avLst>
              <a:gd name="adj" fmla="val 8333"/>
            </a:avLst>
          </a:prstGeom>
          <a:solidFill>
            <a:srgbClr val="15171B"/>
          </a:solidFill>
          <a:ln w="12700">
            <a:solidFill>
              <a:srgbClr val="15171B"/>
            </a:solidFill>
            <a:prstDash val="solid"/>
          </a:ln>
        </p:spPr>
      </p:sp>
      <p:sp>
        <p:nvSpPr>
          <p:cNvPr id="5" name="Text 3"/>
          <p:cNvSpPr/>
          <p:nvPr/>
        </p:nvSpPr>
        <p:spPr>
          <a:xfrm>
            <a:off x="822960" y="1673352"/>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403 on inventory, koidex or users</a:t>
            </a:r>
            <a:endParaRPr lang="en-US" sz="1150" dirty="0"/>
          </a:p>
        </p:txBody>
      </p:sp>
      <p:sp>
        <p:nvSpPr>
          <p:cNvPr id="6" name="Text 4"/>
          <p:cNvSpPr/>
          <p:nvPr/>
        </p:nvSpPr>
        <p:spPr>
          <a:xfrm>
            <a:off x="4206240" y="1682496"/>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Source IP not accepted by KOI's edge</a:t>
            </a:r>
            <a:endParaRPr lang="en-US" sz="1050" dirty="0"/>
          </a:p>
        </p:txBody>
      </p:sp>
      <p:sp>
        <p:nvSpPr>
          <p:cNvPr id="7" name="Text 5"/>
          <p:cNvSpPr/>
          <p:nvPr/>
        </p:nvSpPr>
        <p:spPr>
          <a:xfrm>
            <a:off x="7680960" y="1682496"/>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Run the integration on a Cortex engine with an allowlisted egress IP</a:t>
            </a:r>
            <a:endParaRPr lang="en-US" sz="1050" dirty="0"/>
          </a:p>
        </p:txBody>
      </p:sp>
      <p:sp>
        <p:nvSpPr>
          <p:cNvPr id="8" name="Shape 6"/>
          <p:cNvSpPr/>
          <p:nvPr/>
        </p:nvSpPr>
        <p:spPr>
          <a:xfrm>
            <a:off x="548640" y="2194560"/>
            <a:ext cx="11064240" cy="548640"/>
          </a:xfrm>
          <a:prstGeom prst="roundRect">
            <a:avLst>
              <a:gd name="adj" fmla="val 8333"/>
            </a:avLst>
          </a:prstGeom>
          <a:solidFill>
            <a:srgbClr val="15171B"/>
          </a:solidFill>
          <a:ln w="12700">
            <a:solidFill>
              <a:srgbClr val="15171B"/>
            </a:solidFill>
            <a:prstDash val="solid"/>
          </a:ln>
        </p:spPr>
      </p:sp>
      <p:sp>
        <p:nvSpPr>
          <p:cNvPr id="9" name="Text 7"/>
          <p:cNvSpPr/>
          <p:nvPr/>
        </p:nvSpPr>
        <p:spPr>
          <a:xfrm>
            <a:off x="822960" y="2350008"/>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Test passes but no events arrive</a:t>
            </a:r>
            <a:endParaRPr lang="en-US" sz="1150" dirty="0"/>
          </a:p>
        </p:txBody>
      </p:sp>
      <p:sp>
        <p:nvSpPr>
          <p:cNvPr id="10" name="Text 8"/>
          <p:cNvSpPr/>
          <p:nvPr/>
        </p:nvSpPr>
        <p:spPr>
          <a:xfrm>
            <a:off x="4206240" y="2359152"/>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Fetch events not enabled, or no new KOI activity</a:t>
            </a:r>
            <a:endParaRPr lang="en-US" sz="1050" dirty="0"/>
          </a:p>
        </p:txBody>
      </p:sp>
      <p:sp>
        <p:nvSpPr>
          <p:cNvPr id="11" name="Text 9"/>
          <p:cNvSpPr/>
          <p:nvPr/>
        </p:nvSpPr>
        <p:spPr>
          <a:xfrm>
            <a:off x="7680960" y="2359152"/>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Enable it, wait two cycles, check koi-fetch-context-get</a:t>
            </a:r>
            <a:endParaRPr lang="en-US" sz="1050" dirty="0"/>
          </a:p>
        </p:txBody>
      </p:sp>
      <p:sp>
        <p:nvSpPr>
          <p:cNvPr id="12" name="Shape 10"/>
          <p:cNvSpPr/>
          <p:nvPr/>
        </p:nvSpPr>
        <p:spPr>
          <a:xfrm>
            <a:off x="548640" y="2871216"/>
            <a:ext cx="11064240" cy="548640"/>
          </a:xfrm>
          <a:prstGeom prst="roundRect">
            <a:avLst>
              <a:gd name="adj" fmla="val 8333"/>
            </a:avLst>
          </a:prstGeom>
          <a:solidFill>
            <a:srgbClr val="15171B"/>
          </a:solidFill>
          <a:ln w="12700">
            <a:solidFill>
              <a:srgbClr val="15171B"/>
            </a:solidFill>
            <a:prstDash val="solid"/>
          </a:ln>
        </p:spPr>
      </p:sp>
      <p:sp>
        <p:nvSpPr>
          <p:cNvPr id="13" name="Text 11"/>
          <p:cNvSpPr/>
          <p:nvPr/>
        </p:nvSpPr>
        <p:spPr>
          <a:xfrm>
            <a:off x="822960" y="3026664"/>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Triage cannot find the item</a:t>
            </a:r>
            <a:endParaRPr lang="en-US" sz="1150" dirty="0"/>
          </a:p>
        </p:txBody>
      </p:sp>
      <p:sp>
        <p:nvSpPr>
          <p:cNvPr id="14" name="Text 12"/>
          <p:cNvSpPr/>
          <p:nvPr/>
        </p:nvSpPr>
        <p:spPr>
          <a:xfrm>
            <a:off x="4206240" y="3035808"/>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The alert maps the KOI payload elsewhere</a:t>
            </a:r>
            <a:endParaRPr lang="en-US" sz="1050" dirty="0"/>
          </a:p>
        </p:txBody>
      </p:sp>
      <p:sp>
        <p:nvSpPr>
          <p:cNvPr id="15" name="Text 13"/>
          <p:cNvSpPr/>
          <p:nvPr/>
        </p:nvSpPr>
        <p:spPr>
          <a:xfrm>
            <a:off x="7680960" y="3035808"/>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Adjust alert_description on KOI - Extract Alert Context</a:t>
            </a:r>
            <a:endParaRPr lang="en-US" sz="1050" dirty="0"/>
          </a:p>
        </p:txBody>
      </p:sp>
      <p:sp>
        <p:nvSpPr>
          <p:cNvPr id="16" name="Shape 14"/>
          <p:cNvSpPr/>
          <p:nvPr/>
        </p:nvSpPr>
        <p:spPr>
          <a:xfrm>
            <a:off x="548640" y="3547872"/>
            <a:ext cx="11064240" cy="548640"/>
          </a:xfrm>
          <a:prstGeom prst="roundRect">
            <a:avLst>
              <a:gd name="adj" fmla="val 8333"/>
            </a:avLst>
          </a:prstGeom>
          <a:solidFill>
            <a:srgbClr val="15171B"/>
          </a:solidFill>
          <a:ln w="12700">
            <a:solidFill>
              <a:srgbClr val="15171B"/>
            </a:solidFill>
            <a:prstDash val="solid"/>
          </a:ln>
        </p:spPr>
      </p:sp>
      <p:sp>
        <p:nvSpPr>
          <p:cNvPr id="17" name="Text 15"/>
          <p:cNvSpPr/>
          <p:nvPr/>
        </p:nvSpPr>
        <p:spPr>
          <a:xfrm>
            <a:off x="822960" y="3703320"/>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Enrichment empty, playbook still green</a:t>
            </a:r>
            <a:endParaRPr lang="en-US" sz="1150" dirty="0"/>
          </a:p>
        </p:txBody>
      </p:sp>
      <p:sp>
        <p:nvSpPr>
          <p:cNvPr id="18" name="Text 16"/>
          <p:cNvSpPr/>
          <p:nvPr/>
        </p:nvSpPr>
        <p:spPr>
          <a:xfrm>
            <a:off x="4206240" y="3712464"/>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Best-effort by design — KOI was unreachable</a:t>
            </a:r>
            <a:endParaRPr lang="en-US" sz="1050" dirty="0"/>
          </a:p>
        </p:txBody>
      </p:sp>
      <p:sp>
        <p:nvSpPr>
          <p:cNvPr id="19" name="Text 17"/>
          <p:cNvSpPr/>
          <p:nvPr/>
        </p:nvSpPr>
        <p:spPr>
          <a:xfrm>
            <a:off x="7680960" y="3712464"/>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Verify with !koi-users-list limit=1</a:t>
            </a:r>
            <a:endParaRPr lang="en-US" sz="1050" dirty="0"/>
          </a:p>
        </p:txBody>
      </p:sp>
      <p:sp>
        <p:nvSpPr>
          <p:cNvPr id="20" name="Shape 18"/>
          <p:cNvSpPr/>
          <p:nvPr/>
        </p:nvSpPr>
        <p:spPr>
          <a:xfrm>
            <a:off x="548640" y="4224528"/>
            <a:ext cx="11064240" cy="548640"/>
          </a:xfrm>
          <a:prstGeom prst="roundRect">
            <a:avLst>
              <a:gd name="adj" fmla="val 8333"/>
            </a:avLst>
          </a:prstGeom>
          <a:solidFill>
            <a:srgbClr val="15171B"/>
          </a:solidFill>
          <a:ln w="12700">
            <a:solidFill>
              <a:srgbClr val="15171B"/>
            </a:solidFill>
            <a:prstDash val="solid"/>
          </a:ln>
        </p:spPr>
      </p:sp>
      <p:sp>
        <p:nvSpPr>
          <p:cNvPr id="21" name="Text 19"/>
          <p:cNvSpPr/>
          <p:nvPr/>
        </p:nvSpPr>
        <p:spPr>
          <a:xfrm>
            <a:off x="822960" y="4379976"/>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Job entry reports SKIPPED</a:t>
            </a:r>
            <a:endParaRPr lang="en-US" sz="1150" dirty="0"/>
          </a:p>
        </p:txBody>
      </p:sp>
      <p:sp>
        <p:nvSpPr>
          <p:cNvPr id="22" name="Text 20"/>
          <p:cNvSpPr/>
          <p:nvPr/>
        </p:nvSpPr>
        <p:spPr>
          <a:xfrm>
            <a:off x="4206240" y="4389120"/>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No connected, unisolated endpoint matches the OS scope</a:t>
            </a:r>
            <a:endParaRPr lang="en-US" sz="1050" dirty="0"/>
          </a:p>
        </p:txBody>
      </p:sp>
      <p:sp>
        <p:nvSpPr>
          <p:cNvPr id="23" name="Text 21"/>
          <p:cNvSpPr/>
          <p:nvPr/>
        </p:nvSpPr>
        <p:spPr>
          <a:xfrm>
            <a:off x="7680960" y="4389120"/>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Check group membership and endpoint_os in the List</a:t>
            </a:r>
            <a:endParaRPr lang="en-US" sz="1050" dirty="0"/>
          </a:p>
        </p:txBody>
      </p:sp>
      <p:sp>
        <p:nvSpPr>
          <p:cNvPr id="24" name="Shape 22"/>
          <p:cNvSpPr/>
          <p:nvPr/>
        </p:nvSpPr>
        <p:spPr>
          <a:xfrm>
            <a:off x="548640" y="4901184"/>
            <a:ext cx="11064240" cy="548640"/>
          </a:xfrm>
          <a:prstGeom prst="roundRect">
            <a:avLst>
              <a:gd name="adj" fmla="val 8333"/>
            </a:avLst>
          </a:prstGeom>
          <a:solidFill>
            <a:srgbClr val="15171B"/>
          </a:solidFill>
          <a:ln w="12700">
            <a:solidFill>
              <a:srgbClr val="15171B"/>
            </a:solidFill>
            <a:prstDash val="solid"/>
          </a:ln>
        </p:spPr>
      </p:sp>
      <p:sp>
        <p:nvSpPr>
          <p:cNvPr id="25" name="Text 23"/>
          <p:cNvSpPr/>
          <p:nvPr/>
        </p:nvSpPr>
        <p:spPr>
          <a:xfrm>
            <a:off x="822960" y="5056632"/>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Script not found at dispatch</a:t>
            </a:r>
            <a:endParaRPr lang="en-US" sz="1150" dirty="0"/>
          </a:p>
        </p:txBody>
      </p:sp>
      <p:sp>
        <p:nvSpPr>
          <p:cNvPr id="26" name="Text 24"/>
          <p:cNvSpPr/>
          <p:nvPr/>
        </p:nvSpPr>
        <p:spPr>
          <a:xfrm>
            <a:off x="4206240" y="5065776"/>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Library name does not match script.name exactly</a:t>
            </a:r>
            <a:endParaRPr lang="en-US" sz="1050" dirty="0"/>
          </a:p>
        </p:txBody>
      </p:sp>
      <p:sp>
        <p:nvSpPr>
          <p:cNvPr id="27" name="Text 25"/>
          <p:cNvSpPr/>
          <p:nvPr/>
        </p:nvSpPr>
        <p:spPr>
          <a:xfrm>
            <a:off x="7680960" y="5065776"/>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Fix the name, or pin script.uuid to be rename-proof</a:t>
            </a:r>
            <a:endParaRPr lang="en-US" sz="1050" dirty="0"/>
          </a:p>
        </p:txBody>
      </p:sp>
      <p:sp>
        <p:nvSpPr>
          <p:cNvPr id="28" name="Text 26"/>
          <p:cNvSpPr/>
          <p:nvPr/>
        </p:nvSpPr>
        <p:spPr>
          <a:xfrm>
            <a:off x="548640" y="5742432"/>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The first row accounts for most real-world failures — check egress before anything else.</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5" name="Shape 3"/>
          <p:cNvSpPr/>
          <p:nvPr/>
        </p:nvSpPr>
        <p:spPr>
          <a:xfrm>
            <a:off x="548640" y="1572768"/>
            <a:ext cx="5349240" cy="585216"/>
          </a:xfrm>
          <a:prstGeom prst="roundRect">
            <a:avLst>
              <a:gd name="adj" fmla="val 7813"/>
            </a:avLst>
          </a:prstGeom>
          <a:solidFill>
            <a:srgbClr val="15171B"/>
          </a:solidFill>
          <a:ln w="12700">
            <a:solidFill>
              <a:srgbClr val="15171B"/>
            </a:solidFill>
            <a:prstDash val="solid"/>
          </a:ln>
        </p:spPr>
      </p:sp>
      <p:sp>
        <p:nvSpPr>
          <p:cNvPr id="6" name="Shape 4"/>
          <p:cNvSpPr/>
          <p:nvPr/>
        </p:nvSpPr>
        <p:spPr>
          <a:xfrm>
            <a:off x="749808" y="1700784"/>
            <a:ext cx="329184" cy="329184"/>
          </a:xfrm>
          <a:prstGeom prst="roundRect">
            <a:avLst>
              <a:gd name="adj" fmla="val 25000"/>
            </a:avLst>
          </a:prstGeom>
          <a:solidFill>
            <a:srgbClr val="3FB950"/>
          </a:solidFill>
          <a:ln w="12700">
            <a:solidFill>
              <a:srgbClr val="3FB950"/>
            </a:solidFill>
            <a:prstDash val="solid"/>
          </a:ln>
        </p:spPr>
      </p:sp>
      <p:sp>
        <p:nvSpPr>
          <p:cNvPr id="7" name="Text 5"/>
          <p:cNvSpPr/>
          <p:nvPr/>
        </p:nvSpPr>
        <p:spPr>
          <a:xfrm>
            <a:off x="749808"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43584" y="1709928"/>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Test returns Success and koi-devices-list returns rows</a:t>
            </a:r>
            <a:endParaRPr lang="en-US" sz="1100" dirty="0"/>
          </a:p>
        </p:txBody>
      </p:sp>
      <p:sp>
        <p:nvSpPr>
          <p:cNvPr id="9" name="Shape 7"/>
          <p:cNvSpPr/>
          <p:nvPr/>
        </p:nvSpPr>
        <p:spPr>
          <a:xfrm>
            <a:off x="548640" y="2286000"/>
            <a:ext cx="5349240" cy="585216"/>
          </a:xfrm>
          <a:prstGeom prst="roundRect">
            <a:avLst>
              <a:gd name="adj" fmla="val 7813"/>
            </a:avLst>
          </a:prstGeom>
          <a:solidFill>
            <a:srgbClr val="15171B"/>
          </a:solidFill>
          <a:ln w="12700">
            <a:solidFill>
              <a:srgbClr val="15171B"/>
            </a:solidFill>
            <a:prstDash val="solid"/>
          </a:ln>
        </p:spPr>
      </p:sp>
      <p:sp>
        <p:nvSpPr>
          <p:cNvPr id="10" name="Shape 8"/>
          <p:cNvSpPr/>
          <p:nvPr/>
        </p:nvSpPr>
        <p:spPr>
          <a:xfrm>
            <a:off x="749808" y="2414016"/>
            <a:ext cx="329184" cy="329184"/>
          </a:xfrm>
          <a:prstGeom prst="roundRect">
            <a:avLst>
              <a:gd name="adj" fmla="val 25000"/>
            </a:avLst>
          </a:prstGeom>
          <a:solidFill>
            <a:srgbClr val="3FB950"/>
          </a:solidFill>
          <a:ln w="12700">
            <a:solidFill>
              <a:srgbClr val="3FB950"/>
            </a:solidFill>
            <a:prstDash val="solid"/>
          </a:ln>
        </p:spPr>
      </p:sp>
      <p:sp>
        <p:nvSpPr>
          <p:cNvPr id="11" name="Text 9"/>
          <p:cNvSpPr/>
          <p:nvPr/>
        </p:nvSpPr>
        <p:spPr>
          <a:xfrm>
            <a:off x="749808" y="24140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43584" y="2423160"/>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koi_koi_raw event counts grow between fetch cycles</a:t>
            </a:r>
            <a:endParaRPr lang="en-US" sz="1100" dirty="0"/>
          </a:p>
        </p:txBody>
      </p:sp>
      <p:sp>
        <p:nvSpPr>
          <p:cNvPr id="13" name="Shape 11"/>
          <p:cNvSpPr/>
          <p:nvPr/>
        </p:nvSpPr>
        <p:spPr>
          <a:xfrm>
            <a:off x="548640" y="2999232"/>
            <a:ext cx="5349240" cy="585216"/>
          </a:xfrm>
          <a:prstGeom prst="roundRect">
            <a:avLst>
              <a:gd name="adj" fmla="val 7813"/>
            </a:avLst>
          </a:prstGeom>
          <a:solidFill>
            <a:srgbClr val="15171B"/>
          </a:solidFill>
          <a:ln w="12700">
            <a:solidFill>
              <a:srgbClr val="15171B"/>
            </a:solidFill>
            <a:prstDash val="solid"/>
          </a:ln>
        </p:spPr>
      </p:sp>
      <p:sp>
        <p:nvSpPr>
          <p:cNvPr id="14" name="Shape 12"/>
          <p:cNvSpPr/>
          <p:nvPr/>
        </p:nvSpPr>
        <p:spPr>
          <a:xfrm>
            <a:off x="749808" y="3127248"/>
            <a:ext cx="329184" cy="329184"/>
          </a:xfrm>
          <a:prstGeom prst="roundRect">
            <a:avLst>
              <a:gd name="adj" fmla="val 25000"/>
            </a:avLst>
          </a:prstGeom>
          <a:solidFill>
            <a:srgbClr val="3FB950"/>
          </a:solidFill>
          <a:ln w="12700">
            <a:solidFill>
              <a:srgbClr val="3FB950"/>
            </a:solidFill>
            <a:prstDash val="solid"/>
          </a:ln>
        </p:spPr>
      </p:sp>
      <p:sp>
        <p:nvSpPr>
          <p:cNvPr id="15" name="Text 13"/>
          <p:cNvSpPr/>
          <p:nvPr/>
        </p:nvSpPr>
        <p:spPr>
          <a:xfrm>
            <a:off x="749808" y="31272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43584" y="3136392"/>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Read commands return tenant data with no 403</a:t>
            </a:r>
            <a:endParaRPr lang="en-US" sz="1100" dirty="0"/>
          </a:p>
        </p:txBody>
      </p:sp>
      <p:sp>
        <p:nvSpPr>
          <p:cNvPr id="17" name="Shape 15"/>
          <p:cNvSpPr/>
          <p:nvPr/>
        </p:nvSpPr>
        <p:spPr>
          <a:xfrm>
            <a:off x="548640" y="3712464"/>
            <a:ext cx="5349240" cy="585216"/>
          </a:xfrm>
          <a:prstGeom prst="roundRect">
            <a:avLst>
              <a:gd name="adj" fmla="val 7813"/>
            </a:avLst>
          </a:prstGeom>
          <a:solidFill>
            <a:srgbClr val="15171B"/>
          </a:solidFill>
          <a:ln w="12700">
            <a:solidFill>
              <a:srgbClr val="15171B"/>
            </a:solidFill>
            <a:prstDash val="solid"/>
          </a:ln>
        </p:spPr>
      </p:sp>
      <p:sp>
        <p:nvSpPr>
          <p:cNvPr id="18" name="Shape 16"/>
          <p:cNvSpPr/>
          <p:nvPr/>
        </p:nvSpPr>
        <p:spPr>
          <a:xfrm>
            <a:off x="749808" y="3840480"/>
            <a:ext cx="329184" cy="329184"/>
          </a:xfrm>
          <a:prstGeom prst="roundRect">
            <a:avLst>
              <a:gd name="adj" fmla="val 25000"/>
            </a:avLst>
          </a:prstGeom>
          <a:solidFill>
            <a:srgbClr val="3FB950"/>
          </a:solidFill>
          <a:ln w="12700">
            <a:solidFill>
              <a:srgbClr val="3FB950"/>
            </a:solidFill>
            <a:prstDash val="solid"/>
          </a:ln>
        </p:spPr>
      </p:sp>
      <p:sp>
        <p:nvSpPr>
          <p:cNvPr id="19" name="Text 17"/>
          <p:cNvSpPr/>
          <p:nvPr/>
        </p:nvSpPr>
        <p:spPr>
          <a:xfrm>
            <a:off x="749808" y="3840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243584" y="3849624"/>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Dashboard widgets render and XDM fields are populated</a:t>
            </a:r>
            <a:endParaRPr lang="en-US" sz="1100" dirty="0"/>
          </a:p>
        </p:txBody>
      </p:sp>
      <p:sp>
        <p:nvSpPr>
          <p:cNvPr id="21" name="Shape 19"/>
          <p:cNvSpPr/>
          <p:nvPr/>
        </p:nvSpPr>
        <p:spPr>
          <a:xfrm>
            <a:off x="548640" y="4425696"/>
            <a:ext cx="5349240" cy="585216"/>
          </a:xfrm>
          <a:prstGeom prst="roundRect">
            <a:avLst>
              <a:gd name="adj" fmla="val 7813"/>
            </a:avLst>
          </a:prstGeom>
          <a:solidFill>
            <a:srgbClr val="15171B"/>
          </a:solidFill>
          <a:ln w="12700">
            <a:solidFill>
              <a:srgbClr val="15171B"/>
            </a:solidFill>
            <a:prstDash val="solid"/>
          </a:ln>
        </p:spPr>
      </p:sp>
      <p:sp>
        <p:nvSpPr>
          <p:cNvPr id="22" name="Shape 20"/>
          <p:cNvSpPr/>
          <p:nvPr/>
        </p:nvSpPr>
        <p:spPr>
          <a:xfrm>
            <a:off x="749808" y="4553712"/>
            <a:ext cx="329184" cy="329184"/>
          </a:xfrm>
          <a:prstGeom prst="roundRect">
            <a:avLst>
              <a:gd name="adj" fmla="val 25000"/>
            </a:avLst>
          </a:prstGeom>
          <a:solidFill>
            <a:srgbClr val="3FB950"/>
          </a:solidFill>
          <a:ln w="12700">
            <a:solidFill>
              <a:srgbClr val="3FB950"/>
            </a:solidFill>
            <a:prstDash val="solid"/>
          </a:ln>
        </p:spPr>
      </p:sp>
      <p:sp>
        <p:nvSpPr>
          <p:cNvPr id="23" name="Text 21"/>
          <p:cNvSpPr/>
          <p:nvPr/>
        </p:nvSpPr>
        <p:spPr>
          <a:xfrm>
            <a:off x="749808" y="45537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243584" y="4562856"/>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Triage completes with a verdict and both summaries</a:t>
            </a:r>
            <a:endParaRPr lang="en-US" sz="1100" dirty="0"/>
          </a:p>
        </p:txBody>
      </p:sp>
      <p:sp>
        <p:nvSpPr>
          <p:cNvPr id="25" name="Shape 23"/>
          <p:cNvSpPr/>
          <p:nvPr/>
        </p:nvSpPr>
        <p:spPr>
          <a:xfrm>
            <a:off x="6263640" y="1572768"/>
            <a:ext cx="5349240" cy="585216"/>
          </a:xfrm>
          <a:prstGeom prst="roundRect">
            <a:avLst>
              <a:gd name="adj" fmla="val 7813"/>
            </a:avLst>
          </a:prstGeom>
          <a:solidFill>
            <a:srgbClr val="15171B"/>
          </a:solidFill>
          <a:ln w="12700">
            <a:solidFill>
              <a:srgbClr val="15171B"/>
            </a:solidFill>
            <a:prstDash val="solid"/>
          </a:ln>
        </p:spPr>
      </p:sp>
      <p:sp>
        <p:nvSpPr>
          <p:cNvPr id="26" name="Shape 24"/>
          <p:cNvSpPr/>
          <p:nvPr/>
        </p:nvSpPr>
        <p:spPr>
          <a:xfrm>
            <a:off x="6464808" y="1700784"/>
            <a:ext cx="329184" cy="329184"/>
          </a:xfrm>
          <a:prstGeom prst="roundRect">
            <a:avLst>
              <a:gd name="adj" fmla="val 25000"/>
            </a:avLst>
          </a:prstGeom>
          <a:solidFill>
            <a:srgbClr val="3FB950"/>
          </a:solidFill>
          <a:ln w="12700">
            <a:solidFill>
              <a:srgbClr val="3FB950"/>
            </a:solidFill>
            <a:prstDash val="solid"/>
          </a:ln>
        </p:spPr>
      </p:sp>
      <p:sp>
        <p:nvSpPr>
          <p:cNvPr id="27" name="Text 25"/>
          <p:cNvSpPr/>
          <p:nvPr/>
        </p:nvSpPr>
        <p:spPr>
          <a:xfrm>
            <a:off x="6464808"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p:nvPr/>
        </p:nvSpPr>
        <p:spPr>
          <a:xfrm>
            <a:off x="6958584" y="1709928"/>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Item and device investigations carry real KOI data</a:t>
            </a:r>
            <a:endParaRPr lang="en-US" sz="1100" dirty="0"/>
          </a:p>
        </p:txBody>
      </p:sp>
      <p:sp>
        <p:nvSpPr>
          <p:cNvPr id="29" name="Shape 27"/>
          <p:cNvSpPr/>
          <p:nvPr/>
        </p:nvSpPr>
        <p:spPr>
          <a:xfrm>
            <a:off x="6263640" y="2286000"/>
            <a:ext cx="5349240" cy="585216"/>
          </a:xfrm>
          <a:prstGeom prst="roundRect">
            <a:avLst>
              <a:gd name="adj" fmla="val 7813"/>
            </a:avLst>
          </a:prstGeom>
          <a:solidFill>
            <a:srgbClr val="15171B"/>
          </a:solidFill>
          <a:ln w="12700">
            <a:solidFill>
              <a:srgbClr val="15171B"/>
            </a:solidFill>
            <a:prstDash val="solid"/>
          </a:ln>
        </p:spPr>
      </p:sp>
      <p:sp>
        <p:nvSpPr>
          <p:cNvPr id="30" name="Shape 28"/>
          <p:cNvSpPr/>
          <p:nvPr/>
        </p:nvSpPr>
        <p:spPr>
          <a:xfrm>
            <a:off x="6464808" y="2414016"/>
            <a:ext cx="329184" cy="329184"/>
          </a:xfrm>
          <a:prstGeom prst="roundRect">
            <a:avLst>
              <a:gd name="adj" fmla="val 25000"/>
            </a:avLst>
          </a:prstGeom>
          <a:solidFill>
            <a:srgbClr val="3FB950"/>
          </a:solidFill>
          <a:ln w="12700">
            <a:solidFill>
              <a:srgbClr val="3FB950"/>
            </a:solidFill>
            <a:prstDash val="solid"/>
          </a:ln>
        </p:spPr>
      </p:sp>
      <p:sp>
        <p:nvSpPr>
          <p:cNvPr id="31" name="Text 29"/>
          <p:cNvSpPr/>
          <p:nvPr/>
        </p:nvSpPr>
        <p:spPr>
          <a:xfrm>
            <a:off x="6464808" y="24140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p:nvPr/>
        </p:nvSpPr>
        <p:spPr>
          <a:xfrm>
            <a:off x="6958584" y="2423160"/>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Run parks on approval; blocklist write did not execute</a:t>
            </a:r>
            <a:endParaRPr lang="en-US" sz="1100" dirty="0"/>
          </a:p>
        </p:txBody>
      </p:sp>
      <p:sp>
        <p:nvSpPr>
          <p:cNvPr id="33" name="Shape 31"/>
          <p:cNvSpPr/>
          <p:nvPr/>
        </p:nvSpPr>
        <p:spPr>
          <a:xfrm>
            <a:off x="6263640" y="2999232"/>
            <a:ext cx="5349240" cy="585216"/>
          </a:xfrm>
          <a:prstGeom prst="roundRect">
            <a:avLst>
              <a:gd name="adj" fmla="val 7813"/>
            </a:avLst>
          </a:prstGeom>
          <a:solidFill>
            <a:srgbClr val="15171B"/>
          </a:solidFill>
          <a:ln w="12700">
            <a:solidFill>
              <a:srgbClr val="15171B"/>
            </a:solidFill>
            <a:prstDash val="solid"/>
          </a:ln>
        </p:spPr>
      </p:sp>
      <p:sp>
        <p:nvSpPr>
          <p:cNvPr id="34" name="Shape 32"/>
          <p:cNvSpPr/>
          <p:nvPr/>
        </p:nvSpPr>
        <p:spPr>
          <a:xfrm>
            <a:off x="6464808" y="3127248"/>
            <a:ext cx="329184" cy="329184"/>
          </a:xfrm>
          <a:prstGeom prst="roundRect">
            <a:avLst>
              <a:gd name="adj" fmla="val 25000"/>
            </a:avLst>
          </a:prstGeom>
          <a:solidFill>
            <a:srgbClr val="3FB950"/>
          </a:solidFill>
          <a:ln w="12700">
            <a:solidFill>
              <a:srgbClr val="3FB950"/>
            </a:solidFill>
            <a:prstDash val="solid"/>
          </a:ln>
        </p:spPr>
      </p:sp>
      <p:sp>
        <p:nvSpPr>
          <p:cNvPr id="35" name="Text 33"/>
          <p:cNvSpPr/>
          <p:nvPr/>
        </p:nvSpPr>
        <p:spPr>
          <a:xfrm>
            <a:off x="6464808" y="31272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p:nvPr/>
        </p:nvSpPr>
        <p:spPr>
          <a:xfrm>
            <a:off x="6958584" y="3136392"/>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MCP audit flags items at or above the threshold</a:t>
            </a:r>
            <a:endParaRPr lang="en-US" sz="1100" dirty="0"/>
          </a:p>
        </p:txBody>
      </p:sp>
      <p:sp>
        <p:nvSpPr>
          <p:cNvPr id="37" name="Shape 35"/>
          <p:cNvSpPr/>
          <p:nvPr/>
        </p:nvSpPr>
        <p:spPr>
          <a:xfrm>
            <a:off x="6263640" y="3712464"/>
            <a:ext cx="5349240" cy="585216"/>
          </a:xfrm>
          <a:prstGeom prst="roundRect">
            <a:avLst>
              <a:gd name="adj" fmla="val 7813"/>
            </a:avLst>
          </a:prstGeom>
          <a:solidFill>
            <a:srgbClr val="15171B"/>
          </a:solidFill>
          <a:ln w="12700">
            <a:solidFill>
              <a:srgbClr val="15171B"/>
            </a:solidFill>
            <a:prstDash val="solid"/>
          </a:ln>
        </p:spPr>
      </p:sp>
      <p:sp>
        <p:nvSpPr>
          <p:cNvPr id="38" name="Shape 36"/>
          <p:cNvSpPr/>
          <p:nvPr/>
        </p:nvSpPr>
        <p:spPr>
          <a:xfrm>
            <a:off x="6464808" y="3840480"/>
            <a:ext cx="329184" cy="329184"/>
          </a:xfrm>
          <a:prstGeom prst="roundRect">
            <a:avLst>
              <a:gd name="adj" fmla="val 25000"/>
            </a:avLst>
          </a:prstGeom>
          <a:solidFill>
            <a:srgbClr val="3FB950"/>
          </a:solidFill>
          <a:ln w="12700">
            <a:solidFill>
              <a:srgbClr val="3FB950"/>
            </a:solidFill>
            <a:prstDash val="solid"/>
          </a:ln>
        </p:spPr>
      </p:sp>
      <p:sp>
        <p:nvSpPr>
          <p:cNvPr id="39" name="Text 37"/>
          <p:cNvSpPr/>
          <p:nvPr/>
        </p:nvSpPr>
        <p:spPr>
          <a:xfrm>
            <a:off x="6464808" y="3840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p:nvPr/>
        </p:nvSpPr>
        <p:spPr>
          <a:xfrm>
            <a:off x="6958584" y="3849624"/>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Job returns ScriptResult ok with an action_id</a:t>
            </a:r>
            <a:endParaRPr lang="en-US" sz="1100" dirty="0"/>
          </a:p>
        </p:txBody>
      </p:sp>
      <p:sp>
        <p:nvSpPr>
          <p:cNvPr id="41" name="Shape 39"/>
          <p:cNvSpPr/>
          <p:nvPr/>
        </p:nvSpPr>
        <p:spPr>
          <a:xfrm>
            <a:off x="6263640" y="4425696"/>
            <a:ext cx="5349240" cy="585216"/>
          </a:xfrm>
          <a:prstGeom prst="roundRect">
            <a:avLst>
              <a:gd name="adj" fmla="val 7813"/>
            </a:avLst>
          </a:prstGeom>
          <a:solidFill>
            <a:srgbClr val="1C2026"/>
          </a:solidFill>
          <a:ln w="12700">
            <a:solidFill>
              <a:srgbClr val="1C2026"/>
            </a:solidFill>
            <a:prstDash val="solid"/>
          </a:ln>
        </p:spPr>
      </p:sp>
      <p:sp>
        <p:nvSpPr>
          <p:cNvPr id="42" name="Text 40"/>
          <p:cNvSpPr/>
          <p:nvPr/>
        </p:nvSpPr>
        <p:spPr>
          <a:xfrm>
            <a:off x="6464808" y="4572000"/>
            <a:ext cx="4946904" cy="365760"/>
          </a:xfrm>
          <a:prstGeom prst="rect">
            <a:avLst/>
          </a:prstGeom>
          <a:noFill/>
          <a:ln/>
        </p:spPr>
        <p:txBody>
          <a:bodyPr wrap="square" lIns="0" tIns="0" rIns="0" bIns="0" rtlCol="0" anchor="t"/>
          <a:lstStyle/>
          <a:p>
            <a:pPr indent="0" marL="0">
              <a:buNone/>
            </a:pPr>
            <a:r>
              <a:rPr lang="en-US" sz="1100" b="1" i="1" dirty="0">
                <a:solidFill>
                  <a:srgbClr val="3FB950"/>
                </a:solidFill>
                <a:latin typeface="Calibri" pitchFamily="34" charset="0"/>
                <a:ea typeface="Calibri" pitchFamily="34" charset="-122"/>
                <a:cs typeface="Calibri" pitchFamily="34" charset="-120"/>
              </a:rPr>
              <a:t>All nine green → the pack is ready for production use.</a:t>
            </a:r>
            <a:endParaRPr lang="en-US" sz="1100" dirty="0"/>
          </a:p>
        </p:txBody>
      </p:sp>
      <p:sp>
        <p:nvSpPr>
          <p:cNvPr id="43" name="Text 41"/>
          <p:cNvSpPr/>
          <p:nvPr/>
        </p:nvSpPr>
        <p:spPr>
          <a:xfrm>
            <a:off x="548640" y="5806440"/>
            <a:ext cx="1106424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Full detail for every step is in the customer guide — KOI_Integration_Customer_Guide_v1.3.0 (Word and PDF).</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Content Pack — Test Guide</dc:title>
  <dc:subject>PptxGenJS Presentation</dc:subject>
  <dc:creator>Cortex XSOAR</dc:creator>
  <cp:lastModifiedBy>Cortex XSOAR</cp:lastModifiedBy>
  <cp:revision>1</cp:revision>
  <dcterms:created xsi:type="dcterms:W3CDTF">2026-07-20T08:14:09Z</dcterms:created>
  <dcterms:modified xsi:type="dcterms:W3CDTF">2026-07-20T08:14:09Z</dcterms:modified>
</cp:coreProperties>
</file>