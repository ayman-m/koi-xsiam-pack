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for an operator, not a content developer. Every test names the tenant-side setup it needs before it can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by dependency, not just by order, so a tester who is blocked on one prerequisite can still make progress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Egress is the single most common deployment problem and it is not obvious from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one thing testers misread as a duplication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state-changing action in the pack. Treat this as the production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must run before Scan. An empty tracker means Scan has nothing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Fastest possible demo: no KOI key, no waiting, and the expected numbers are printed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E8551F">
              <a:alpha val="10000"/>
            </a:srgbClr>
          </a:solidFill>
          <a:ln w="12700">
            <a:solidFill>
              <a:srgbClr val="E8551F"/>
            </a:solidFill>
            <a:prstDash val="solid"/>
          </a:ln>
        </p:spPr>
      </p:sp>
      <p:sp>
        <p:nvSpPr>
          <p:cNvPr id="3" name="Text 1"/>
          <p:cNvSpPr/>
          <p:nvPr/>
        </p:nvSpPr>
        <p:spPr>
          <a:xfrm>
            <a:off x="548640" y="2286000"/>
            <a:ext cx="11064240" cy="274320"/>
          </a:xfrm>
          <a:prstGeom prst="rect">
            <a:avLst/>
          </a:prstGeom>
          <a:noFill/>
          <a:ln/>
        </p:spPr>
        <p:txBody>
          <a:bodyPr wrap="square" lIns="0" tIns="0" rIns="0" bIns="0" rtlCol="0" anchor="t"/>
          <a:lstStyle/>
          <a:p>
            <a:pPr indent="0" marL="0">
              <a:buNone/>
            </a:pPr>
            <a:r>
              <a:rPr lang="en-US" sz="1200" b="1" spc="300" kern="0" dirty="0">
                <a:solidFill>
                  <a:srgbClr val="E8551F"/>
                </a:solidFill>
                <a:latin typeface="Calibri" pitchFamily="34" charset="0"/>
                <a:ea typeface="Calibri" pitchFamily="34" charset="-122"/>
                <a:cs typeface="Calibri" pitchFamily="34" charset="-120"/>
              </a:rPr>
              <a:t>KOI CONTENT PACK</a:t>
            </a:r>
            <a:endParaRPr lang="en-US" sz="1200" dirty="0"/>
          </a:p>
        </p:txBody>
      </p:sp>
      <p:sp>
        <p:nvSpPr>
          <p:cNvPr id="4" name="Text 2"/>
          <p:cNvSpPr/>
          <p:nvPr/>
        </p:nvSpPr>
        <p:spPr>
          <a:xfrm>
            <a:off x="548640" y="2651760"/>
            <a:ext cx="1106424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Test Guide</a:t>
            </a:r>
            <a:endParaRPr lang="en-US" sz="4800" dirty="0"/>
          </a:p>
        </p:txBody>
      </p:sp>
      <p:sp>
        <p:nvSpPr>
          <p:cNvPr id="5" name="Text 3"/>
          <p:cNvSpPr/>
          <p:nvPr/>
        </p:nvSpPr>
        <p:spPr>
          <a:xfrm>
            <a:off x="548640" y="3611880"/>
            <a:ext cx="8778240" cy="365760"/>
          </a:xfrm>
          <a:prstGeom prst="rect">
            <a:avLst/>
          </a:prstGeom>
          <a:noFill/>
          <a:ln/>
        </p:spPr>
        <p:txBody>
          <a:bodyPr wrap="square" lIns="0" tIns="0" rIns="0" bIns="0" rtlCol="0" anchor="t"/>
          <a:lstStyle/>
          <a:p>
            <a:pPr indent="0" marL="0">
              <a:buNone/>
            </a:pPr>
            <a:r>
              <a:rPr lang="en-US" sz="1500" dirty="0">
                <a:solidFill>
                  <a:srgbClr val="B4B7BD"/>
                </a:solidFill>
                <a:latin typeface="Calibri" pitchFamily="34" charset="0"/>
                <a:ea typeface="Calibri" pitchFamily="34" charset="-122"/>
                <a:cs typeface="Calibri" pitchFamily="34" charset="-120"/>
              </a:rPr>
              <a:t>Twelve tests that prove every part of the pack — with the tenant setup each one needs</a:t>
            </a:r>
            <a:endParaRPr lang="en-US" sz="1500" dirty="0"/>
          </a:p>
        </p:txBody>
      </p:sp>
      <p:sp>
        <p:nvSpPr>
          <p:cNvPr id="6" name="Text 4"/>
          <p:cNvSpPr/>
          <p:nvPr/>
        </p:nvSpPr>
        <p:spPr>
          <a:xfrm>
            <a:off x="548640" y="4069080"/>
            <a:ext cx="8778240" cy="365760"/>
          </a:xfrm>
          <a:prstGeom prst="rect">
            <a:avLst/>
          </a:prstGeom>
          <a:noFill/>
          <a:ln/>
        </p:spPr>
        <p:txBody>
          <a:bodyPr wrap="square" lIns="0" tIns="0" rIns="0" bIns="0" rtlCol="0" anchor="t"/>
          <a:lstStyle/>
          <a:p>
            <a:pPr indent="0" marL="0">
              <a:buNone/>
            </a:pPr>
            <a:r>
              <a:rPr lang="en-US" sz="1200" i="1" dirty="0">
                <a:solidFill>
                  <a:srgbClr val="6E747E"/>
                </a:solidFill>
                <a:latin typeface="Calibri" pitchFamily="34" charset="0"/>
                <a:ea typeface="Calibri" pitchFamily="34" charset="-122"/>
                <a:cs typeface="Calibri" pitchFamily="34" charset="-120"/>
              </a:rPr>
              <a:t>For anyone comfortable in the Cortex XSIAM console. No content development required.</a:t>
            </a:r>
            <a:endParaRPr lang="en-US" sz="1200" dirty="0"/>
          </a:p>
        </p:txBody>
      </p:sp>
      <p:sp>
        <p:nvSpPr>
          <p:cNvPr id="7" name="Text 5"/>
          <p:cNvSpPr/>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rgbClr val="6E747E"/>
                </a:solidFill>
                <a:latin typeface="Calibri" pitchFamily="34" charset="0"/>
                <a:ea typeface="Calibri" pitchFamily="34" charset="-122"/>
                <a:cs typeface="Calibri" pitchFamily="34" charset="-120"/>
              </a:rPr>
              <a:t>Pack 1.5.0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CONTENTS</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What ships in the pack</a:t>
            </a:r>
            <a:endParaRPr lang="en-US" sz="3100" dirty="0"/>
          </a:p>
        </p:txBody>
      </p:sp>
      <p:sp>
        <p:nvSpPr>
          <p:cNvPr id="4" name="Shape 2"/>
          <p:cNvSpPr/>
          <p:nvPr/>
        </p:nvSpPr>
        <p:spPr>
          <a:xfrm>
            <a:off x="548640" y="1371600"/>
            <a:ext cx="11064240" cy="585216"/>
          </a:xfrm>
          <a:prstGeom prst="roundRect">
            <a:avLst>
              <a:gd name="adj" fmla="val 7813"/>
            </a:avLst>
          </a:prstGeom>
          <a:solidFill>
            <a:srgbClr val="15171B"/>
          </a:solidFill>
          <a:ln w="12700">
            <a:solidFill>
              <a:srgbClr val="15171B"/>
            </a:solidFill>
            <a:prstDash val="solid"/>
          </a:ln>
        </p:spPr>
      </p:sp>
      <p:sp>
        <p:nvSpPr>
          <p:cNvPr id="5" name="Shape 3"/>
          <p:cNvSpPr/>
          <p:nvPr/>
        </p:nvSpPr>
        <p:spPr>
          <a:xfrm>
            <a:off x="786384" y="1517904"/>
            <a:ext cx="292608" cy="292608"/>
          </a:xfrm>
          <a:prstGeom prst="roundRect">
            <a:avLst>
              <a:gd name="adj" fmla="val 28125"/>
            </a:avLst>
          </a:prstGeom>
          <a:solidFill>
            <a:srgbClr val="E8551F"/>
          </a:solidFill>
          <a:ln w="12700">
            <a:solidFill>
              <a:srgbClr val="E8551F"/>
            </a:solidFill>
            <a:prstDash val="solid"/>
          </a:ln>
        </p:spPr>
      </p:sp>
      <p:sp>
        <p:nvSpPr>
          <p:cNvPr id="6" name="Text 4"/>
          <p:cNvSpPr/>
          <p:nvPr/>
        </p:nvSpPr>
        <p:spPr>
          <a:xfrm>
            <a:off x="786384" y="15179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243584" y="14630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KOI integration</a:t>
            </a:r>
            <a:endParaRPr lang="en-US" sz="1200" dirty="0"/>
          </a:p>
        </p:txBody>
      </p:sp>
      <p:sp>
        <p:nvSpPr>
          <p:cNvPr id="8" name="Text 6"/>
          <p:cNvSpPr/>
          <p:nvPr/>
        </p:nvSpPr>
        <p:spPr>
          <a:xfrm>
            <a:off x="4754880" y="14813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Event collector plus 26 commands — devices, inventory, catalog risk, governance.</a:t>
            </a:r>
            <a:endParaRPr lang="en-US" sz="1050" dirty="0"/>
          </a:p>
        </p:txBody>
      </p:sp>
      <p:sp>
        <p:nvSpPr>
          <p:cNvPr id="9" name="Shape 7"/>
          <p:cNvSpPr/>
          <p:nvPr/>
        </p:nvSpPr>
        <p:spPr>
          <a:xfrm>
            <a:off x="548640" y="2057400"/>
            <a:ext cx="11064240" cy="585216"/>
          </a:xfrm>
          <a:prstGeom prst="roundRect">
            <a:avLst>
              <a:gd name="adj" fmla="val 7813"/>
            </a:avLst>
          </a:prstGeom>
          <a:solidFill>
            <a:srgbClr val="15171B"/>
          </a:solidFill>
          <a:ln w="12700">
            <a:solidFill>
              <a:srgbClr val="15171B"/>
            </a:solidFill>
            <a:prstDash val="solid"/>
          </a:ln>
        </p:spPr>
      </p:sp>
      <p:sp>
        <p:nvSpPr>
          <p:cNvPr id="10" name="Shape 8"/>
          <p:cNvSpPr/>
          <p:nvPr/>
        </p:nvSpPr>
        <p:spPr>
          <a:xfrm>
            <a:off x="786384" y="2203704"/>
            <a:ext cx="292608" cy="292608"/>
          </a:xfrm>
          <a:prstGeom prst="roundRect">
            <a:avLst>
              <a:gd name="adj" fmla="val 28125"/>
            </a:avLst>
          </a:prstGeom>
          <a:solidFill>
            <a:srgbClr val="E8551F"/>
          </a:solidFill>
          <a:ln w="12700">
            <a:solidFill>
              <a:srgbClr val="E8551F"/>
            </a:solidFill>
            <a:prstDash val="solid"/>
          </a:ln>
        </p:spPr>
      </p:sp>
      <p:sp>
        <p:nvSpPr>
          <p:cNvPr id="11" name="Text 9"/>
          <p:cNvSpPr/>
          <p:nvPr/>
        </p:nvSpPr>
        <p:spPr>
          <a:xfrm>
            <a:off x="786384" y="22037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1243584" y="21488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Parsing &amp; modeling rules</a:t>
            </a:r>
            <a:endParaRPr lang="en-US" sz="1200" dirty="0"/>
          </a:p>
        </p:txBody>
      </p:sp>
      <p:sp>
        <p:nvSpPr>
          <p:cNvPr id="13" name="Text 11"/>
          <p:cNvSpPr/>
          <p:nvPr/>
        </p:nvSpPr>
        <p:spPr>
          <a:xfrm>
            <a:off x="4754880" y="21671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Normalise KOI events and map them to the Cortex Data Model.</a:t>
            </a:r>
            <a:endParaRPr lang="en-US" sz="1050" dirty="0"/>
          </a:p>
        </p:txBody>
      </p:sp>
      <p:sp>
        <p:nvSpPr>
          <p:cNvPr id="14" name="Shape 12"/>
          <p:cNvSpPr/>
          <p:nvPr/>
        </p:nvSpPr>
        <p:spPr>
          <a:xfrm>
            <a:off x="548640" y="2743200"/>
            <a:ext cx="11064240" cy="585216"/>
          </a:xfrm>
          <a:prstGeom prst="roundRect">
            <a:avLst>
              <a:gd name="adj" fmla="val 7813"/>
            </a:avLst>
          </a:prstGeom>
          <a:solidFill>
            <a:srgbClr val="15171B"/>
          </a:solidFill>
          <a:ln w="12700">
            <a:solidFill>
              <a:srgbClr val="15171B"/>
            </a:solidFill>
            <a:prstDash val="solid"/>
          </a:ln>
        </p:spPr>
      </p:sp>
      <p:sp>
        <p:nvSpPr>
          <p:cNvPr id="15" name="Shape 13"/>
          <p:cNvSpPr/>
          <p:nvPr/>
        </p:nvSpPr>
        <p:spPr>
          <a:xfrm>
            <a:off x="786384" y="2889504"/>
            <a:ext cx="292608" cy="292608"/>
          </a:xfrm>
          <a:prstGeom prst="roundRect">
            <a:avLst>
              <a:gd name="adj" fmla="val 28125"/>
            </a:avLst>
          </a:prstGeom>
          <a:solidFill>
            <a:srgbClr val="E8551F"/>
          </a:solidFill>
          <a:ln w="12700">
            <a:solidFill>
              <a:srgbClr val="E8551F"/>
            </a:solidFill>
            <a:prstDash val="solid"/>
          </a:ln>
        </p:spPr>
      </p:sp>
      <p:sp>
        <p:nvSpPr>
          <p:cNvPr id="16" name="Text 14"/>
          <p:cNvSpPr/>
          <p:nvPr/>
        </p:nvSpPr>
        <p:spPr>
          <a:xfrm>
            <a:off x="786384" y="28895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7" name="Text 15"/>
          <p:cNvSpPr/>
          <p:nvPr/>
        </p:nvSpPr>
        <p:spPr>
          <a:xfrm>
            <a:off x="1243584" y="28346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Alerts dashboard</a:t>
            </a:r>
            <a:endParaRPr lang="en-US" sz="1200" dirty="0"/>
          </a:p>
        </p:txBody>
      </p:sp>
      <p:sp>
        <p:nvSpPr>
          <p:cNvPr id="18" name="Text 16"/>
          <p:cNvSpPr/>
          <p:nvPr/>
        </p:nvSpPr>
        <p:spPr>
          <a:xfrm>
            <a:off x="4754880" y="28529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Ready-made view of KOI alert activity.</a:t>
            </a:r>
            <a:endParaRPr lang="en-US" sz="1050" dirty="0"/>
          </a:p>
        </p:txBody>
      </p:sp>
      <p:sp>
        <p:nvSpPr>
          <p:cNvPr id="19" name="Shape 17"/>
          <p:cNvSpPr/>
          <p:nvPr/>
        </p:nvSpPr>
        <p:spPr>
          <a:xfrm>
            <a:off x="548640" y="3429000"/>
            <a:ext cx="11064240" cy="585216"/>
          </a:xfrm>
          <a:prstGeom prst="roundRect">
            <a:avLst>
              <a:gd name="adj" fmla="val 7813"/>
            </a:avLst>
          </a:prstGeom>
          <a:solidFill>
            <a:srgbClr val="15171B"/>
          </a:solidFill>
          <a:ln w="12700">
            <a:solidFill>
              <a:srgbClr val="15171B"/>
            </a:solidFill>
            <a:prstDash val="solid"/>
          </a:ln>
        </p:spPr>
      </p:sp>
      <p:sp>
        <p:nvSpPr>
          <p:cNvPr id="20" name="Shape 18"/>
          <p:cNvSpPr/>
          <p:nvPr/>
        </p:nvSpPr>
        <p:spPr>
          <a:xfrm>
            <a:off x="786384" y="3575304"/>
            <a:ext cx="292608" cy="292608"/>
          </a:xfrm>
          <a:prstGeom prst="roundRect">
            <a:avLst>
              <a:gd name="adj" fmla="val 28125"/>
            </a:avLst>
          </a:prstGeom>
          <a:solidFill>
            <a:srgbClr val="22D3EE"/>
          </a:solidFill>
          <a:ln w="12700">
            <a:solidFill>
              <a:srgbClr val="22D3EE"/>
            </a:solidFill>
            <a:prstDash val="solid"/>
          </a:ln>
        </p:spPr>
      </p:sp>
      <p:sp>
        <p:nvSpPr>
          <p:cNvPr id="21" name="Text 19"/>
          <p:cNvSpPr/>
          <p:nvPr/>
        </p:nvSpPr>
        <p:spPr>
          <a:xfrm>
            <a:off x="786384" y="35753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2" name="Text 20"/>
          <p:cNvSpPr/>
          <p:nvPr/>
        </p:nvSpPr>
        <p:spPr>
          <a:xfrm>
            <a:off x="1243584" y="35204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Triage &amp; investigation playbooks</a:t>
            </a:r>
            <a:endParaRPr lang="en-US" sz="1200" dirty="0"/>
          </a:p>
        </p:txBody>
      </p:sp>
      <p:sp>
        <p:nvSpPr>
          <p:cNvPr id="23" name="Text 21"/>
          <p:cNvSpPr/>
          <p:nvPr/>
        </p:nvSpPr>
        <p:spPr>
          <a:xfrm>
            <a:off x="4754880" y="35387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7 playbooks: triage, item and device investigation, gated response, MCP hunt.</a:t>
            </a:r>
            <a:endParaRPr lang="en-US" sz="1050" dirty="0"/>
          </a:p>
        </p:txBody>
      </p:sp>
      <p:sp>
        <p:nvSpPr>
          <p:cNvPr id="24" name="Shape 22"/>
          <p:cNvSpPr/>
          <p:nvPr/>
        </p:nvSpPr>
        <p:spPr>
          <a:xfrm>
            <a:off x="548640" y="4114800"/>
            <a:ext cx="11064240" cy="585216"/>
          </a:xfrm>
          <a:prstGeom prst="roundRect">
            <a:avLst>
              <a:gd name="adj" fmla="val 7813"/>
            </a:avLst>
          </a:prstGeom>
          <a:solidFill>
            <a:srgbClr val="15171B"/>
          </a:solidFill>
          <a:ln w="12700">
            <a:solidFill>
              <a:srgbClr val="15171B"/>
            </a:solidFill>
            <a:prstDash val="solid"/>
          </a:ln>
        </p:spPr>
      </p:sp>
      <p:sp>
        <p:nvSpPr>
          <p:cNvPr id="25" name="Shape 23"/>
          <p:cNvSpPr/>
          <p:nvPr/>
        </p:nvSpPr>
        <p:spPr>
          <a:xfrm>
            <a:off x="786384" y="4261104"/>
            <a:ext cx="292608" cy="292608"/>
          </a:xfrm>
          <a:prstGeom prst="roundRect">
            <a:avLst>
              <a:gd name="adj" fmla="val 28125"/>
            </a:avLst>
          </a:prstGeom>
          <a:solidFill>
            <a:srgbClr val="22D3EE"/>
          </a:solidFill>
          <a:ln w="12700">
            <a:solidFill>
              <a:srgbClr val="22D3EE"/>
            </a:solidFill>
            <a:prstDash val="solid"/>
          </a:ln>
        </p:spPr>
      </p:sp>
      <p:sp>
        <p:nvSpPr>
          <p:cNvPr id="26" name="Text 24"/>
          <p:cNvSpPr/>
          <p:nvPr/>
        </p:nvSpPr>
        <p:spPr>
          <a:xfrm>
            <a:off x="786384" y="4261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27" name="Text 25"/>
          <p:cNvSpPr/>
          <p:nvPr/>
        </p:nvSpPr>
        <p:spPr>
          <a:xfrm>
            <a:off x="1243584" y="42062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Script Runner playbooks</a:t>
            </a:r>
            <a:endParaRPr lang="en-US" sz="1200" dirty="0"/>
          </a:p>
        </p:txBody>
      </p:sp>
      <p:sp>
        <p:nvSpPr>
          <p:cNvPr id="28" name="Text 26"/>
          <p:cNvSpPr/>
          <p:nvPr/>
        </p:nvSpPr>
        <p:spPr>
          <a:xfrm>
            <a:off x="4754880" y="42245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5 playbooks plus the KoiScanTracker automation — run KOI scripts fleet-wide.</a:t>
            </a:r>
            <a:endParaRPr lang="en-US" sz="1050" dirty="0"/>
          </a:p>
        </p:txBody>
      </p:sp>
      <p:sp>
        <p:nvSpPr>
          <p:cNvPr id="29" name="Shape 27"/>
          <p:cNvSpPr/>
          <p:nvPr/>
        </p:nvSpPr>
        <p:spPr>
          <a:xfrm>
            <a:off x="548640" y="4800600"/>
            <a:ext cx="11064240" cy="585216"/>
          </a:xfrm>
          <a:prstGeom prst="roundRect">
            <a:avLst>
              <a:gd name="adj" fmla="val 7813"/>
            </a:avLst>
          </a:prstGeom>
          <a:solidFill>
            <a:srgbClr val="15171B"/>
          </a:solidFill>
          <a:ln w="12700">
            <a:solidFill>
              <a:srgbClr val="15171B"/>
            </a:solidFill>
            <a:prstDash val="solid"/>
          </a:ln>
        </p:spPr>
      </p:sp>
      <p:sp>
        <p:nvSpPr>
          <p:cNvPr id="30" name="Shape 28"/>
          <p:cNvSpPr/>
          <p:nvPr/>
        </p:nvSpPr>
        <p:spPr>
          <a:xfrm>
            <a:off x="786384" y="4946904"/>
            <a:ext cx="292608" cy="292608"/>
          </a:xfrm>
          <a:prstGeom prst="roundRect">
            <a:avLst>
              <a:gd name="adj" fmla="val 28125"/>
            </a:avLst>
          </a:prstGeom>
          <a:solidFill>
            <a:srgbClr val="3FB950"/>
          </a:solidFill>
          <a:ln w="12700">
            <a:solidFill>
              <a:srgbClr val="3FB950"/>
            </a:solidFill>
            <a:prstDash val="solid"/>
          </a:ln>
        </p:spPr>
      </p:sp>
      <p:sp>
        <p:nvSpPr>
          <p:cNvPr id="31" name="Text 29"/>
          <p:cNvSpPr/>
          <p:nvPr/>
        </p:nvSpPr>
        <p:spPr>
          <a:xfrm>
            <a:off x="786384" y="49469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32" name="Text 30"/>
          <p:cNvSpPr/>
          <p:nvPr/>
        </p:nvSpPr>
        <p:spPr>
          <a:xfrm>
            <a:off x="1243584" y="48920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XQL query library</a:t>
            </a:r>
            <a:endParaRPr lang="en-US" sz="1200" dirty="0"/>
          </a:p>
        </p:txBody>
      </p:sp>
      <p:sp>
        <p:nvSpPr>
          <p:cNvPr id="33" name="Text 31"/>
          <p:cNvSpPr/>
          <p:nvPr/>
        </p:nvSpPr>
        <p:spPr>
          <a:xfrm>
            <a:off x="4754880" y="49103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72 saved queries: 26 threat hunts and 46 detections.</a:t>
            </a:r>
            <a:endParaRPr lang="en-US" sz="1050" dirty="0"/>
          </a:p>
        </p:txBody>
      </p:sp>
      <p:sp>
        <p:nvSpPr>
          <p:cNvPr id="34" name="Shape 32"/>
          <p:cNvSpPr/>
          <p:nvPr/>
        </p:nvSpPr>
        <p:spPr>
          <a:xfrm>
            <a:off x="548640" y="5486400"/>
            <a:ext cx="11064240" cy="585216"/>
          </a:xfrm>
          <a:prstGeom prst="roundRect">
            <a:avLst>
              <a:gd name="adj" fmla="val 7813"/>
            </a:avLst>
          </a:prstGeom>
          <a:solidFill>
            <a:srgbClr val="15171B"/>
          </a:solidFill>
          <a:ln w="12700">
            <a:solidFill>
              <a:srgbClr val="15171B"/>
            </a:solidFill>
            <a:prstDash val="solid"/>
          </a:ln>
        </p:spPr>
      </p:sp>
      <p:sp>
        <p:nvSpPr>
          <p:cNvPr id="35" name="Shape 33"/>
          <p:cNvSpPr/>
          <p:nvPr/>
        </p:nvSpPr>
        <p:spPr>
          <a:xfrm>
            <a:off x="786384" y="5632704"/>
            <a:ext cx="292608" cy="292608"/>
          </a:xfrm>
          <a:prstGeom prst="roundRect">
            <a:avLst>
              <a:gd name="adj" fmla="val 28125"/>
            </a:avLst>
          </a:prstGeom>
          <a:solidFill>
            <a:srgbClr val="3FB950"/>
          </a:solidFill>
          <a:ln w="12700">
            <a:solidFill>
              <a:srgbClr val="3FB950"/>
            </a:solidFill>
            <a:prstDash val="solid"/>
          </a:ln>
        </p:spPr>
      </p:sp>
      <p:sp>
        <p:nvSpPr>
          <p:cNvPr id="36" name="Text 34"/>
          <p:cNvSpPr/>
          <p:nvPr/>
        </p:nvSpPr>
        <p:spPr>
          <a:xfrm>
            <a:off x="786384" y="56327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37" name="Text 35"/>
          <p:cNvSpPr/>
          <p:nvPr/>
        </p:nvSpPr>
        <p:spPr>
          <a:xfrm>
            <a:off x="1243584" y="5577840"/>
            <a:ext cx="3383280"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Test tooling</a:t>
            </a:r>
            <a:endParaRPr lang="en-US" sz="1200" dirty="0"/>
          </a:p>
        </p:txBody>
      </p:sp>
      <p:sp>
        <p:nvSpPr>
          <p:cNvPr id="38" name="Text 36"/>
          <p:cNvSpPr/>
          <p:nvPr/>
        </p:nvSpPr>
        <p:spPr>
          <a:xfrm>
            <a:off x="4754880" y="5596128"/>
            <a:ext cx="6583680" cy="36576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An event simulator, so you can test without waiting for real KOI activity.</a:t>
            </a:r>
            <a:endParaRPr lang="en-US" sz="1050" dirty="0"/>
          </a:p>
        </p:txBody>
      </p:sp>
      <p:sp>
        <p:nvSpPr>
          <p:cNvPr id="39" name="Text 37"/>
          <p:cNvSpPr/>
          <p:nvPr/>
        </p:nvSpPr>
        <p:spPr>
          <a:xfrm>
            <a:off x="548640" y="6172200"/>
            <a:ext cx="11064240" cy="274320"/>
          </a:xfrm>
          <a:prstGeom prst="rect">
            <a:avLst/>
          </a:prstGeom>
          <a:noFill/>
          <a:ln/>
        </p:spPr>
        <p:txBody>
          <a:bodyPr wrap="square" lIns="0" tIns="0" rIns="0" bIns="0" rtlCol="0" anchor="t"/>
          <a:lstStyle/>
          <a:p>
            <a:pPr indent="0" marL="0">
              <a:buNone/>
            </a:pPr>
            <a:r>
              <a:rPr lang="en-US" sz="1050" i="1" dirty="0">
                <a:solidFill>
                  <a:srgbClr val="6E747E"/>
                </a:solidFill>
                <a:latin typeface="Calibri" pitchFamily="34" charset="0"/>
                <a:ea typeface="Calibri" pitchFamily="34" charset="-122"/>
                <a:cs typeface="Calibri" pitchFamily="34" charset="-120"/>
              </a:rPr>
              <a:t>Every one of these is covered by a test in this guide.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HOW TO USE THIS GUIDE</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Every test is laid out the same way</a:t>
            </a:r>
            <a:endParaRPr lang="en-US" sz="3100" dirty="0"/>
          </a:p>
        </p:txBody>
      </p:sp>
      <p:sp>
        <p:nvSpPr>
          <p:cNvPr id="4" name="Shape 2"/>
          <p:cNvSpPr/>
          <p:nvPr/>
        </p:nvSpPr>
        <p:spPr>
          <a:xfrm>
            <a:off x="548640" y="1463040"/>
            <a:ext cx="3505200" cy="2286000"/>
          </a:xfrm>
          <a:prstGeom prst="roundRect">
            <a:avLst>
              <a:gd name="adj" fmla="val 2000"/>
            </a:avLst>
          </a:prstGeom>
          <a:solidFill>
            <a:srgbClr val="1C2026"/>
          </a:solidFill>
          <a:ln w="12700">
            <a:solidFill>
              <a:srgbClr val="1C2026"/>
            </a:solidFill>
            <a:prstDash val="solid"/>
          </a:ln>
        </p:spPr>
      </p:sp>
      <p:sp>
        <p:nvSpPr>
          <p:cNvPr id="5" name="Text 3"/>
          <p:cNvSpPr/>
          <p:nvPr/>
        </p:nvSpPr>
        <p:spPr>
          <a:xfrm>
            <a:off x="822960" y="1691640"/>
            <a:ext cx="2956560" cy="274320"/>
          </a:xfrm>
          <a:prstGeom prst="rect">
            <a:avLst/>
          </a:prstGeom>
          <a:noFill/>
          <a:ln/>
        </p:spPr>
        <p:txBody>
          <a:bodyPr wrap="square" lIns="0" tIns="0" rIns="0" bIns="0" rtlCol="0" anchor="t"/>
          <a:lstStyle/>
          <a:p>
            <a:pPr indent="0" marL="0">
              <a:buNone/>
            </a:pPr>
            <a:r>
              <a:rPr lang="en-US" sz="1100" b="1" spc="150" kern="0" dirty="0">
                <a:solidFill>
                  <a:srgbClr val="F5A524"/>
                </a:solidFill>
                <a:latin typeface="Calibri" pitchFamily="34" charset="0"/>
                <a:ea typeface="Calibri" pitchFamily="34" charset="-122"/>
                <a:cs typeface="Calibri" pitchFamily="34" charset="-120"/>
              </a:rPr>
              <a:t>WHAT YOU NEED FIRST</a:t>
            </a:r>
            <a:endParaRPr lang="en-US" sz="1100" dirty="0"/>
          </a:p>
        </p:txBody>
      </p:sp>
      <p:sp>
        <p:nvSpPr>
          <p:cNvPr id="6" name="Text 4"/>
          <p:cNvSpPr/>
          <p:nvPr/>
        </p:nvSpPr>
        <p:spPr>
          <a:xfrm>
            <a:off x="822960" y="2057400"/>
            <a:ext cx="2956560" cy="1554480"/>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The tenant setup this test depends on — an integration instance, a List, a script in Action Center. If something here is missing the test cannot pass, and it will look like a product fault.</a:t>
            </a:r>
            <a:endParaRPr lang="en-US" sz="1100" dirty="0"/>
          </a:p>
        </p:txBody>
      </p:sp>
      <p:sp>
        <p:nvSpPr>
          <p:cNvPr id="7" name="Shape 5"/>
          <p:cNvSpPr/>
          <p:nvPr/>
        </p:nvSpPr>
        <p:spPr>
          <a:xfrm>
            <a:off x="4328160" y="1463040"/>
            <a:ext cx="3505200" cy="2286000"/>
          </a:xfrm>
          <a:prstGeom prst="roundRect">
            <a:avLst>
              <a:gd name="adj" fmla="val 2000"/>
            </a:avLst>
          </a:prstGeom>
          <a:solidFill>
            <a:srgbClr val="15171B"/>
          </a:solidFill>
          <a:ln w="12700">
            <a:solidFill>
              <a:srgbClr val="15171B"/>
            </a:solidFill>
            <a:prstDash val="solid"/>
          </a:ln>
        </p:spPr>
      </p:sp>
      <p:sp>
        <p:nvSpPr>
          <p:cNvPr id="8" name="Text 6"/>
          <p:cNvSpPr/>
          <p:nvPr/>
        </p:nvSpPr>
        <p:spPr>
          <a:xfrm>
            <a:off x="4602480" y="1691640"/>
            <a:ext cx="2956560" cy="274320"/>
          </a:xfrm>
          <a:prstGeom prst="rect">
            <a:avLst/>
          </a:prstGeom>
          <a:noFill/>
          <a:ln/>
        </p:spPr>
        <p:txBody>
          <a:bodyPr wrap="square" lIns="0" tIns="0" rIns="0" bIns="0" rtlCol="0" anchor="t"/>
          <a:lstStyle/>
          <a:p>
            <a:pPr indent="0" marL="0">
              <a:buNone/>
            </a:pPr>
            <a:r>
              <a:rPr lang="en-US" sz="1100" b="1" spc="150" kern="0" dirty="0">
                <a:solidFill>
                  <a:srgbClr val="E8551F"/>
                </a:solidFill>
                <a:latin typeface="Calibri" pitchFamily="34" charset="0"/>
                <a:ea typeface="Calibri" pitchFamily="34" charset="-122"/>
                <a:cs typeface="Calibri" pitchFamily="34" charset="-120"/>
              </a:rPr>
              <a:t>STEPS</a:t>
            </a:r>
            <a:endParaRPr lang="en-US" sz="1100" dirty="0"/>
          </a:p>
        </p:txBody>
      </p:sp>
      <p:sp>
        <p:nvSpPr>
          <p:cNvPr id="9" name="Text 7"/>
          <p:cNvSpPr/>
          <p:nvPr/>
        </p:nvSpPr>
        <p:spPr>
          <a:xfrm>
            <a:off x="4602480" y="2057400"/>
            <a:ext cx="2956560" cy="1554480"/>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What to click, in order, in the Cortex XSIAM console. Commands to paste are shown in monospace.</a:t>
            </a:r>
            <a:endParaRPr lang="en-US" sz="1100" dirty="0"/>
          </a:p>
        </p:txBody>
      </p:sp>
      <p:sp>
        <p:nvSpPr>
          <p:cNvPr id="10" name="Shape 8"/>
          <p:cNvSpPr/>
          <p:nvPr/>
        </p:nvSpPr>
        <p:spPr>
          <a:xfrm>
            <a:off x="8107680" y="1463040"/>
            <a:ext cx="3505200" cy="2286000"/>
          </a:xfrm>
          <a:prstGeom prst="roundRect">
            <a:avLst>
              <a:gd name="adj" fmla="val 2000"/>
            </a:avLst>
          </a:prstGeom>
          <a:solidFill>
            <a:srgbClr val="1C2026"/>
          </a:solidFill>
          <a:ln w="12700">
            <a:solidFill>
              <a:srgbClr val="1C2026"/>
            </a:solidFill>
            <a:prstDash val="solid"/>
          </a:ln>
        </p:spPr>
      </p:sp>
      <p:sp>
        <p:nvSpPr>
          <p:cNvPr id="11" name="Text 9"/>
          <p:cNvSpPr/>
          <p:nvPr/>
        </p:nvSpPr>
        <p:spPr>
          <a:xfrm>
            <a:off x="8382000" y="1691640"/>
            <a:ext cx="2956560" cy="274320"/>
          </a:xfrm>
          <a:prstGeom prst="rect">
            <a:avLst/>
          </a:prstGeom>
          <a:noFill/>
          <a:ln/>
        </p:spPr>
        <p:txBody>
          <a:bodyPr wrap="square" lIns="0" tIns="0" rIns="0" bIns="0" rtlCol="0" anchor="t"/>
          <a:lstStyle/>
          <a:p>
            <a:pPr indent="0" marL="0">
              <a:buNone/>
            </a:pPr>
            <a:r>
              <a:rPr lang="en-US" sz="1100" b="1" spc="150" kern="0" dirty="0">
                <a:solidFill>
                  <a:srgbClr val="3FB950"/>
                </a:solidFill>
                <a:latin typeface="Calibri" pitchFamily="34" charset="0"/>
                <a:ea typeface="Calibri" pitchFamily="34" charset="-122"/>
                <a:cs typeface="Calibri" pitchFamily="34" charset="-120"/>
              </a:rPr>
              <a:t>WHAT TO EXPECT</a:t>
            </a:r>
            <a:endParaRPr lang="en-US" sz="1100" dirty="0"/>
          </a:p>
        </p:txBody>
      </p:sp>
      <p:sp>
        <p:nvSpPr>
          <p:cNvPr id="12" name="Text 10"/>
          <p:cNvSpPr/>
          <p:nvPr/>
        </p:nvSpPr>
        <p:spPr>
          <a:xfrm>
            <a:off x="8382000" y="2057400"/>
            <a:ext cx="2956560" cy="1554480"/>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What a passing test looks like. Where a result commonly looks wrong but is correct, it says so.</a:t>
            </a:r>
            <a:endParaRPr lang="en-US" sz="1100" dirty="0"/>
          </a:p>
        </p:txBody>
      </p:sp>
      <p:sp>
        <p:nvSpPr>
          <p:cNvPr id="13" name="Shape 11"/>
          <p:cNvSpPr/>
          <p:nvPr/>
        </p:nvSpPr>
        <p:spPr>
          <a:xfrm>
            <a:off x="548640" y="3977640"/>
            <a:ext cx="11064240" cy="1371600"/>
          </a:xfrm>
          <a:prstGeom prst="roundRect">
            <a:avLst>
              <a:gd name="adj" fmla="val 3333"/>
            </a:avLst>
          </a:prstGeom>
          <a:solidFill>
            <a:srgbClr val="1C2026"/>
          </a:solidFill>
          <a:ln w="12700">
            <a:solidFill>
              <a:srgbClr val="1C2026"/>
            </a:solidFill>
            <a:prstDash val="solid"/>
          </a:ln>
        </p:spPr>
      </p:sp>
      <p:sp>
        <p:nvSpPr>
          <p:cNvPr id="14" name="Text 12"/>
          <p:cNvSpPr/>
          <p:nvPr/>
        </p:nvSpPr>
        <p:spPr>
          <a:xfrm>
            <a:off x="859536" y="4160520"/>
            <a:ext cx="45720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Run them in order the first time</a:t>
            </a:r>
            <a:endParaRPr lang="en-US" sz="1300" dirty="0"/>
          </a:p>
        </p:txBody>
      </p:sp>
      <p:sp>
        <p:nvSpPr>
          <p:cNvPr id="15" name="Text 13"/>
          <p:cNvSpPr/>
          <p:nvPr/>
        </p:nvSpPr>
        <p:spPr>
          <a:xfrm>
            <a:off x="859536" y="4498848"/>
            <a:ext cx="10442448" cy="731520"/>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Tests 1 to 4 prove data is arriving and correct. Tests 5 to 8 prove the automation. Tests 9 and 10 prove fleet script execution — the only ones needing the Core REST API integration. Tests 11 and 12 are the query library and the simulator, and run any time. Nothing here needs a Cortex XDR integration: XSIAM is the XDR, and its XQL engine is built in.</a:t>
            </a:r>
            <a:endParaRPr lang="en-US" sz="1100" dirty="0"/>
          </a:p>
        </p:txBody>
      </p:sp>
      <p:sp>
        <p:nvSpPr>
          <p:cNvPr id="16" name="Text 14"/>
          <p:cNvSpPr/>
          <p:nvPr/>
        </p:nvSpPr>
        <p:spPr>
          <a:xfrm>
            <a:off x="548640" y="5623560"/>
            <a:ext cx="11064240" cy="274320"/>
          </a:xfrm>
          <a:prstGeom prst="rect">
            <a:avLst/>
          </a:prstGeom>
          <a:noFill/>
          <a:ln/>
        </p:spPr>
        <p:txBody>
          <a:bodyPr wrap="square" lIns="0" tIns="0" rIns="0" bIns="0" rtlCol="0" anchor="t"/>
          <a:lstStyle/>
          <a:p>
            <a:pPr indent="0" marL="0">
              <a:buNone/>
            </a:pPr>
            <a:r>
              <a:rPr lang="en-US" sz="1100" i="1" dirty="0">
                <a:solidFill>
                  <a:srgbClr val="F5A524"/>
                </a:solidFill>
                <a:latin typeface="Calibri" pitchFamily="34" charset="0"/>
                <a:ea typeface="Calibri" pitchFamily="34" charset="-122"/>
                <a:cs typeface="Calibri" pitchFamily="34" charset="-120"/>
              </a:rPr>
              <a:t>A test that fails on a missing prerequisite is not a product defect — check the amber panel first.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BEFORE YOU BEGIN</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Everything the pack depends on, and where to set it up</a:t>
            </a:r>
            <a:endParaRPr lang="en-US" sz="3100" dirty="0"/>
          </a:p>
        </p:txBody>
      </p:sp>
      <p:sp>
        <p:nvSpPr>
          <p:cNvPr id="4" name="Text 2"/>
          <p:cNvSpPr/>
          <p:nvPr/>
        </p:nvSpPr>
        <p:spPr>
          <a:xfrm>
            <a:off x="822960" y="1325880"/>
            <a:ext cx="274320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What</a:t>
            </a:r>
            <a:endParaRPr lang="en-US" sz="1050" dirty="0"/>
          </a:p>
        </p:txBody>
      </p:sp>
      <p:sp>
        <p:nvSpPr>
          <p:cNvPr id="5" name="Text 3"/>
          <p:cNvSpPr/>
          <p:nvPr/>
        </p:nvSpPr>
        <p:spPr>
          <a:xfrm>
            <a:off x="3657600" y="1325880"/>
            <a:ext cx="374904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Where in XSIAM</a:t>
            </a:r>
            <a:endParaRPr lang="en-US" sz="1050" dirty="0"/>
          </a:p>
        </p:txBody>
      </p:sp>
      <p:sp>
        <p:nvSpPr>
          <p:cNvPr id="6" name="Text 4"/>
          <p:cNvSpPr/>
          <p:nvPr/>
        </p:nvSpPr>
        <p:spPr>
          <a:xfrm>
            <a:off x="7589520" y="1325880"/>
            <a:ext cx="374904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Needed for</a:t>
            </a:r>
            <a:endParaRPr lang="en-US" sz="1050" dirty="0"/>
          </a:p>
        </p:txBody>
      </p:sp>
      <p:sp>
        <p:nvSpPr>
          <p:cNvPr id="7" name="Shape 5"/>
          <p:cNvSpPr/>
          <p:nvPr/>
        </p:nvSpPr>
        <p:spPr>
          <a:xfrm>
            <a:off x="548640" y="1627632"/>
            <a:ext cx="11064240" cy="402336"/>
          </a:xfrm>
          <a:prstGeom prst="roundRect">
            <a:avLst>
              <a:gd name="adj" fmla="val 11364"/>
            </a:avLst>
          </a:prstGeom>
          <a:solidFill>
            <a:srgbClr val="15171B"/>
          </a:solidFill>
          <a:ln w="12700">
            <a:solidFill>
              <a:srgbClr val="15171B"/>
            </a:solidFill>
            <a:prstDash val="solid"/>
          </a:ln>
        </p:spPr>
      </p:sp>
      <p:sp>
        <p:nvSpPr>
          <p:cNvPr id="8" name="Text 6"/>
          <p:cNvSpPr/>
          <p:nvPr/>
        </p:nvSpPr>
        <p:spPr>
          <a:xfrm>
            <a:off x="822960" y="1737360"/>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KOI API key</a:t>
            </a:r>
            <a:endParaRPr lang="en-US" sz="1050" dirty="0"/>
          </a:p>
        </p:txBody>
      </p:sp>
      <p:sp>
        <p:nvSpPr>
          <p:cNvPr id="9" name="Text 7"/>
          <p:cNvSpPr/>
          <p:nvPr/>
        </p:nvSpPr>
        <p:spPr>
          <a:xfrm>
            <a:off x="3657600" y="1737360"/>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KOI console → Settings → API Access</a:t>
            </a:r>
            <a:endParaRPr lang="en-US" sz="1000" dirty="0"/>
          </a:p>
        </p:txBody>
      </p:sp>
      <p:sp>
        <p:nvSpPr>
          <p:cNvPr id="10" name="Text 8"/>
          <p:cNvSpPr/>
          <p:nvPr/>
        </p:nvSpPr>
        <p:spPr>
          <a:xfrm>
            <a:off x="7589520" y="1737360"/>
            <a:ext cx="3749040" cy="237744"/>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Tests 1-8, 11</a:t>
            </a:r>
            <a:endParaRPr lang="en-US" sz="1000" dirty="0"/>
          </a:p>
        </p:txBody>
      </p:sp>
      <p:sp>
        <p:nvSpPr>
          <p:cNvPr id="11" name="Shape 9"/>
          <p:cNvSpPr/>
          <p:nvPr/>
        </p:nvSpPr>
        <p:spPr>
          <a:xfrm>
            <a:off x="548640" y="2093976"/>
            <a:ext cx="11064240" cy="402336"/>
          </a:xfrm>
          <a:prstGeom prst="roundRect">
            <a:avLst>
              <a:gd name="adj" fmla="val 11364"/>
            </a:avLst>
          </a:prstGeom>
          <a:solidFill>
            <a:srgbClr val="15171B"/>
          </a:solidFill>
          <a:ln w="12700">
            <a:solidFill>
              <a:srgbClr val="15171B"/>
            </a:solidFill>
            <a:prstDash val="solid"/>
          </a:ln>
        </p:spPr>
      </p:sp>
      <p:sp>
        <p:nvSpPr>
          <p:cNvPr id="12" name="Text 10"/>
          <p:cNvSpPr/>
          <p:nvPr/>
        </p:nvSpPr>
        <p:spPr>
          <a:xfrm>
            <a:off x="822960" y="2203704"/>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KOI integration instance</a:t>
            </a:r>
            <a:endParaRPr lang="en-US" sz="1050" dirty="0"/>
          </a:p>
        </p:txBody>
      </p:sp>
      <p:sp>
        <p:nvSpPr>
          <p:cNvPr id="13" name="Text 11"/>
          <p:cNvSpPr/>
          <p:nvPr/>
        </p:nvSpPr>
        <p:spPr>
          <a:xfrm>
            <a:off x="3657600" y="2203704"/>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Settings → Data Sources → Add → KOI</a:t>
            </a:r>
            <a:endParaRPr lang="en-US" sz="1000" dirty="0"/>
          </a:p>
        </p:txBody>
      </p:sp>
      <p:sp>
        <p:nvSpPr>
          <p:cNvPr id="14" name="Text 12"/>
          <p:cNvSpPr/>
          <p:nvPr/>
        </p:nvSpPr>
        <p:spPr>
          <a:xfrm>
            <a:off x="7589520" y="2203704"/>
            <a:ext cx="3749040" cy="237744"/>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Tests 1-8, 11</a:t>
            </a:r>
            <a:endParaRPr lang="en-US" sz="1000" dirty="0"/>
          </a:p>
        </p:txBody>
      </p:sp>
      <p:sp>
        <p:nvSpPr>
          <p:cNvPr id="15" name="Shape 13"/>
          <p:cNvSpPr/>
          <p:nvPr/>
        </p:nvSpPr>
        <p:spPr>
          <a:xfrm>
            <a:off x="548640" y="2560320"/>
            <a:ext cx="11064240" cy="402336"/>
          </a:xfrm>
          <a:prstGeom prst="roundRect">
            <a:avLst>
              <a:gd name="adj" fmla="val 11364"/>
            </a:avLst>
          </a:prstGeom>
          <a:solidFill>
            <a:srgbClr val="15171B"/>
          </a:solidFill>
          <a:ln w="12700">
            <a:solidFill>
              <a:srgbClr val="15171B"/>
            </a:solidFill>
            <a:prstDash val="solid"/>
          </a:ln>
        </p:spPr>
      </p:sp>
      <p:sp>
        <p:nvSpPr>
          <p:cNvPr id="16" name="Text 14"/>
          <p:cNvSpPr/>
          <p:nvPr/>
        </p:nvSpPr>
        <p:spPr>
          <a:xfrm>
            <a:off x="822960" y="2670048"/>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An egress IP KOI accepts</a:t>
            </a:r>
            <a:endParaRPr lang="en-US" sz="1050" dirty="0"/>
          </a:p>
        </p:txBody>
      </p:sp>
      <p:sp>
        <p:nvSpPr>
          <p:cNvPr id="17" name="Text 15"/>
          <p:cNvSpPr/>
          <p:nvPr/>
        </p:nvSpPr>
        <p:spPr>
          <a:xfrm>
            <a:off x="3657600" y="2670048"/>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Run the instance on a Cortex engine if needed</a:t>
            </a:r>
            <a:endParaRPr lang="en-US" sz="1000" dirty="0"/>
          </a:p>
        </p:txBody>
      </p:sp>
      <p:sp>
        <p:nvSpPr>
          <p:cNvPr id="18" name="Text 16"/>
          <p:cNvSpPr/>
          <p:nvPr/>
        </p:nvSpPr>
        <p:spPr>
          <a:xfrm>
            <a:off x="7589520" y="2670048"/>
            <a:ext cx="3749040" cy="237744"/>
          </a:xfrm>
          <a:prstGeom prst="rect">
            <a:avLst/>
          </a:prstGeom>
          <a:noFill/>
          <a:ln/>
        </p:spPr>
        <p:txBody>
          <a:bodyPr wrap="square" lIns="0" tIns="0" rIns="0" bIns="0" rtlCol="0" anchor="t"/>
          <a:lstStyle/>
          <a:p>
            <a:pPr indent="0" marL="0">
              <a:buNone/>
            </a:pPr>
            <a:r>
              <a:rPr lang="en-US" sz="1000" b="1" dirty="0">
                <a:solidFill>
                  <a:srgbClr val="F5A524"/>
                </a:solidFill>
                <a:latin typeface="Calibri" pitchFamily="34" charset="0"/>
                <a:ea typeface="Calibri" pitchFamily="34" charset="-122"/>
                <a:cs typeface="Calibri" pitchFamily="34" charset="-120"/>
              </a:rPr>
              <a:t>Tests 1-8, 11</a:t>
            </a:r>
            <a:endParaRPr lang="en-US" sz="1000" dirty="0"/>
          </a:p>
        </p:txBody>
      </p:sp>
      <p:sp>
        <p:nvSpPr>
          <p:cNvPr id="19" name="Shape 17"/>
          <p:cNvSpPr/>
          <p:nvPr/>
        </p:nvSpPr>
        <p:spPr>
          <a:xfrm>
            <a:off x="548640" y="3026664"/>
            <a:ext cx="11064240" cy="402336"/>
          </a:xfrm>
          <a:prstGeom prst="roundRect">
            <a:avLst>
              <a:gd name="adj" fmla="val 11364"/>
            </a:avLst>
          </a:prstGeom>
          <a:solidFill>
            <a:srgbClr val="15171B"/>
          </a:solidFill>
          <a:ln w="12700">
            <a:solidFill>
              <a:srgbClr val="15171B"/>
            </a:solidFill>
            <a:prstDash val="solid"/>
          </a:ln>
        </p:spPr>
      </p:sp>
      <p:sp>
        <p:nvSpPr>
          <p:cNvPr id="20" name="Text 18"/>
          <p:cNvSpPr/>
          <p:nvPr/>
        </p:nvSpPr>
        <p:spPr>
          <a:xfrm>
            <a:off x="822960" y="3136392"/>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Core REST API instance</a:t>
            </a:r>
            <a:endParaRPr lang="en-US" sz="1050" dirty="0"/>
          </a:p>
        </p:txBody>
      </p:sp>
      <p:sp>
        <p:nvSpPr>
          <p:cNvPr id="21" name="Text 19"/>
          <p:cNvSpPr/>
          <p:nvPr/>
        </p:nvSpPr>
        <p:spPr>
          <a:xfrm>
            <a:off x="3657600" y="3136392"/>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Settings → Data Sources → Add → Core REST API</a:t>
            </a:r>
            <a:endParaRPr lang="en-US" sz="1000" dirty="0"/>
          </a:p>
        </p:txBody>
      </p:sp>
      <p:sp>
        <p:nvSpPr>
          <p:cNvPr id="22" name="Text 20"/>
          <p:cNvSpPr/>
          <p:nvPr/>
        </p:nvSpPr>
        <p:spPr>
          <a:xfrm>
            <a:off x="7589520" y="3136392"/>
            <a:ext cx="3749040" cy="237744"/>
          </a:xfrm>
          <a:prstGeom prst="rect">
            <a:avLst/>
          </a:prstGeom>
          <a:noFill/>
          <a:ln/>
        </p:spPr>
        <p:txBody>
          <a:bodyPr wrap="square" lIns="0" tIns="0" rIns="0" bIns="0" rtlCol="0" anchor="t"/>
          <a:lstStyle/>
          <a:p>
            <a:pPr indent="0" marL="0">
              <a:buNone/>
            </a:pPr>
            <a:r>
              <a:rPr lang="en-US" sz="1000" b="1" dirty="0">
                <a:solidFill>
                  <a:srgbClr val="F5A524"/>
                </a:solidFill>
                <a:latin typeface="Calibri" pitchFamily="34" charset="0"/>
                <a:ea typeface="Calibri" pitchFamily="34" charset="-122"/>
                <a:cs typeface="Calibri" pitchFamily="34" charset="-120"/>
              </a:rPr>
              <a:t>Tests 9-10 only</a:t>
            </a:r>
            <a:endParaRPr lang="en-US" sz="1000" dirty="0"/>
          </a:p>
        </p:txBody>
      </p:sp>
      <p:sp>
        <p:nvSpPr>
          <p:cNvPr id="23" name="Shape 21"/>
          <p:cNvSpPr/>
          <p:nvPr/>
        </p:nvSpPr>
        <p:spPr>
          <a:xfrm>
            <a:off x="548640" y="3493008"/>
            <a:ext cx="11064240" cy="402336"/>
          </a:xfrm>
          <a:prstGeom prst="roundRect">
            <a:avLst>
              <a:gd name="adj" fmla="val 11364"/>
            </a:avLst>
          </a:prstGeom>
          <a:solidFill>
            <a:srgbClr val="15171B"/>
          </a:solidFill>
          <a:ln w="12700">
            <a:solidFill>
              <a:srgbClr val="15171B"/>
            </a:solidFill>
            <a:prstDash val="solid"/>
          </a:ln>
        </p:spPr>
      </p:sp>
      <p:sp>
        <p:nvSpPr>
          <p:cNvPr id="24" name="Text 22"/>
          <p:cNvSpPr/>
          <p:nvPr/>
        </p:nvSpPr>
        <p:spPr>
          <a:xfrm>
            <a:off x="822960" y="3602736"/>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KOI script in Action Center</a:t>
            </a:r>
            <a:endParaRPr lang="en-US" sz="1050" dirty="0"/>
          </a:p>
        </p:txBody>
      </p:sp>
      <p:sp>
        <p:nvSpPr>
          <p:cNvPr id="25" name="Text 23"/>
          <p:cNvSpPr/>
          <p:nvPr/>
        </p:nvSpPr>
        <p:spPr>
          <a:xfrm>
            <a:off x="3657600" y="3602736"/>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Action Center → Scripts Library → upload</a:t>
            </a:r>
            <a:endParaRPr lang="en-US" sz="1000" dirty="0"/>
          </a:p>
        </p:txBody>
      </p:sp>
      <p:sp>
        <p:nvSpPr>
          <p:cNvPr id="26" name="Text 24"/>
          <p:cNvSpPr/>
          <p:nvPr/>
        </p:nvSpPr>
        <p:spPr>
          <a:xfrm>
            <a:off x="7589520" y="3602736"/>
            <a:ext cx="3749040" cy="237744"/>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Tests 9-10</a:t>
            </a:r>
            <a:endParaRPr lang="en-US" sz="1000" dirty="0"/>
          </a:p>
        </p:txBody>
      </p:sp>
      <p:sp>
        <p:nvSpPr>
          <p:cNvPr id="27" name="Shape 25"/>
          <p:cNvSpPr/>
          <p:nvPr/>
        </p:nvSpPr>
        <p:spPr>
          <a:xfrm>
            <a:off x="548640" y="3959352"/>
            <a:ext cx="11064240" cy="402336"/>
          </a:xfrm>
          <a:prstGeom prst="roundRect">
            <a:avLst>
              <a:gd name="adj" fmla="val 11364"/>
            </a:avLst>
          </a:prstGeom>
          <a:solidFill>
            <a:srgbClr val="15171B"/>
          </a:solidFill>
          <a:ln w="12700">
            <a:solidFill>
              <a:srgbClr val="15171B"/>
            </a:solidFill>
            <a:prstDash val="solid"/>
          </a:ln>
        </p:spPr>
      </p:sp>
      <p:sp>
        <p:nvSpPr>
          <p:cNvPr id="28" name="Text 26"/>
          <p:cNvSpPr/>
          <p:nvPr/>
        </p:nvSpPr>
        <p:spPr>
          <a:xfrm>
            <a:off x="822960" y="4069080"/>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An endpoint group</a:t>
            </a:r>
            <a:endParaRPr lang="en-US" sz="1050" dirty="0"/>
          </a:p>
        </p:txBody>
      </p:sp>
      <p:sp>
        <p:nvSpPr>
          <p:cNvPr id="29" name="Text 27"/>
          <p:cNvSpPr/>
          <p:nvPr/>
        </p:nvSpPr>
        <p:spPr>
          <a:xfrm>
            <a:off x="3657600" y="4069080"/>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Tag the agents, then Endpoints → Endpoint Groups → dynamic</a:t>
            </a:r>
            <a:endParaRPr lang="en-US" sz="1000" dirty="0"/>
          </a:p>
        </p:txBody>
      </p:sp>
      <p:sp>
        <p:nvSpPr>
          <p:cNvPr id="30" name="Text 28"/>
          <p:cNvSpPr/>
          <p:nvPr/>
        </p:nvSpPr>
        <p:spPr>
          <a:xfrm>
            <a:off x="7589520" y="4069080"/>
            <a:ext cx="3749040" cy="237744"/>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Tests 9-10</a:t>
            </a:r>
            <a:endParaRPr lang="en-US" sz="1000" dirty="0"/>
          </a:p>
        </p:txBody>
      </p:sp>
      <p:sp>
        <p:nvSpPr>
          <p:cNvPr id="31" name="Shape 29"/>
          <p:cNvSpPr/>
          <p:nvPr/>
        </p:nvSpPr>
        <p:spPr>
          <a:xfrm>
            <a:off x="548640" y="4425696"/>
            <a:ext cx="11064240" cy="402336"/>
          </a:xfrm>
          <a:prstGeom prst="roundRect">
            <a:avLst>
              <a:gd name="adj" fmla="val 11364"/>
            </a:avLst>
          </a:prstGeom>
          <a:solidFill>
            <a:srgbClr val="15171B"/>
          </a:solidFill>
          <a:ln w="12700">
            <a:solidFill>
              <a:srgbClr val="15171B"/>
            </a:solidFill>
            <a:prstDash val="solid"/>
          </a:ln>
        </p:spPr>
      </p:sp>
      <p:sp>
        <p:nvSpPr>
          <p:cNvPr id="32" name="Text 30"/>
          <p:cNvSpPr/>
          <p:nvPr/>
        </p:nvSpPr>
        <p:spPr>
          <a:xfrm>
            <a:off x="822960" y="4535424"/>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"Koi Script Runner" JSON List</a:t>
            </a:r>
            <a:endParaRPr lang="en-US" sz="1050" dirty="0"/>
          </a:p>
        </p:txBody>
      </p:sp>
      <p:sp>
        <p:nvSpPr>
          <p:cNvPr id="33" name="Text 31"/>
          <p:cNvSpPr/>
          <p:nvPr/>
        </p:nvSpPr>
        <p:spPr>
          <a:xfrm>
            <a:off x="3657600" y="4535424"/>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Settings → Object Setup → Lists</a:t>
            </a:r>
            <a:endParaRPr lang="en-US" sz="1000" dirty="0"/>
          </a:p>
        </p:txBody>
      </p:sp>
      <p:sp>
        <p:nvSpPr>
          <p:cNvPr id="34" name="Text 32"/>
          <p:cNvSpPr/>
          <p:nvPr/>
        </p:nvSpPr>
        <p:spPr>
          <a:xfrm>
            <a:off x="7589520" y="4535424"/>
            <a:ext cx="3749040" cy="237744"/>
          </a:xfrm>
          <a:prstGeom prst="rect">
            <a:avLst/>
          </a:prstGeom>
          <a:noFill/>
          <a:ln/>
        </p:spPr>
        <p:txBody>
          <a:bodyPr wrap="square" lIns="0" tIns="0" rIns="0" bIns="0" rtlCol="0" anchor="t"/>
          <a:lstStyle/>
          <a:p>
            <a:pPr indent="0" marL="0">
              <a:buNone/>
            </a:pPr>
            <a:r>
              <a:rPr lang="en-US" sz="1000" b="1" dirty="0">
                <a:solidFill>
                  <a:srgbClr val="22D3EE"/>
                </a:solidFill>
                <a:latin typeface="Calibri" pitchFamily="34" charset="0"/>
                <a:ea typeface="Calibri" pitchFamily="34" charset="-122"/>
                <a:cs typeface="Calibri" pitchFamily="34" charset="-120"/>
              </a:rPr>
              <a:t>Tests 9-10</a:t>
            </a:r>
            <a:endParaRPr lang="en-US" sz="1000" dirty="0"/>
          </a:p>
        </p:txBody>
      </p:sp>
      <p:sp>
        <p:nvSpPr>
          <p:cNvPr id="35" name="Shape 33"/>
          <p:cNvSpPr/>
          <p:nvPr/>
        </p:nvSpPr>
        <p:spPr>
          <a:xfrm>
            <a:off x="548640" y="4892040"/>
            <a:ext cx="11064240" cy="402336"/>
          </a:xfrm>
          <a:prstGeom prst="roundRect">
            <a:avLst>
              <a:gd name="adj" fmla="val 11364"/>
            </a:avLst>
          </a:prstGeom>
          <a:solidFill>
            <a:srgbClr val="15171B"/>
          </a:solidFill>
          <a:ln w="12700">
            <a:solidFill>
              <a:srgbClr val="15171B"/>
            </a:solidFill>
            <a:prstDash val="solid"/>
          </a:ln>
        </p:spPr>
      </p:sp>
      <p:sp>
        <p:nvSpPr>
          <p:cNvPr id="36" name="Text 34"/>
          <p:cNvSpPr/>
          <p:nvPr/>
        </p:nvSpPr>
        <p:spPr>
          <a:xfrm>
            <a:off x="822960" y="5001768"/>
            <a:ext cx="2743200" cy="237744"/>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Mail sender instance (optional)</a:t>
            </a:r>
            <a:endParaRPr lang="en-US" sz="1050" dirty="0"/>
          </a:p>
        </p:txBody>
      </p:sp>
      <p:sp>
        <p:nvSpPr>
          <p:cNvPr id="37" name="Text 35"/>
          <p:cNvSpPr/>
          <p:nvPr/>
        </p:nvSpPr>
        <p:spPr>
          <a:xfrm>
            <a:off x="3657600" y="5001768"/>
            <a:ext cx="384048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Settings → Data Sources</a:t>
            </a:r>
            <a:endParaRPr lang="en-US" sz="1000" dirty="0"/>
          </a:p>
        </p:txBody>
      </p:sp>
      <p:sp>
        <p:nvSpPr>
          <p:cNvPr id="38" name="Text 36"/>
          <p:cNvSpPr/>
          <p:nvPr/>
        </p:nvSpPr>
        <p:spPr>
          <a:xfrm>
            <a:off x="7589520" y="5001768"/>
            <a:ext cx="3749040" cy="237744"/>
          </a:xfrm>
          <a:prstGeom prst="rect">
            <a:avLst/>
          </a:prstGeom>
          <a:noFill/>
          <a:ln/>
        </p:spPr>
        <p:txBody>
          <a:bodyPr wrap="square" lIns="0" tIns="0" rIns="0" bIns="0" rtlCol="0" anchor="t"/>
          <a:lstStyle/>
          <a:p>
            <a:pPr indent="0" marL="0">
              <a:buNone/>
            </a:pPr>
            <a:r>
              <a:rPr lang="en-US" sz="1000" b="1" dirty="0">
                <a:solidFill>
                  <a:srgbClr val="6E747E"/>
                </a:solidFill>
                <a:latin typeface="Calibri" pitchFamily="34" charset="0"/>
                <a:ea typeface="Calibri" pitchFamily="34" charset="-122"/>
                <a:cs typeface="Calibri" pitchFamily="34" charset="-120"/>
              </a:rPr>
              <a:t>Tests 9-10 notifications</a:t>
            </a:r>
            <a:endParaRPr lang="en-US" sz="1000" dirty="0"/>
          </a:p>
        </p:txBody>
      </p:sp>
      <p:sp>
        <p:nvSpPr>
          <p:cNvPr id="39" name="Shape 37"/>
          <p:cNvSpPr/>
          <p:nvPr/>
        </p:nvSpPr>
        <p:spPr>
          <a:xfrm>
            <a:off x="548640" y="5532120"/>
            <a:ext cx="11064240" cy="777240"/>
          </a:xfrm>
          <a:prstGeom prst="roundRect">
            <a:avLst>
              <a:gd name="adj" fmla="val 5882"/>
            </a:avLst>
          </a:prstGeom>
          <a:solidFill>
            <a:srgbClr val="1C2026"/>
          </a:solidFill>
          <a:ln w="12700">
            <a:solidFill>
              <a:srgbClr val="1C2026"/>
            </a:solidFill>
            <a:prstDash val="solid"/>
          </a:ln>
        </p:spPr>
      </p:sp>
      <p:sp>
        <p:nvSpPr>
          <p:cNvPr id="40" name="Shape 38"/>
          <p:cNvSpPr/>
          <p:nvPr/>
        </p:nvSpPr>
        <p:spPr>
          <a:xfrm>
            <a:off x="786384" y="5760720"/>
            <a:ext cx="292608" cy="292608"/>
          </a:xfrm>
          <a:prstGeom prst="roundRect">
            <a:avLst>
              <a:gd name="adj" fmla="val 28125"/>
            </a:avLst>
          </a:prstGeom>
          <a:solidFill>
            <a:srgbClr val="F5A524"/>
          </a:solidFill>
          <a:ln w="12700">
            <a:solidFill>
              <a:srgbClr val="F5A524"/>
            </a:solidFill>
            <a:prstDash val="solid"/>
          </a:ln>
        </p:spPr>
      </p:sp>
      <p:sp>
        <p:nvSpPr>
          <p:cNvPr id="41" name="Text 39"/>
          <p:cNvSpPr/>
          <p:nvPr/>
        </p:nvSpPr>
        <p:spPr>
          <a:xfrm>
            <a:off x="786384" y="57607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2" name="Text 40"/>
          <p:cNvSpPr/>
          <p:nvPr/>
        </p:nvSpPr>
        <p:spPr>
          <a:xfrm>
            <a:off x="1243584" y="5650992"/>
            <a:ext cx="10058400" cy="54864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The Core REST API instance is the one people miss. The Script Runner uses it to read endpoint groups larger than 100 — without it the tracker stays empty and every scan run does nothing, which looks exactly like a broken playbook.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INSTALLATION</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Two ways in — only one collects events</a:t>
            </a:r>
            <a:endParaRPr lang="en-US" sz="3100" dirty="0"/>
          </a:p>
        </p:txBody>
      </p:sp>
      <p:sp>
        <p:nvSpPr>
          <p:cNvPr id="4" name="Text 2"/>
          <p:cNvSpPr/>
          <p:nvPr/>
        </p:nvSpPr>
        <p:spPr>
          <a:xfrm>
            <a:off x="822960" y="1371600"/>
            <a:ext cx="274320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Method</a:t>
            </a:r>
            <a:endParaRPr lang="en-US" sz="1050" dirty="0"/>
          </a:p>
        </p:txBody>
      </p:sp>
      <p:sp>
        <p:nvSpPr>
          <p:cNvPr id="5" name="Text 3"/>
          <p:cNvSpPr/>
          <p:nvPr/>
        </p:nvSpPr>
        <p:spPr>
          <a:xfrm>
            <a:off x="3749040" y="1371600"/>
            <a:ext cx="475488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What lands</a:t>
            </a:r>
            <a:endParaRPr lang="en-US" sz="1050" dirty="0"/>
          </a:p>
        </p:txBody>
      </p:sp>
      <p:sp>
        <p:nvSpPr>
          <p:cNvPr id="6" name="Text 4"/>
          <p:cNvSpPr/>
          <p:nvPr/>
        </p:nvSpPr>
        <p:spPr>
          <a:xfrm>
            <a:off x="8686800" y="1371600"/>
            <a:ext cx="1280160" cy="237744"/>
          </a:xfrm>
          <a:prstGeom prst="rect">
            <a:avLst/>
          </a:prstGeom>
          <a:noFill/>
          <a:ln/>
        </p:spPr>
        <p:txBody>
          <a:bodyPr wrap="square" lIns="0" tIns="0" rIns="0" bIns="0" rtlCol="0" anchor="t"/>
          <a:lstStyle/>
          <a:p>
            <a:pPr indent="0" marL="0">
              <a:buNone/>
            </a:pPr>
            <a:r>
              <a:rPr lang="en-US" sz="1050" b="1" spc="100" kern="0" dirty="0">
                <a:solidFill>
                  <a:srgbClr val="E8551F"/>
                </a:solidFill>
                <a:latin typeface="Calibri" pitchFamily="34" charset="0"/>
                <a:ea typeface="Calibri" pitchFamily="34" charset="-122"/>
                <a:cs typeface="Calibri" pitchFamily="34" charset="-120"/>
              </a:rPr>
              <a:t>Events?</a:t>
            </a:r>
            <a:endParaRPr lang="en-US" sz="1050" dirty="0"/>
          </a:p>
        </p:txBody>
      </p:sp>
      <p:sp>
        <p:nvSpPr>
          <p:cNvPr id="7" name="Shape 5"/>
          <p:cNvSpPr/>
          <p:nvPr/>
        </p:nvSpPr>
        <p:spPr>
          <a:xfrm>
            <a:off x="548640" y="1691640"/>
            <a:ext cx="11064240" cy="603504"/>
          </a:xfrm>
          <a:prstGeom prst="roundRect">
            <a:avLst>
              <a:gd name="adj" fmla="val 7576"/>
            </a:avLst>
          </a:prstGeom>
          <a:solidFill>
            <a:srgbClr val="15171B"/>
          </a:solidFill>
          <a:ln w="12700">
            <a:solidFill>
              <a:srgbClr val="15171B"/>
            </a:solidFill>
            <a:prstDash val="solid"/>
          </a:ln>
        </p:spPr>
      </p:sp>
      <p:sp>
        <p:nvSpPr>
          <p:cNvPr id="8" name="Text 6"/>
          <p:cNvSpPr/>
          <p:nvPr/>
        </p:nvSpPr>
        <p:spPr>
          <a:xfrm>
            <a:off x="822960" y="1874520"/>
            <a:ext cx="283464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demisto-sdk upload</a:t>
            </a:r>
            <a:endParaRPr lang="en-US" sz="1200" dirty="0"/>
          </a:p>
        </p:txBody>
      </p:sp>
      <p:sp>
        <p:nvSpPr>
          <p:cNvPr id="9" name="Text 7"/>
          <p:cNvSpPr/>
          <p:nvPr/>
        </p:nvSpPr>
        <p:spPr>
          <a:xfrm>
            <a:off x="3749040" y="1883664"/>
            <a:ext cx="4846320" cy="274320"/>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Everything — integration, playbooks, rules, dashboard</a:t>
            </a:r>
            <a:endParaRPr lang="en-US" sz="1050" dirty="0"/>
          </a:p>
        </p:txBody>
      </p:sp>
      <p:sp>
        <p:nvSpPr>
          <p:cNvPr id="10" name="Text 8"/>
          <p:cNvSpPr/>
          <p:nvPr/>
        </p:nvSpPr>
        <p:spPr>
          <a:xfrm>
            <a:off x="8686800" y="1874520"/>
            <a:ext cx="1280160" cy="274320"/>
          </a:xfrm>
          <a:prstGeom prst="rect">
            <a:avLst/>
          </a:prstGeom>
          <a:noFill/>
          <a:ln/>
        </p:spPr>
        <p:txBody>
          <a:bodyPr wrap="square" lIns="0" tIns="0" rIns="0" bIns="0" rtlCol="0" anchor="t"/>
          <a:lstStyle/>
          <a:p>
            <a:pPr indent="0" marL="0">
              <a:buNone/>
            </a:pPr>
            <a:r>
              <a:rPr lang="en-US" sz="1200" b="1" dirty="0">
                <a:solidFill>
                  <a:srgbClr val="3FB950"/>
                </a:solidFill>
                <a:latin typeface="Calibri" pitchFamily="34" charset="0"/>
                <a:ea typeface="Calibri" pitchFamily="34" charset="-122"/>
                <a:cs typeface="Calibri" pitchFamily="34" charset="-120"/>
              </a:rPr>
              <a:t>✓ yes</a:t>
            </a:r>
            <a:endParaRPr lang="en-US" sz="1200" dirty="0"/>
          </a:p>
        </p:txBody>
      </p:sp>
      <p:sp>
        <p:nvSpPr>
          <p:cNvPr id="11" name="Shape 9"/>
          <p:cNvSpPr/>
          <p:nvPr/>
        </p:nvSpPr>
        <p:spPr>
          <a:xfrm>
            <a:off x="548640" y="2404872"/>
            <a:ext cx="11064240" cy="603504"/>
          </a:xfrm>
          <a:prstGeom prst="roundRect">
            <a:avLst>
              <a:gd name="adj" fmla="val 7576"/>
            </a:avLst>
          </a:prstGeom>
          <a:solidFill>
            <a:srgbClr val="1C2026"/>
          </a:solidFill>
          <a:ln w="12700">
            <a:solidFill>
              <a:srgbClr val="1C2026"/>
            </a:solidFill>
            <a:prstDash val="solid"/>
          </a:ln>
        </p:spPr>
      </p:sp>
      <p:sp>
        <p:nvSpPr>
          <p:cNvPr id="12" name="Text 10"/>
          <p:cNvSpPr/>
          <p:nvPr/>
        </p:nvSpPr>
        <p:spPr>
          <a:xfrm>
            <a:off x="822960" y="2587752"/>
            <a:ext cx="2834640" cy="274320"/>
          </a:xfrm>
          <a:prstGeom prst="rect">
            <a:avLst/>
          </a:prstGeom>
          <a:noFill/>
          <a:ln/>
        </p:spPr>
        <p:txBody>
          <a:bodyPr wrap="square" lIns="0" tIns="0" rIns="0" bIns="0" rtlCol="0" anchor="t"/>
          <a:lstStyle/>
          <a:p>
            <a:pPr indent="0" marL="0">
              <a:buNone/>
            </a:pPr>
            <a:r>
              <a:rPr lang="en-US" sz="1200" b="1" dirty="0">
                <a:solidFill>
                  <a:srgbClr val="F5A524"/>
                </a:solidFill>
                <a:latin typeface="Calibri" pitchFamily="34" charset="0"/>
                <a:ea typeface="Calibri" pitchFamily="34" charset="-122"/>
                <a:cs typeface="Calibri" pitchFamily="34" charset="-120"/>
              </a:rPr>
              <a:t>Pack zip upload</a:t>
            </a:r>
            <a:endParaRPr lang="en-US" sz="1200" dirty="0"/>
          </a:p>
        </p:txBody>
      </p:sp>
      <p:sp>
        <p:nvSpPr>
          <p:cNvPr id="13" name="Text 11"/>
          <p:cNvSpPr/>
          <p:nvPr/>
        </p:nvSpPr>
        <p:spPr>
          <a:xfrm>
            <a:off x="3749040" y="2596896"/>
            <a:ext cx="4846320" cy="274320"/>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Content only. The collector and rules do not activate</a:t>
            </a:r>
            <a:endParaRPr lang="en-US" sz="1050" dirty="0"/>
          </a:p>
        </p:txBody>
      </p:sp>
      <p:sp>
        <p:nvSpPr>
          <p:cNvPr id="14" name="Text 12"/>
          <p:cNvSpPr/>
          <p:nvPr/>
        </p:nvSpPr>
        <p:spPr>
          <a:xfrm>
            <a:off x="8686800" y="2587752"/>
            <a:ext cx="1280160" cy="274320"/>
          </a:xfrm>
          <a:prstGeom prst="rect">
            <a:avLst/>
          </a:prstGeom>
          <a:noFill/>
          <a:ln/>
        </p:spPr>
        <p:txBody>
          <a:bodyPr wrap="square" lIns="0" tIns="0" rIns="0" bIns="0" rtlCol="0" anchor="t"/>
          <a:lstStyle/>
          <a:p>
            <a:pPr indent="0" marL="0">
              <a:buNone/>
            </a:pPr>
            <a:r>
              <a:rPr lang="en-US" sz="1200" b="1" dirty="0">
                <a:solidFill>
                  <a:srgbClr val="F04438"/>
                </a:solidFill>
                <a:latin typeface="Calibri" pitchFamily="34" charset="0"/>
                <a:ea typeface="Calibri" pitchFamily="34" charset="-122"/>
                <a:cs typeface="Calibri" pitchFamily="34" charset="-120"/>
              </a:rPr>
              <a:t>✗ no</a:t>
            </a:r>
            <a:endParaRPr lang="en-US" sz="1200" dirty="0"/>
          </a:p>
        </p:txBody>
      </p:sp>
      <p:sp>
        <p:nvSpPr>
          <p:cNvPr id="15" name="Shape 13"/>
          <p:cNvSpPr/>
          <p:nvPr/>
        </p:nvSpPr>
        <p:spPr>
          <a:xfrm>
            <a:off x="548640" y="3200400"/>
            <a:ext cx="11064240" cy="1234440"/>
          </a:xfrm>
          <a:prstGeom prst="roundRect">
            <a:avLst>
              <a:gd name="adj" fmla="val 3704"/>
            </a:avLst>
          </a:prstGeom>
          <a:solidFill>
            <a:srgbClr val="1C2026"/>
          </a:solidFill>
          <a:ln w="12700">
            <a:solidFill>
              <a:srgbClr val="1C2026"/>
            </a:solidFill>
            <a:prstDash val="solid"/>
          </a:ln>
        </p:spPr>
      </p:sp>
      <p:sp>
        <p:nvSpPr>
          <p:cNvPr id="16" name="Text 14"/>
          <p:cNvSpPr/>
          <p:nvPr/>
        </p:nvSpPr>
        <p:spPr>
          <a:xfrm>
            <a:off x="859536" y="3364992"/>
            <a:ext cx="7315200" cy="274320"/>
          </a:xfrm>
          <a:prstGeom prst="rect">
            <a:avLst/>
          </a:prstGeom>
          <a:noFill/>
          <a:ln/>
        </p:spPr>
        <p:txBody>
          <a:bodyPr wrap="square" lIns="0" tIns="0" rIns="0" bIns="0" rtlCol="0" anchor="t"/>
          <a:lstStyle/>
          <a:p>
            <a:pPr indent="0" marL="0">
              <a:buNone/>
            </a:pPr>
            <a:r>
              <a:rPr lang="en-US" sz="1250" b="1" dirty="0">
                <a:solidFill>
                  <a:srgbClr val="3FB950"/>
                </a:solidFill>
                <a:latin typeface="Calibri" pitchFamily="34" charset="0"/>
                <a:ea typeface="Calibri" pitchFamily="34" charset="-122"/>
                <a:cs typeface="Calibri" pitchFamily="34" charset="-120"/>
              </a:rPr>
              <a:t>Ask whoever sent you the pack to install it</a:t>
            </a:r>
            <a:endParaRPr lang="en-US" sz="1250" dirty="0"/>
          </a:p>
        </p:txBody>
      </p:sp>
      <p:sp>
        <p:nvSpPr>
          <p:cNvPr id="17" name="Text 15"/>
          <p:cNvSpPr/>
          <p:nvPr/>
        </p:nvSpPr>
        <p:spPr>
          <a:xfrm>
            <a:off x="859536" y="3703320"/>
            <a:ext cx="10442448" cy="640080"/>
          </a:xfrm>
          <a:prstGeom prst="rect">
            <a:avLst/>
          </a:prstGeom>
          <a:noFill/>
          <a:ln/>
        </p:spPr>
        <p:txBody>
          <a:bodyPr wrap="square" lIns="0" tIns="0" rIns="0" bIns="0" rtlCol="0" anchor="t"/>
          <a:lstStyle/>
          <a:p>
            <a:pPr indent="0" marL="0">
              <a:lnSpc>
                <a:spcPts val="1400"/>
              </a:lnSpc>
              <a:buNone/>
            </a:pPr>
            <a:r>
              <a:rPr lang="en-US" sz="1100" dirty="0">
                <a:solidFill>
                  <a:srgbClr val="B4B7BD"/>
                </a:solidFill>
                <a:latin typeface="Calibri" pitchFamily="34" charset="0"/>
                <a:ea typeface="Calibri" pitchFamily="34" charset="-122"/>
                <a:cs typeface="Calibri" pitchFamily="34" charset="-120"/>
              </a:rPr>
              <a:t>Installing with demisto-sdk is a developer task and needs a Standard XSIAM API key. If you are testing rather than deploying, have it installed for you and start at Test 1. Nothing else in this guide needs a developer.</a:t>
            </a:r>
            <a:endParaRPr lang="en-US" sz="1100" dirty="0"/>
          </a:p>
        </p:txBody>
      </p:sp>
      <p:sp>
        <p:nvSpPr>
          <p:cNvPr id="18" name="Shape 16"/>
          <p:cNvSpPr/>
          <p:nvPr/>
        </p:nvSpPr>
        <p:spPr>
          <a:xfrm>
            <a:off x="548640" y="4617720"/>
            <a:ext cx="11064240" cy="1371600"/>
          </a:xfrm>
          <a:prstGeom prst="roundRect">
            <a:avLst>
              <a:gd name="adj" fmla="val 3333"/>
            </a:avLst>
          </a:prstGeom>
          <a:solidFill>
            <a:srgbClr val="1C2026"/>
          </a:solidFill>
          <a:ln w="12700">
            <a:solidFill>
              <a:srgbClr val="1C2026"/>
            </a:solidFill>
            <a:prstDash val="solid"/>
          </a:ln>
        </p:spPr>
      </p:sp>
      <p:sp>
        <p:nvSpPr>
          <p:cNvPr id="19" name="Text 17"/>
          <p:cNvSpPr/>
          <p:nvPr/>
        </p:nvSpPr>
        <p:spPr>
          <a:xfrm>
            <a:off x="859536" y="4773168"/>
            <a:ext cx="365760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Confirm it landed</a:t>
            </a:r>
            <a:endParaRPr lang="en-US" sz="1250" dirty="0"/>
          </a:p>
        </p:txBody>
      </p:sp>
      <p:sp>
        <p:nvSpPr>
          <p:cNvPr id="20" name="Text 18"/>
          <p:cNvSpPr/>
          <p:nvPr/>
        </p:nvSpPr>
        <p:spPr>
          <a:xfrm>
            <a:off x="859536" y="512064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1152144" y="5120640"/>
            <a:ext cx="1014984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Settings → Data Sources — a KOI integration is offered.</a:t>
            </a:r>
            <a:endParaRPr lang="en-US" sz="1150" dirty="0"/>
          </a:p>
        </p:txBody>
      </p:sp>
      <p:sp>
        <p:nvSpPr>
          <p:cNvPr id="22" name="Text 20"/>
          <p:cNvSpPr/>
          <p:nvPr/>
        </p:nvSpPr>
        <p:spPr>
          <a:xfrm>
            <a:off x="859536" y="544982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1152144" y="5449824"/>
            <a:ext cx="1014984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Playbooks — 12 playbooks whose names start with KOI.</a:t>
            </a:r>
            <a:endParaRPr lang="en-US" sz="1150" dirty="0"/>
          </a:p>
        </p:txBody>
      </p:sp>
      <p:sp>
        <p:nvSpPr>
          <p:cNvPr id="24" name="Text 22"/>
          <p:cNvSpPr/>
          <p:nvPr/>
        </p:nvSpPr>
        <p:spPr>
          <a:xfrm>
            <a:off x="859536" y="577900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1152144" y="5779008"/>
            <a:ext cx="1014984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Dashboards &amp; Reports — the KOI Alerts Dashboard exists.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PLAN</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Twelve tests, four groups</a:t>
            </a:r>
            <a:endParaRPr lang="en-US" sz="3100" dirty="0"/>
          </a:p>
        </p:txBody>
      </p:sp>
      <p:sp>
        <p:nvSpPr>
          <p:cNvPr id="4" name="Shape 2"/>
          <p:cNvSpPr/>
          <p:nvPr/>
        </p:nvSpPr>
        <p:spPr>
          <a:xfrm>
            <a:off x="548640" y="1371600"/>
            <a:ext cx="11064240" cy="859536"/>
          </a:xfrm>
          <a:prstGeom prst="roundRect">
            <a:avLst>
              <a:gd name="adj" fmla="val 5319"/>
            </a:avLst>
          </a:prstGeom>
          <a:solidFill>
            <a:srgbClr val="15171B"/>
          </a:solidFill>
          <a:ln w="12700">
            <a:solidFill>
              <a:srgbClr val="15171B"/>
            </a:solidFill>
            <a:prstDash val="solid"/>
          </a:ln>
        </p:spPr>
      </p:sp>
      <p:sp>
        <p:nvSpPr>
          <p:cNvPr id="5" name="Text 3"/>
          <p:cNvSpPr/>
          <p:nvPr/>
        </p:nvSpPr>
        <p:spPr>
          <a:xfrm>
            <a:off x="841248" y="1517904"/>
            <a:ext cx="4572000" cy="256032"/>
          </a:xfrm>
          <a:prstGeom prst="rect">
            <a:avLst/>
          </a:prstGeom>
          <a:noFill/>
          <a:ln/>
        </p:spPr>
        <p:txBody>
          <a:bodyPr wrap="square" lIns="0" tIns="0" rIns="0" bIns="0" rtlCol="0" anchor="t"/>
          <a:lstStyle/>
          <a:p>
            <a:pPr indent="0" marL="0">
              <a:buNone/>
            </a:pPr>
            <a:r>
              <a:rPr lang="en-US" sz="1250" b="1" dirty="0">
                <a:solidFill>
                  <a:srgbClr val="E8551F"/>
                </a:solidFill>
                <a:latin typeface="Calibri" pitchFamily="34" charset="0"/>
                <a:ea typeface="Calibri" pitchFamily="34" charset="-122"/>
                <a:cs typeface="Calibri" pitchFamily="34" charset="-120"/>
              </a:rPr>
              <a:t>Data is arriving and correct</a:t>
            </a:r>
            <a:endParaRPr lang="en-US" sz="1250" dirty="0"/>
          </a:p>
        </p:txBody>
      </p:sp>
      <p:sp>
        <p:nvSpPr>
          <p:cNvPr id="6" name="Text 4"/>
          <p:cNvSpPr/>
          <p:nvPr/>
        </p:nvSpPr>
        <p:spPr>
          <a:xfrm>
            <a:off x="841248" y="188366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1  Connectivity</a:t>
            </a:r>
            <a:endParaRPr lang="en-US" sz="1100" dirty="0"/>
          </a:p>
        </p:txBody>
      </p:sp>
      <p:sp>
        <p:nvSpPr>
          <p:cNvPr id="7" name="Text 5"/>
          <p:cNvSpPr/>
          <p:nvPr/>
        </p:nvSpPr>
        <p:spPr>
          <a:xfrm>
            <a:off x="3538728" y="188366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2  Event collection</a:t>
            </a:r>
            <a:endParaRPr lang="en-US" sz="1100" dirty="0"/>
          </a:p>
        </p:txBody>
      </p:sp>
      <p:sp>
        <p:nvSpPr>
          <p:cNvPr id="8" name="Text 6"/>
          <p:cNvSpPr/>
          <p:nvPr/>
        </p:nvSpPr>
        <p:spPr>
          <a:xfrm>
            <a:off x="6236208" y="188366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3  Parsing &amp; data model</a:t>
            </a:r>
            <a:endParaRPr lang="en-US" sz="1100" dirty="0"/>
          </a:p>
        </p:txBody>
      </p:sp>
      <p:sp>
        <p:nvSpPr>
          <p:cNvPr id="9" name="Text 7"/>
          <p:cNvSpPr/>
          <p:nvPr/>
        </p:nvSpPr>
        <p:spPr>
          <a:xfrm>
            <a:off x="8933688" y="188366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4  Dashboard</a:t>
            </a:r>
            <a:endParaRPr lang="en-US" sz="1100" dirty="0"/>
          </a:p>
        </p:txBody>
      </p:sp>
      <p:sp>
        <p:nvSpPr>
          <p:cNvPr id="10" name="Shape 8"/>
          <p:cNvSpPr/>
          <p:nvPr/>
        </p:nvSpPr>
        <p:spPr>
          <a:xfrm>
            <a:off x="548640" y="2377440"/>
            <a:ext cx="11064240" cy="859536"/>
          </a:xfrm>
          <a:prstGeom prst="roundRect">
            <a:avLst>
              <a:gd name="adj" fmla="val 5319"/>
            </a:avLst>
          </a:prstGeom>
          <a:solidFill>
            <a:srgbClr val="15171B"/>
          </a:solidFill>
          <a:ln w="12700">
            <a:solidFill>
              <a:srgbClr val="15171B"/>
            </a:solidFill>
            <a:prstDash val="solid"/>
          </a:ln>
        </p:spPr>
      </p:sp>
      <p:sp>
        <p:nvSpPr>
          <p:cNvPr id="11" name="Text 9"/>
          <p:cNvSpPr/>
          <p:nvPr/>
        </p:nvSpPr>
        <p:spPr>
          <a:xfrm>
            <a:off x="841248" y="2523744"/>
            <a:ext cx="4572000" cy="256032"/>
          </a:xfrm>
          <a:prstGeom prst="rect">
            <a:avLst/>
          </a:prstGeom>
          <a:noFill/>
          <a:ln/>
        </p:spPr>
        <p:txBody>
          <a:bodyPr wrap="square" lIns="0" tIns="0" rIns="0" bIns="0" rtlCol="0" anchor="t"/>
          <a:lstStyle/>
          <a:p>
            <a:pPr indent="0" marL="0">
              <a:buNone/>
            </a:pPr>
            <a:r>
              <a:rPr lang="en-US" sz="1250" b="1" dirty="0">
                <a:solidFill>
                  <a:srgbClr val="22D3EE"/>
                </a:solidFill>
                <a:latin typeface="Calibri" pitchFamily="34" charset="0"/>
                <a:ea typeface="Calibri" pitchFamily="34" charset="-122"/>
                <a:cs typeface="Calibri" pitchFamily="34" charset="-120"/>
              </a:rPr>
              <a:t>The automation works</a:t>
            </a:r>
            <a:endParaRPr lang="en-US" sz="1250" dirty="0"/>
          </a:p>
        </p:txBody>
      </p:sp>
      <p:sp>
        <p:nvSpPr>
          <p:cNvPr id="12" name="Text 10"/>
          <p:cNvSpPr/>
          <p:nvPr/>
        </p:nvSpPr>
        <p:spPr>
          <a:xfrm>
            <a:off x="841248" y="288950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5  Alert triage</a:t>
            </a:r>
            <a:endParaRPr lang="en-US" sz="1100" dirty="0"/>
          </a:p>
        </p:txBody>
      </p:sp>
      <p:sp>
        <p:nvSpPr>
          <p:cNvPr id="13" name="Text 11"/>
          <p:cNvSpPr/>
          <p:nvPr/>
        </p:nvSpPr>
        <p:spPr>
          <a:xfrm>
            <a:off x="3538728" y="288950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6  Item &amp; device investigation</a:t>
            </a:r>
            <a:endParaRPr lang="en-US" sz="1100" dirty="0"/>
          </a:p>
        </p:txBody>
      </p:sp>
      <p:sp>
        <p:nvSpPr>
          <p:cNvPr id="14" name="Text 12"/>
          <p:cNvSpPr/>
          <p:nvPr/>
        </p:nvSpPr>
        <p:spPr>
          <a:xfrm>
            <a:off x="6236208" y="288950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7  Gated response</a:t>
            </a:r>
            <a:endParaRPr lang="en-US" sz="1100" dirty="0"/>
          </a:p>
        </p:txBody>
      </p:sp>
      <p:sp>
        <p:nvSpPr>
          <p:cNvPr id="15" name="Text 13"/>
          <p:cNvSpPr/>
          <p:nvPr/>
        </p:nvSpPr>
        <p:spPr>
          <a:xfrm>
            <a:off x="8933688" y="288950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8  MCP server hunt</a:t>
            </a:r>
            <a:endParaRPr lang="en-US" sz="1100" dirty="0"/>
          </a:p>
        </p:txBody>
      </p:sp>
      <p:sp>
        <p:nvSpPr>
          <p:cNvPr id="16" name="Shape 14"/>
          <p:cNvSpPr/>
          <p:nvPr/>
        </p:nvSpPr>
        <p:spPr>
          <a:xfrm>
            <a:off x="548640" y="3383280"/>
            <a:ext cx="11064240" cy="859536"/>
          </a:xfrm>
          <a:prstGeom prst="roundRect">
            <a:avLst>
              <a:gd name="adj" fmla="val 5319"/>
            </a:avLst>
          </a:prstGeom>
          <a:solidFill>
            <a:srgbClr val="15171B"/>
          </a:solidFill>
          <a:ln w="12700">
            <a:solidFill>
              <a:srgbClr val="15171B"/>
            </a:solidFill>
            <a:prstDash val="solid"/>
          </a:ln>
        </p:spPr>
      </p:sp>
      <p:sp>
        <p:nvSpPr>
          <p:cNvPr id="17" name="Text 15"/>
          <p:cNvSpPr/>
          <p:nvPr/>
        </p:nvSpPr>
        <p:spPr>
          <a:xfrm>
            <a:off x="841248" y="3529584"/>
            <a:ext cx="4572000" cy="256032"/>
          </a:xfrm>
          <a:prstGeom prst="rect">
            <a:avLst/>
          </a:prstGeom>
          <a:noFill/>
          <a:ln/>
        </p:spPr>
        <p:txBody>
          <a:bodyPr wrap="square" lIns="0" tIns="0" rIns="0" bIns="0" rtlCol="0" anchor="t"/>
          <a:lstStyle/>
          <a:p>
            <a:pPr indent="0" marL="0">
              <a:buNone/>
            </a:pPr>
            <a:r>
              <a:rPr lang="en-US" sz="1250" b="1" dirty="0">
                <a:solidFill>
                  <a:srgbClr val="F5A524"/>
                </a:solidFill>
                <a:latin typeface="Calibri" pitchFamily="34" charset="0"/>
                <a:ea typeface="Calibri" pitchFamily="34" charset="-122"/>
                <a:cs typeface="Calibri" pitchFamily="34" charset="-120"/>
              </a:rPr>
              <a:t>Fleet script execution</a:t>
            </a:r>
            <a:endParaRPr lang="en-US" sz="1250" dirty="0"/>
          </a:p>
        </p:txBody>
      </p:sp>
      <p:sp>
        <p:nvSpPr>
          <p:cNvPr id="18" name="Text 16"/>
          <p:cNvSpPr/>
          <p:nvPr/>
        </p:nvSpPr>
        <p:spPr>
          <a:xfrm>
            <a:off x="841248" y="389534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9  Refresh the tracker</a:t>
            </a:r>
            <a:endParaRPr lang="en-US" sz="1100" dirty="0"/>
          </a:p>
        </p:txBody>
      </p:sp>
      <p:sp>
        <p:nvSpPr>
          <p:cNvPr id="19" name="Text 17"/>
          <p:cNvSpPr/>
          <p:nvPr/>
        </p:nvSpPr>
        <p:spPr>
          <a:xfrm>
            <a:off x="3538728" y="389534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10  Scan due endpoints</a:t>
            </a:r>
            <a:endParaRPr lang="en-US" sz="1100" dirty="0"/>
          </a:p>
        </p:txBody>
      </p:sp>
      <p:sp>
        <p:nvSpPr>
          <p:cNvPr id="20" name="Shape 18"/>
          <p:cNvSpPr/>
          <p:nvPr/>
        </p:nvSpPr>
        <p:spPr>
          <a:xfrm>
            <a:off x="548640" y="4389120"/>
            <a:ext cx="11064240" cy="859536"/>
          </a:xfrm>
          <a:prstGeom prst="roundRect">
            <a:avLst>
              <a:gd name="adj" fmla="val 5319"/>
            </a:avLst>
          </a:prstGeom>
          <a:solidFill>
            <a:srgbClr val="15171B"/>
          </a:solidFill>
          <a:ln w="12700">
            <a:solidFill>
              <a:srgbClr val="15171B"/>
            </a:solidFill>
            <a:prstDash val="solid"/>
          </a:ln>
        </p:spPr>
      </p:sp>
      <p:sp>
        <p:nvSpPr>
          <p:cNvPr id="21" name="Text 19"/>
          <p:cNvSpPr/>
          <p:nvPr/>
        </p:nvSpPr>
        <p:spPr>
          <a:xfrm>
            <a:off x="841248" y="4535424"/>
            <a:ext cx="4572000" cy="256032"/>
          </a:xfrm>
          <a:prstGeom prst="rect">
            <a:avLst/>
          </a:prstGeom>
          <a:noFill/>
          <a:ln/>
        </p:spPr>
        <p:txBody>
          <a:bodyPr wrap="square" lIns="0" tIns="0" rIns="0" bIns="0" rtlCol="0" anchor="t"/>
          <a:lstStyle/>
          <a:p>
            <a:pPr indent="0" marL="0">
              <a:buNone/>
            </a:pPr>
            <a:r>
              <a:rPr lang="en-US" sz="1250" b="1" dirty="0">
                <a:solidFill>
                  <a:srgbClr val="3FB950"/>
                </a:solidFill>
                <a:latin typeface="Calibri" pitchFamily="34" charset="0"/>
                <a:ea typeface="Calibri" pitchFamily="34" charset="-122"/>
                <a:cs typeface="Calibri" pitchFamily="34" charset="-120"/>
              </a:rPr>
              <a:t>Extras, any time</a:t>
            </a:r>
            <a:endParaRPr lang="en-US" sz="1250" dirty="0"/>
          </a:p>
        </p:txBody>
      </p:sp>
      <p:sp>
        <p:nvSpPr>
          <p:cNvPr id="22" name="Text 20"/>
          <p:cNvSpPr/>
          <p:nvPr/>
        </p:nvSpPr>
        <p:spPr>
          <a:xfrm>
            <a:off x="841248" y="490118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11  Threat-hunting library</a:t>
            </a:r>
            <a:endParaRPr lang="en-US" sz="1100" dirty="0"/>
          </a:p>
        </p:txBody>
      </p:sp>
      <p:sp>
        <p:nvSpPr>
          <p:cNvPr id="23" name="Text 21"/>
          <p:cNvSpPr/>
          <p:nvPr/>
        </p:nvSpPr>
        <p:spPr>
          <a:xfrm>
            <a:off x="3538728" y="4901184"/>
            <a:ext cx="2606040" cy="256032"/>
          </a:xfrm>
          <a:prstGeom prst="rect">
            <a:avLst/>
          </a:prstGeom>
          <a:noFill/>
          <a:ln/>
        </p:spPr>
        <p:txBody>
          <a:bodyPr wrap="square" lIns="0" tIns="0" rIns="0" bIns="0" rtlCol="0" anchor="t"/>
          <a:lstStyle/>
          <a:p>
            <a:pPr indent="0" marL="0">
              <a:buNone/>
            </a:pPr>
            <a:r>
              <a:rPr lang="en-US" sz="1100" dirty="0">
                <a:solidFill>
                  <a:srgbClr val="B4B7BD"/>
                </a:solidFill>
                <a:latin typeface="Calibri" pitchFamily="34" charset="0"/>
                <a:ea typeface="Calibri" pitchFamily="34" charset="-122"/>
                <a:cs typeface="Calibri" pitchFamily="34" charset="-120"/>
              </a:rPr>
              <a:t>12  Simulated test data</a:t>
            </a:r>
            <a:endParaRPr lang="en-US" sz="1100" dirty="0"/>
          </a:p>
        </p:txBody>
      </p:sp>
      <p:sp>
        <p:nvSpPr>
          <p:cNvPr id="24" name="Shape 22"/>
          <p:cNvSpPr/>
          <p:nvPr/>
        </p:nvSpPr>
        <p:spPr>
          <a:xfrm>
            <a:off x="548640" y="5394960"/>
            <a:ext cx="11064240" cy="731520"/>
          </a:xfrm>
          <a:prstGeom prst="roundRect">
            <a:avLst>
              <a:gd name="adj" fmla="val 6250"/>
            </a:avLst>
          </a:prstGeom>
          <a:solidFill>
            <a:srgbClr val="1C2026"/>
          </a:solidFill>
          <a:ln w="12700">
            <a:solidFill>
              <a:srgbClr val="1C2026"/>
            </a:solidFill>
            <a:prstDash val="solid"/>
          </a:ln>
        </p:spPr>
      </p:sp>
      <p:sp>
        <p:nvSpPr>
          <p:cNvPr id="25" name="Shape 23"/>
          <p:cNvSpPr/>
          <p:nvPr/>
        </p:nvSpPr>
        <p:spPr>
          <a:xfrm>
            <a:off x="786384" y="5605272"/>
            <a:ext cx="292608" cy="292608"/>
          </a:xfrm>
          <a:prstGeom prst="roundRect">
            <a:avLst>
              <a:gd name="adj" fmla="val 28125"/>
            </a:avLst>
          </a:prstGeom>
          <a:solidFill>
            <a:srgbClr val="F5A524"/>
          </a:solidFill>
          <a:ln w="12700">
            <a:solidFill>
              <a:srgbClr val="F5A524"/>
            </a:solidFill>
            <a:prstDash val="solid"/>
          </a:ln>
        </p:spPr>
      </p:sp>
      <p:sp>
        <p:nvSpPr>
          <p:cNvPr id="26" name="Text 24"/>
          <p:cNvSpPr/>
          <p:nvPr/>
        </p:nvSpPr>
        <p:spPr>
          <a:xfrm>
            <a:off x="786384" y="560527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1243584" y="5541264"/>
            <a:ext cx="10058400" cy="502920"/>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Only tests 9 and 10 need the Core REST API integration. Only tests 1-8 and 11 need a KOI API key. Test 12 needs neither and is the fastest way to see the pack working.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1</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Connectivity and authorisation</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 KOI API key (KOI console → Settings → API Access)</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Permission to add an integration instance in XSIAM</a:t>
            </a:r>
            <a:endParaRPr lang="en-US" sz="1050" dirty="0"/>
          </a:p>
        </p:txBody>
      </p:sp>
      <p:sp>
        <p:nvSpPr>
          <p:cNvPr id="10" name="Shape 8"/>
          <p:cNvSpPr/>
          <p:nvPr/>
        </p:nvSpPr>
        <p:spPr>
          <a:xfrm>
            <a:off x="548640" y="2221992"/>
            <a:ext cx="6400800" cy="2761488"/>
          </a:xfrm>
          <a:prstGeom prst="roundRect">
            <a:avLst>
              <a:gd name="adj" fmla="val 1656"/>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Settings → Data Sources → Add an instance → search KOI.</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Server URL:  https://api.prod.koi.security/</a:t>
            </a:r>
            <a:endParaRPr lang="en-US" sz="10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Paste the API key. Optionally set a Tenant Name label.</a:t>
            </a:r>
            <a:endParaRPr lang="en-US" sz="1150" dirty="0"/>
          </a:p>
        </p:txBody>
      </p:sp>
      <p:sp>
        <p:nvSpPr>
          <p:cNvPr id="18" name="Text 16"/>
          <p:cNvSpPr/>
          <p:nvPr/>
        </p:nvSpPr>
        <p:spPr>
          <a:xfrm>
            <a:off x="859536" y="37764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7764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Click Test, then Save.</a:t>
            </a:r>
            <a:endParaRPr lang="en-US" sz="1150" dirty="0"/>
          </a:p>
        </p:txBody>
      </p:sp>
      <p:sp>
        <p:nvSpPr>
          <p:cNvPr id="20" name="Text 18"/>
          <p:cNvSpPr/>
          <p:nvPr/>
        </p:nvSpPr>
        <p:spPr>
          <a:xfrm>
            <a:off x="859536" y="410565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5</a:t>
            </a:r>
            <a:endParaRPr lang="en-US" sz="1150" dirty="0"/>
          </a:p>
        </p:txBody>
      </p:sp>
      <p:sp>
        <p:nvSpPr>
          <p:cNvPr id="21" name="Text 19"/>
          <p:cNvSpPr/>
          <p:nvPr/>
        </p:nvSpPr>
        <p:spPr>
          <a:xfrm>
            <a:off x="1152144" y="410565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the CLI at the bottom of any incident and run:</a:t>
            </a:r>
            <a:endParaRPr lang="en-US" sz="1150" dirty="0"/>
          </a:p>
        </p:txBody>
      </p:sp>
      <p:sp>
        <p:nvSpPr>
          <p:cNvPr id="22" name="Text 20"/>
          <p:cNvSpPr/>
          <p:nvPr/>
        </p:nvSpPr>
        <p:spPr>
          <a:xfrm>
            <a:off x="859536" y="443484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6</a:t>
            </a:r>
            <a:endParaRPr lang="en-US" sz="1150" dirty="0"/>
          </a:p>
        </p:txBody>
      </p:sp>
      <p:sp>
        <p:nvSpPr>
          <p:cNvPr id="23" name="Text 21"/>
          <p:cNvSpPr/>
          <p:nvPr/>
        </p:nvSpPr>
        <p:spPr>
          <a:xfrm>
            <a:off x="1152144" y="4434840"/>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!koi-devices-list limit=5</a:t>
            </a:r>
            <a:endParaRPr lang="en-US" sz="1050" dirty="0"/>
          </a:p>
        </p:txBody>
      </p:sp>
      <p:sp>
        <p:nvSpPr>
          <p:cNvPr id="24" name="Shape 22"/>
          <p:cNvSpPr/>
          <p:nvPr/>
        </p:nvSpPr>
        <p:spPr>
          <a:xfrm>
            <a:off x="7315200" y="2221992"/>
            <a:ext cx="4297680" cy="2761488"/>
          </a:xfrm>
          <a:prstGeom prst="roundRect">
            <a:avLst>
              <a:gd name="adj" fmla="val 1656"/>
            </a:avLst>
          </a:prstGeom>
          <a:solidFill>
            <a:srgbClr val="1C2026"/>
          </a:solidFill>
          <a:ln w="12700">
            <a:solidFill>
              <a:srgbClr val="1C2026"/>
            </a:solidFill>
            <a:prstDash val="solid"/>
          </a:ln>
        </p:spPr>
      </p:sp>
      <p:sp>
        <p:nvSpPr>
          <p:cNvPr id="25" name="Text 23"/>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6" name="Text 24"/>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2788920"/>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Test returns Success.</a:t>
            </a:r>
            <a:endParaRPr lang="en-US" sz="1150" dirty="0"/>
          </a:p>
        </p:txBody>
      </p:sp>
      <p:sp>
        <p:nvSpPr>
          <p:cNvPr id="28" name="Text 26"/>
          <p:cNvSpPr/>
          <p:nvPr/>
        </p:nvSpPr>
        <p:spPr>
          <a:xfrm>
            <a:off x="7626096" y="311810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3118104"/>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command returns a table of up to five devices.</a:t>
            </a:r>
            <a:endParaRPr lang="en-US" sz="1150" dirty="0"/>
          </a:p>
        </p:txBody>
      </p:sp>
      <p:sp>
        <p:nvSpPr>
          <p:cNvPr id="30" name="Text 28"/>
          <p:cNvSpPr/>
          <p:nvPr/>
        </p:nvSpPr>
        <p:spPr>
          <a:xfrm>
            <a:off x="7626096" y="363474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31" name="Text 29"/>
          <p:cNvSpPr/>
          <p:nvPr/>
        </p:nvSpPr>
        <p:spPr>
          <a:xfrm>
            <a:off x="7918704" y="363474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If you set a Tenant Name it will appear on collected events later.</a:t>
            </a:r>
            <a:endParaRPr lang="en-US" sz="1150" dirty="0"/>
          </a:p>
        </p:txBody>
      </p:sp>
      <p:sp>
        <p:nvSpPr>
          <p:cNvPr id="32" name="Shape 30"/>
          <p:cNvSpPr/>
          <p:nvPr/>
        </p:nvSpPr>
        <p:spPr>
          <a:xfrm>
            <a:off x="548640" y="5129784"/>
            <a:ext cx="11064240" cy="658368"/>
          </a:xfrm>
          <a:prstGeom prst="roundRect">
            <a:avLst>
              <a:gd name="adj" fmla="val 6944"/>
            </a:avLst>
          </a:prstGeom>
          <a:solidFill>
            <a:srgbClr val="1C2026"/>
          </a:solidFill>
          <a:ln w="12700">
            <a:solidFill>
              <a:srgbClr val="1C2026"/>
            </a:solidFill>
            <a:prstDash val="solid"/>
          </a:ln>
        </p:spPr>
      </p:sp>
      <p:sp>
        <p:nvSpPr>
          <p:cNvPr id="33" name="Shape 31"/>
          <p:cNvSpPr/>
          <p:nvPr/>
        </p:nvSpPr>
        <p:spPr>
          <a:xfrm>
            <a:off x="786384" y="5312664"/>
            <a:ext cx="292608" cy="292608"/>
          </a:xfrm>
          <a:prstGeom prst="roundRect">
            <a:avLst>
              <a:gd name="adj" fmla="val 28125"/>
            </a:avLst>
          </a:prstGeom>
          <a:solidFill>
            <a:srgbClr val="F5A524"/>
          </a:solidFill>
          <a:ln w="12700">
            <a:solidFill>
              <a:srgbClr val="F5A524"/>
            </a:solidFill>
            <a:prstDash val="solid"/>
          </a:ln>
        </p:spPr>
      </p:sp>
      <p:sp>
        <p:nvSpPr>
          <p:cNvPr id="34" name="Text 32"/>
          <p:cNvSpPr/>
          <p:nvPr/>
        </p:nvSpPr>
        <p:spPr>
          <a:xfrm>
            <a:off x="786384" y="531266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1243584" y="5239512"/>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A 403 here almost always means egress, not a bad key: KOI restricts its sensitive endpoints by source IP. Run the instance on a Cortex engine whose address KOI accepts. A 401 means the key itself.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2</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Event collection</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1 passing</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Fetch events enabled on the KOI instance</a:t>
            </a:r>
            <a:endParaRPr lang="en-US" sz="1050" dirty="0"/>
          </a:p>
        </p:txBody>
      </p:sp>
      <p:sp>
        <p:nvSpPr>
          <p:cNvPr id="10" name="Shape 8"/>
          <p:cNvSpPr/>
          <p:nvPr/>
        </p:nvSpPr>
        <p:spPr>
          <a:xfrm>
            <a:off x="548640" y="2221992"/>
            <a:ext cx="6400800" cy="2761488"/>
          </a:xfrm>
          <a:prstGeom prst="roundRect">
            <a:avLst>
              <a:gd name="adj" fmla="val 1656"/>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Edit the KOI instance and tick Fetch events.</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Choose which event types to collect, then Save.</a:t>
            </a:r>
            <a:endParaRPr lang="en-US" sz="11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Wait for two collection cycles.</a:t>
            </a:r>
            <a:endParaRPr lang="en-US" sz="1150" dirty="0"/>
          </a:p>
        </p:txBody>
      </p:sp>
      <p:sp>
        <p:nvSpPr>
          <p:cNvPr id="18" name="Text 16"/>
          <p:cNvSpPr/>
          <p:nvPr/>
        </p:nvSpPr>
        <p:spPr>
          <a:xfrm>
            <a:off x="859536" y="37764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7764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Incident Response → Investigation → Query Builder and run:</a:t>
            </a:r>
            <a:endParaRPr lang="en-US" sz="1150" dirty="0"/>
          </a:p>
        </p:txBody>
      </p:sp>
      <p:sp>
        <p:nvSpPr>
          <p:cNvPr id="20" name="Text 18"/>
          <p:cNvSpPr/>
          <p:nvPr/>
        </p:nvSpPr>
        <p:spPr>
          <a:xfrm>
            <a:off x="859536" y="410565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5</a:t>
            </a:r>
            <a:endParaRPr lang="en-US" sz="1150" dirty="0"/>
          </a:p>
        </p:txBody>
      </p:sp>
      <p:sp>
        <p:nvSpPr>
          <p:cNvPr id="21" name="Text 19"/>
          <p:cNvSpPr/>
          <p:nvPr/>
        </p:nvSpPr>
        <p:spPr>
          <a:xfrm>
            <a:off x="1152144" y="4105656"/>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dataset = koi_koi_raw</a:t>
            </a:r>
            <a:endParaRPr lang="en-US" sz="1050" dirty="0"/>
          </a:p>
        </p:txBody>
      </p:sp>
      <p:sp>
        <p:nvSpPr>
          <p:cNvPr id="22" name="Text 20"/>
          <p:cNvSpPr/>
          <p:nvPr/>
        </p:nvSpPr>
        <p:spPr>
          <a:xfrm>
            <a:off x="859536" y="443484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6</a:t>
            </a:r>
            <a:endParaRPr lang="en-US" sz="1150" dirty="0"/>
          </a:p>
        </p:txBody>
      </p:sp>
      <p:sp>
        <p:nvSpPr>
          <p:cNvPr id="23" name="Text 21"/>
          <p:cNvSpPr/>
          <p:nvPr/>
        </p:nvSpPr>
        <p:spPr>
          <a:xfrm>
            <a:off x="1152144" y="4434840"/>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 comp count() as rows by source_log_type</a:t>
            </a:r>
            <a:endParaRPr lang="en-US" sz="1050" dirty="0"/>
          </a:p>
        </p:txBody>
      </p:sp>
      <p:sp>
        <p:nvSpPr>
          <p:cNvPr id="24" name="Shape 22"/>
          <p:cNvSpPr/>
          <p:nvPr/>
        </p:nvSpPr>
        <p:spPr>
          <a:xfrm>
            <a:off x="7315200" y="2221992"/>
            <a:ext cx="4297680" cy="2761488"/>
          </a:xfrm>
          <a:prstGeom prst="roundRect">
            <a:avLst>
              <a:gd name="adj" fmla="val 1656"/>
            </a:avLst>
          </a:prstGeom>
          <a:solidFill>
            <a:srgbClr val="1C2026"/>
          </a:solidFill>
          <a:ln w="12700">
            <a:solidFill>
              <a:srgbClr val="1C2026"/>
            </a:solidFill>
            <a:prstDash val="solid"/>
          </a:ln>
        </p:spPr>
      </p:sp>
      <p:sp>
        <p:nvSpPr>
          <p:cNvPr id="25" name="Text 23"/>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6" name="Text 24"/>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2788920"/>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Rows appear under Alerts, Audit, or both.</a:t>
            </a:r>
            <a:endParaRPr lang="en-US" sz="1150" dirty="0"/>
          </a:p>
        </p:txBody>
      </p:sp>
      <p:sp>
        <p:nvSpPr>
          <p:cNvPr id="28" name="Text 26"/>
          <p:cNvSpPr/>
          <p:nvPr/>
        </p:nvSpPr>
        <p:spPr>
          <a:xfrm>
            <a:off x="7626096" y="311810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3118104"/>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Counts grow between cycles.</a:t>
            </a:r>
            <a:endParaRPr lang="en-US" sz="1150" dirty="0"/>
          </a:p>
        </p:txBody>
      </p:sp>
      <p:sp>
        <p:nvSpPr>
          <p:cNvPr id="30" name="Shape 28"/>
          <p:cNvSpPr/>
          <p:nvPr/>
        </p:nvSpPr>
        <p:spPr>
          <a:xfrm>
            <a:off x="548640" y="5129784"/>
            <a:ext cx="11064240" cy="658368"/>
          </a:xfrm>
          <a:prstGeom prst="roundRect">
            <a:avLst>
              <a:gd name="adj" fmla="val 6944"/>
            </a:avLst>
          </a:prstGeom>
          <a:solidFill>
            <a:srgbClr val="1C2026"/>
          </a:solidFill>
          <a:ln w="12700">
            <a:solidFill>
              <a:srgbClr val="1C2026"/>
            </a:solidFill>
            <a:prstDash val="solid"/>
          </a:ln>
        </p:spPr>
      </p:sp>
      <p:sp>
        <p:nvSpPr>
          <p:cNvPr id="31" name="Shape 29"/>
          <p:cNvSpPr/>
          <p:nvPr/>
        </p:nvSpPr>
        <p:spPr>
          <a:xfrm>
            <a:off x="786384" y="5312664"/>
            <a:ext cx="292608" cy="292608"/>
          </a:xfrm>
          <a:prstGeom prst="roundRect">
            <a:avLst>
              <a:gd name="adj" fmla="val 28125"/>
            </a:avLst>
          </a:prstGeom>
          <a:solidFill>
            <a:srgbClr val="F5A524"/>
          </a:solidFill>
          <a:ln w="12700">
            <a:solidFill>
              <a:srgbClr val="F5A524"/>
            </a:solidFill>
            <a:prstDash val="solid"/>
          </a:ln>
        </p:spPr>
      </p:sp>
      <p:sp>
        <p:nvSpPr>
          <p:cNvPr id="32" name="Text 30"/>
          <p:cNvSpPr/>
          <p:nvPr/>
        </p:nvSpPr>
        <p:spPr>
          <a:xfrm>
            <a:off x="786384" y="531266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43584" y="5239512"/>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No rows at all usually means fetch was only just enabled — give it two cycles. Audit missing on its own means the Audit types filter is narrowed; leave it empty for all types.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3</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Parsing and the data model</a:t>
            </a:r>
            <a:endParaRPr lang="en-US" sz="3100" dirty="0"/>
          </a:p>
        </p:txBody>
      </p:sp>
      <p:sp>
        <p:nvSpPr>
          <p:cNvPr id="4" name="Shape 2"/>
          <p:cNvSpPr/>
          <p:nvPr/>
        </p:nvSpPr>
        <p:spPr>
          <a:xfrm>
            <a:off x="548640" y="1316736"/>
            <a:ext cx="11064240" cy="489204"/>
          </a:xfrm>
          <a:prstGeom prst="roundRect">
            <a:avLst>
              <a:gd name="adj" fmla="val 9346"/>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2 passing — events present in koi_koi_raw</a:t>
            </a:r>
            <a:endParaRPr lang="en-US" sz="1050" dirty="0"/>
          </a:p>
        </p:txBody>
      </p:sp>
      <p:sp>
        <p:nvSpPr>
          <p:cNvPr id="8" name="Shape 6"/>
          <p:cNvSpPr/>
          <p:nvPr/>
        </p:nvSpPr>
        <p:spPr>
          <a:xfrm>
            <a:off x="548640" y="2007108"/>
            <a:ext cx="6400800" cy="2619756"/>
          </a:xfrm>
          <a:prstGeom prst="roundRect">
            <a:avLst>
              <a:gd name="adj" fmla="val 1745"/>
            </a:avLst>
          </a:prstGeom>
          <a:solidFill>
            <a:srgbClr val="15171B"/>
          </a:solidFill>
          <a:ln w="12700">
            <a:solidFill>
              <a:srgbClr val="15171B"/>
            </a:solidFill>
            <a:prstDash val="solid"/>
          </a:ln>
        </p:spPr>
      </p:sp>
      <p:sp>
        <p:nvSpPr>
          <p:cNvPr id="9" name="Text 7"/>
          <p:cNvSpPr/>
          <p:nvPr/>
        </p:nvSpPr>
        <p:spPr>
          <a:xfrm>
            <a:off x="859536" y="2208276"/>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0" name="Text 8"/>
          <p:cNvSpPr/>
          <p:nvPr/>
        </p:nvSpPr>
        <p:spPr>
          <a:xfrm>
            <a:off x="859536" y="257403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1" name="Text 9"/>
          <p:cNvSpPr/>
          <p:nvPr/>
        </p:nvSpPr>
        <p:spPr>
          <a:xfrm>
            <a:off x="1152144" y="257403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In Query Builder, count real alerts rather than rows:</a:t>
            </a:r>
            <a:endParaRPr lang="en-US" sz="1150" dirty="0"/>
          </a:p>
        </p:txBody>
      </p:sp>
      <p:sp>
        <p:nvSpPr>
          <p:cNvPr id="12" name="Text 10"/>
          <p:cNvSpPr/>
          <p:nvPr/>
        </p:nvSpPr>
        <p:spPr>
          <a:xfrm>
            <a:off x="859536" y="29032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3" name="Text 11"/>
          <p:cNvSpPr/>
          <p:nvPr/>
        </p:nvSpPr>
        <p:spPr>
          <a:xfrm>
            <a:off x="1152144" y="2903220"/>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dataset = koi_koi_raw</a:t>
            </a:r>
            <a:endParaRPr lang="en-US" sz="1050" dirty="0"/>
          </a:p>
        </p:txBody>
      </p:sp>
      <p:sp>
        <p:nvSpPr>
          <p:cNvPr id="14" name="Text 12"/>
          <p:cNvSpPr/>
          <p:nvPr/>
        </p:nvSpPr>
        <p:spPr>
          <a:xfrm>
            <a:off x="859536" y="32324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1152144" y="3232404"/>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 filter source_log_type = "Alerts"</a:t>
            </a:r>
            <a:endParaRPr lang="en-US" sz="1050" dirty="0"/>
          </a:p>
        </p:txBody>
      </p:sp>
      <p:sp>
        <p:nvSpPr>
          <p:cNvPr id="16" name="Text 14"/>
          <p:cNvSpPr/>
          <p:nvPr/>
        </p:nvSpPr>
        <p:spPr>
          <a:xfrm>
            <a:off x="859536" y="35615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7" name="Text 15"/>
          <p:cNvSpPr/>
          <p:nvPr/>
        </p:nvSpPr>
        <p:spPr>
          <a:xfrm>
            <a:off x="1152144" y="3561588"/>
            <a:ext cx="5486400" cy="438912"/>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 alter nid = json_extract_scalar(metadata, "$.notification_event_id")</a:t>
            </a:r>
            <a:endParaRPr lang="en-US" sz="1050" dirty="0"/>
          </a:p>
        </p:txBody>
      </p:sp>
      <p:sp>
        <p:nvSpPr>
          <p:cNvPr id="18" name="Text 16"/>
          <p:cNvSpPr/>
          <p:nvPr/>
        </p:nvSpPr>
        <p:spPr>
          <a:xfrm>
            <a:off x="859536" y="407822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5</a:t>
            </a:r>
            <a:endParaRPr lang="en-US" sz="1150" dirty="0"/>
          </a:p>
        </p:txBody>
      </p:sp>
      <p:sp>
        <p:nvSpPr>
          <p:cNvPr id="19" name="Text 17"/>
          <p:cNvSpPr/>
          <p:nvPr/>
        </p:nvSpPr>
        <p:spPr>
          <a:xfrm>
            <a:off x="1152144" y="4078224"/>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 comp count() as rows, count_distinct(nid) as real_alerts</a:t>
            </a:r>
            <a:endParaRPr lang="en-US" sz="1050" dirty="0"/>
          </a:p>
        </p:txBody>
      </p:sp>
      <p:sp>
        <p:nvSpPr>
          <p:cNvPr id="20" name="Shape 18"/>
          <p:cNvSpPr/>
          <p:nvPr/>
        </p:nvSpPr>
        <p:spPr>
          <a:xfrm>
            <a:off x="7315200" y="2007108"/>
            <a:ext cx="4297680" cy="2619756"/>
          </a:xfrm>
          <a:prstGeom prst="roundRect">
            <a:avLst>
              <a:gd name="adj" fmla="val 1745"/>
            </a:avLst>
          </a:prstGeom>
          <a:solidFill>
            <a:srgbClr val="1C2026"/>
          </a:solidFill>
          <a:ln w="12700">
            <a:solidFill>
              <a:srgbClr val="1C2026"/>
            </a:solidFill>
            <a:prstDash val="solid"/>
          </a:ln>
        </p:spPr>
      </p:sp>
      <p:sp>
        <p:nvSpPr>
          <p:cNvPr id="21" name="Text 19"/>
          <p:cNvSpPr/>
          <p:nvPr/>
        </p:nvSpPr>
        <p:spPr>
          <a:xfrm>
            <a:off x="7626096" y="2208276"/>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2" name="Text 20"/>
          <p:cNvSpPr/>
          <p:nvPr/>
        </p:nvSpPr>
        <p:spPr>
          <a:xfrm>
            <a:off x="7626096" y="257403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2574036"/>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Both numbers return.</a:t>
            </a:r>
            <a:endParaRPr lang="en-US" sz="1150" dirty="0"/>
          </a:p>
        </p:txBody>
      </p:sp>
      <p:sp>
        <p:nvSpPr>
          <p:cNvPr id="24" name="Text 22"/>
          <p:cNvSpPr/>
          <p:nvPr/>
        </p:nvSpPr>
        <p:spPr>
          <a:xfrm>
            <a:off x="7626096" y="29032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29032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rows is larger than real_alerts — often much larger.</a:t>
            </a:r>
            <a:endParaRPr lang="en-US" sz="1150" dirty="0"/>
          </a:p>
        </p:txBody>
      </p:sp>
      <p:sp>
        <p:nvSpPr>
          <p:cNvPr id="26" name="Text 24"/>
          <p:cNvSpPr/>
          <p:nvPr/>
        </p:nvSpPr>
        <p:spPr>
          <a:xfrm>
            <a:off x="7626096" y="34198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4198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Fields such as item_id, alert_hostname and risk_level are populated and directly queryable.</a:t>
            </a:r>
            <a:endParaRPr lang="en-US" sz="1150" dirty="0"/>
          </a:p>
        </p:txBody>
      </p:sp>
      <p:sp>
        <p:nvSpPr>
          <p:cNvPr id="28" name="Shape 26"/>
          <p:cNvSpPr/>
          <p:nvPr/>
        </p:nvSpPr>
        <p:spPr>
          <a:xfrm>
            <a:off x="548640" y="4773168"/>
            <a:ext cx="11064240" cy="658368"/>
          </a:xfrm>
          <a:prstGeom prst="roundRect">
            <a:avLst>
              <a:gd name="adj" fmla="val 6944"/>
            </a:avLst>
          </a:prstGeom>
          <a:solidFill>
            <a:srgbClr val="1C2026"/>
          </a:solidFill>
          <a:ln w="12700">
            <a:solidFill>
              <a:srgbClr val="1C2026"/>
            </a:solidFill>
            <a:prstDash val="solid"/>
          </a:ln>
        </p:spPr>
      </p:sp>
      <p:sp>
        <p:nvSpPr>
          <p:cNvPr id="29" name="Shape 27"/>
          <p:cNvSpPr/>
          <p:nvPr/>
        </p:nvSpPr>
        <p:spPr>
          <a:xfrm>
            <a:off x="786384" y="4956048"/>
            <a:ext cx="292608" cy="292608"/>
          </a:xfrm>
          <a:prstGeom prst="roundRect">
            <a:avLst>
              <a:gd name="adj" fmla="val 28125"/>
            </a:avLst>
          </a:prstGeom>
          <a:solidFill>
            <a:srgbClr val="F5A524"/>
          </a:solidFill>
          <a:ln w="12700">
            <a:solidFill>
              <a:srgbClr val="F5A524"/>
            </a:solidFill>
            <a:prstDash val="solid"/>
          </a:ln>
        </p:spPr>
      </p:sp>
      <p:sp>
        <p:nvSpPr>
          <p:cNvPr id="30" name="Text 28"/>
          <p:cNvSpPr/>
          <p:nvPr/>
        </p:nvSpPr>
        <p:spPr>
          <a:xfrm>
            <a:off x="786384" y="49560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1243584" y="4882896"/>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rows far exceeding real_alerts is CORRECT. KOI re-sends every still-open alert on each fetch, so a row is a delivery, not an alert. Anything counting alerts must count distinct notification ids — the dashboard already does.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4</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Dashboard</a:t>
            </a:r>
            <a:endParaRPr lang="en-US" sz="3100" dirty="0"/>
          </a:p>
        </p:txBody>
      </p:sp>
      <p:sp>
        <p:nvSpPr>
          <p:cNvPr id="4" name="Shape 2"/>
          <p:cNvSpPr/>
          <p:nvPr/>
        </p:nvSpPr>
        <p:spPr>
          <a:xfrm>
            <a:off x="548640" y="1316736"/>
            <a:ext cx="11064240" cy="489204"/>
          </a:xfrm>
          <a:prstGeom prst="roundRect">
            <a:avLst>
              <a:gd name="adj" fmla="val 9346"/>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2 passing — events present</a:t>
            </a:r>
            <a:endParaRPr lang="en-US" sz="1050" dirty="0"/>
          </a:p>
        </p:txBody>
      </p:sp>
      <p:sp>
        <p:nvSpPr>
          <p:cNvPr id="8" name="Shape 6"/>
          <p:cNvSpPr/>
          <p:nvPr/>
        </p:nvSpPr>
        <p:spPr>
          <a:xfrm>
            <a:off x="548640" y="2007108"/>
            <a:ext cx="6400800" cy="2148840"/>
          </a:xfrm>
          <a:prstGeom prst="roundRect">
            <a:avLst>
              <a:gd name="adj" fmla="val 2128"/>
            </a:avLst>
          </a:prstGeom>
          <a:solidFill>
            <a:srgbClr val="15171B"/>
          </a:solidFill>
          <a:ln w="12700">
            <a:solidFill>
              <a:srgbClr val="15171B"/>
            </a:solidFill>
            <a:prstDash val="solid"/>
          </a:ln>
        </p:spPr>
      </p:sp>
      <p:sp>
        <p:nvSpPr>
          <p:cNvPr id="9" name="Text 7"/>
          <p:cNvSpPr/>
          <p:nvPr/>
        </p:nvSpPr>
        <p:spPr>
          <a:xfrm>
            <a:off x="859536" y="2208276"/>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0" name="Text 8"/>
          <p:cNvSpPr/>
          <p:nvPr/>
        </p:nvSpPr>
        <p:spPr>
          <a:xfrm>
            <a:off x="859536" y="257403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1" name="Text 9"/>
          <p:cNvSpPr/>
          <p:nvPr/>
        </p:nvSpPr>
        <p:spPr>
          <a:xfrm>
            <a:off x="1152144" y="257403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Dashboards &amp; Reports → open the KOI Alerts Dashboard.</a:t>
            </a:r>
            <a:endParaRPr lang="en-US" sz="1150" dirty="0"/>
          </a:p>
        </p:txBody>
      </p:sp>
      <p:sp>
        <p:nvSpPr>
          <p:cNvPr id="12" name="Text 10"/>
          <p:cNvSpPr/>
          <p:nvPr/>
        </p:nvSpPr>
        <p:spPr>
          <a:xfrm>
            <a:off x="859536" y="29032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3" name="Text 11"/>
          <p:cNvSpPr/>
          <p:nvPr/>
        </p:nvSpPr>
        <p:spPr>
          <a:xfrm>
            <a:off x="1152144" y="29032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Read the alert totals, risk mix and top items.</a:t>
            </a:r>
            <a:endParaRPr lang="en-US" sz="1150" dirty="0"/>
          </a:p>
        </p:txBody>
      </p:sp>
      <p:sp>
        <p:nvSpPr>
          <p:cNvPr id="14" name="Text 12"/>
          <p:cNvSpPr/>
          <p:nvPr/>
        </p:nvSpPr>
        <p:spPr>
          <a:xfrm>
            <a:off x="859536" y="32324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1152144" y="32324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Come back after another collection cycle and compare.</a:t>
            </a:r>
            <a:endParaRPr lang="en-US" sz="1150" dirty="0"/>
          </a:p>
        </p:txBody>
      </p:sp>
      <p:sp>
        <p:nvSpPr>
          <p:cNvPr id="16" name="Shape 14"/>
          <p:cNvSpPr/>
          <p:nvPr/>
        </p:nvSpPr>
        <p:spPr>
          <a:xfrm>
            <a:off x="7315200" y="2007108"/>
            <a:ext cx="4297680" cy="2148840"/>
          </a:xfrm>
          <a:prstGeom prst="roundRect">
            <a:avLst>
              <a:gd name="adj" fmla="val 2128"/>
            </a:avLst>
          </a:prstGeom>
          <a:solidFill>
            <a:srgbClr val="1C2026"/>
          </a:solidFill>
          <a:ln w="12700">
            <a:solidFill>
              <a:srgbClr val="1C2026"/>
            </a:solidFill>
            <a:prstDash val="solid"/>
          </a:ln>
        </p:spPr>
      </p:sp>
      <p:sp>
        <p:nvSpPr>
          <p:cNvPr id="17" name="Text 15"/>
          <p:cNvSpPr/>
          <p:nvPr/>
        </p:nvSpPr>
        <p:spPr>
          <a:xfrm>
            <a:off x="7626096" y="2208276"/>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18" name="Text 16"/>
          <p:cNvSpPr/>
          <p:nvPr/>
        </p:nvSpPr>
        <p:spPr>
          <a:xfrm>
            <a:off x="7626096" y="257403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19" name="Text 17"/>
          <p:cNvSpPr/>
          <p:nvPr/>
        </p:nvSpPr>
        <p:spPr>
          <a:xfrm>
            <a:off x="7918704" y="2574036"/>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Widgets render with data.</a:t>
            </a:r>
            <a:endParaRPr lang="en-US" sz="1150" dirty="0"/>
          </a:p>
        </p:txBody>
      </p:sp>
      <p:sp>
        <p:nvSpPr>
          <p:cNvPr id="20" name="Text 18"/>
          <p:cNvSpPr/>
          <p:nvPr/>
        </p:nvSpPr>
        <p:spPr>
          <a:xfrm>
            <a:off x="7626096" y="29032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7918704" y="29032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Alert counts are far lower than the raw row count from Test 3.</a:t>
            </a:r>
            <a:endParaRPr lang="en-US" sz="1150" dirty="0"/>
          </a:p>
        </p:txBody>
      </p:sp>
      <p:sp>
        <p:nvSpPr>
          <p:cNvPr id="22" name="Text 20"/>
          <p:cNvSpPr/>
          <p:nvPr/>
        </p:nvSpPr>
        <p:spPr>
          <a:xfrm>
            <a:off x="7626096" y="34198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34198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Counts stay stable as fetches repeat — they do not climb on their own.</a:t>
            </a:r>
            <a:endParaRPr lang="en-US" sz="1150" dirty="0"/>
          </a:p>
        </p:txBody>
      </p:sp>
      <p:sp>
        <p:nvSpPr>
          <p:cNvPr id="24" name="Shape 22"/>
          <p:cNvSpPr/>
          <p:nvPr/>
        </p:nvSpPr>
        <p:spPr>
          <a:xfrm>
            <a:off x="548640" y="4302252"/>
            <a:ext cx="11064240" cy="658368"/>
          </a:xfrm>
          <a:prstGeom prst="roundRect">
            <a:avLst>
              <a:gd name="adj" fmla="val 6944"/>
            </a:avLst>
          </a:prstGeom>
          <a:solidFill>
            <a:srgbClr val="1C2026"/>
          </a:solidFill>
          <a:ln w="12700">
            <a:solidFill>
              <a:srgbClr val="1C2026"/>
            </a:solidFill>
            <a:prstDash val="solid"/>
          </a:ln>
        </p:spPr>
      </p:sp>
      <p:sp>
        <p:nvSpPr>
          <p:cNvPr id="25" name="Shape 23"/>
          <p:cNvSpPr/>
          <p:nvPr/>
        </p:nvSpPr>
        <p:spPr>
          <a:xfrm>
            <a:off x="786384" y="4485132"/>
            <a:ext cx="292608" cy="292608"/>
          </a:xfrm>
          <a:prstGeom prst="roundRect">
            <a:avLst>
              <a:gd name="adj" fmla="val 28125"/>
            </a:avLst>
          </a:prstGeom>
          <a:solidFill>
            <a:srgbClr val="F5A524"/>
          </a:solidFill>
          <a:ln w="12700">
            <a:solidFill>
              <a:srgbClr val="F5A524"/>
            </a:solidFill>
            <a:prstDash val="solid"/>
          </a:ln>
        </p:spPr>
      </p:sp>
      <p:sp>
        <p:nvSpPr>
          <p:cNvPr id="26" name="Text 24"/>
          <p:cNvSpPr/>
          <p:nvPr/>
        </p:nvSpPr>
        <p:spPr>
          <a:xfrm>
            <a:off x="786384" y="448513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1243584" y="4411980"/>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A widget whose number climbs steadily while nothing new happens in KOI would be counting deliveries rather than alerts. Every widget in this pack de-duplicates first.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5</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Alert triage</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1 passing — the KOI integration answers</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 KOI alert in XSIAM (a correlation rule over koi_koi_raw, or Test 12 for simulated data)</a:t>
            </a:r>
            <a:endParaRPr lang="en-US" sz="1050" dirty="0"/>
          </a:p>
        </p:txBody>
      </p:sp>
      <p:sp>
        <p:nvSpPr>
          <p:cNvPr id="10" name="Shape 8"/>
          <p:cNvSpPr/>
          <p:nvPr/>
        </p:nvSpPr>
        <p:spPr>
          <a:xfrm>
            <a:off x="548640" y="2221992"/>
            <a:ext cx="6400800" cy="2665476"/>
          </a:xfrm>
          <a:prstGeom prst="roundRect">
            <a:avLst>
              <a:gd name="adj" fmla="val 1715"/>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a KOI alert.</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Attach the triage playbook, or run from the CLI:</a:t>
            </a:r>
            <a:endParaRPr lang="en-US" sz="11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!setPlaybook playbookId="KOI IR - Alert Triage"</a:t>
            </a:r>
            <a:endParaRPr lang="en-US" sz="1050" dirty="0"/>
          </a:p>
        </p:txBody>
      </p:sp>
      <p:sp>
        <p:nvSpPr>
          <p:cNvPr id="18" name="Text 16"/>
          <p:cNvSpPr/>
          <p:nvPr/>
        </p:nvSpPr>
        <p:spPr>
          <a:xfrm>
            <a:off x="859536" y="37764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7764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Watch the Work Plan, then read the War Room.</a:t>
            </a:r>
            <a:endParaRPr lang="en-US" sz="1150" dirty="0"/>
          </a:p>
        </p:txBody>
      </p:sp>
      <p:sp>
        <p:nvSpPr>
          <p:cNvPr id="20" name="Shape 18"/>
          <p:cNvSpPr/>
          <p:nvPr/>
        </p:nvSpPr>
        <p:spPr>
          <a:xfrm>
            <a:off x="7315200" y="2221992"/>
            <a:ext cx="4297680" cy="2665476"/>
          </a:xfrm>
          <a:prstGeom prst="roundRect">
            <a:avLst>
              <a:gd name="adj" fmla="val 1715"/>
            </a:avLst>
          </a:prstGeom>
          <a:solidFill>
            <a:srgbClr val="1C2026"/>
          </a:solidFill>
          <a:ln w="12700">
            <a:solidFill>
              <a:srgbClr val="1C2026"/>
            </a:solidFill>
            <a:prstDash val="solid"/>
          </a:ln>
        </p:spPr>
      </p:sp>
      <p:sp>
        <p:nvSpPr>
          <p:cNvPr id="21" name="Text 19"/>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2" name="Text 20"/>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27889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Context is extracted: item, marketplace, risk, host.</a:t>
            </a:r>
            <a:endParaRPr lang="en-US" sz="1150" dirty="0"/>
          </a:p>
        </p:txBody>
      </p:sp>
      <p:sp>
        <p:nvSpPr>
          <p:cNvPr id="24" name="Text 22"/>
          <p:cNvSpPr/>
          <p:nvPr/>
        </p:nvSpPr>
        <p:spPr>
          <a:xfrm>
            <a:off x="7626096" y="33055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33055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 verdict is posted: Malicious, Suspicious or Benign.</a:t>
            </a:r>
            <a:endParaRPr lang="en-US" sz="1150" dirty="0"/>
          </a:p>
        </p:txBody>
      </p:sp>
      <p:sp>
        <p:nvSpPr>
          <p:cNvPr id="26" name="Text 24"/>
          <p:cNvSpPr/>
          <p:nvPr/>
        </p:nvSpPr>
        <p:spPr>
          <a:xfrm>
            <a:off x="7626096" y="3822192"/>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822192"/>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Low risk auto-closes; critical and high escalate.</a:t>
            </a:r>
            <a:endParaRPr lang="en-US" sz="1150" dirty="0"/>
          </a:p>
        </p:txBody>
      </p:sp>
      <p:sp>
        <p:nvSpPr>
          <p:cNvPr id="28" name="Text 26"/>
          <p:cNvSpPr/>
          <p:nvPr/>
        </p:nvSpPr>
        <p:spPr>
          <a:xfrm>
            <a:off x="7626096" y="433882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4338828"/>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Medium and pending stay open for a human.</a:t>
            </a:r>
            <a:endParaRPr lang="en-US" sz="1150" dirty="0"/>
          </a:p>
        </p:txBody>
      </p:sp>
      <p:sp>
        <p:nvSpPr>
          <p:cNvPr id="30" name="Shape 28"/>
          <p:cNvSpPr/>
          <p:nvPr/>
        </p:nvSpPr>
        <p:spPr>
          <a:xfrm>
            <a:off x="548640" y="5033772"/>
            <a:ext cx="11064240" cy="658368"/>
          </a:xfrm>
          <a:prstGeom prst="roundRect">
            <a:avLst>
              <a:gd name="adj" fmla="val 6944"/>
            </a:avLst>
          </a:prstGeom>
          <a:solidFill>
            <a:srgbClr val="1C2026"/>
          </a:solidFill>
          <a:ln w="12700">
            <a:solidFill>
              <a:srgbClr val="1C2026"/>
            </a:solidFill>
            <a:prstDash val="solid"/>
          </a:ln>
        </p:spPr>
      </p:sp>
      <p:sp>
        <p:nvSpPr>
          <p:cNvPr id="31" name="Shape 29"/>
          <p:cNvSpPr/>
          <p:nvPr/>
        </p:nvSpPr>
        <p:spPr>
          <a:xfrm>
            <a:off x="786384" y="5216652"/>
            <a:ext cx="292608" cy="292608"/>
          </a:xfrm>
          <a:prstGeom prst="roundRect">
            <a:avLst>
              <a:gd name="adj" fmla="val 28125"/>
            </a:avLst>
          </a:prstGeom>
          <a:solidFill>
            <a:srgbClr val="F5A524"/>
          </a:solidFill>
          <a:ln w="12700">
            <a:solidFill>
              <a:srgbClr val="F5A524"/>
            </a:solidFill>
            <a:prstDash val="solid"/>
          </a:ln>
        </p:spPr>
      </p:sp>
      <p:sp>
        <p:nvSpPr>
          <p:cNvPr id="32" name="Text 30"/>
          <p:cNvSpPr/>
          <p:nvPr/>
        </p:nvSpPr>
        <p:spPr>
          <a:xfrm>
            <a:off x="786384" y="52166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43584" y="5143500"/>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Everything coming out Suspicious usually means the alert carried no KOI detail for the playbook to read. Check the correlation rule passes the KOI fields through. Pending means KOI has not finished scoring — it deliberately never auto-closes.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6</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Item and device investigation</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1 passing</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An item id and its marketplace, and a device id — both visible on any KOI alert</a:t>
            </a:r>
            <a:endParaRPr lang="en-US" sz="1050" dirty="0"/>
          </a:p>
        </p:txBody>
      </p:sp>
      <p:sp>
        <p:nvSpPr>
          <p:cNvPr id="10" name="Shape 8"/>
          <p:cNvSpPr/>
          <p:nvPr/>
        </p:nvSpPr>
        <p:spPr>
          <a:xfrm>
            <a:off x="548640" y="2221992"/>
            <a:ext cx="6400800" cy="2852928"/>
          </a:xfrm>
          <a:prstGeom prst="roundRect">
            <a:avLst>
              <a:gd name="adj" fmla="val 1603"/>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Playbooks → KOI IR - Investigate Item → Run.</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Supply item_id and marketplace.</a:t>
            </a:r>
            <a:endParaRPr lang="en-US" sz="11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Repeat with KOI IR - Investigate Device and a device id.</a:t>
            </a:r>
            <a:endParaRPr lang="en-US" sz="1150" dirty="0"/>
          </a:p>
        </p:txBody>
      </p:sp>
      <p:sp>
        <p:nvSpPr>
          <p:cNvPr id="18" name="Shape 16"/>
          <p:cNvSpPr/>
          <p:nvPr/>
        </p:nvSpPr>
        <p:spPr>
          <a:xfrm>
            <a:off x="7315200" y="2221992"/>
            <a:ext cx="4297680" cy="2852928"/>
          </a:xfrm>
          <a:prstGeom prst="roundRect">
            <a:avLst>
              <a:gd name="adj" fmla="val 1603"/>
            </a:avLst>
          </a:prstGeom>
          <a:solidFill>
            <a:srgbClr val="1C2026"/>
          </a:solidFill>
          <a:ln w="12700">
            <a:solidFill>
              <a:srgbClr val="1C2026"/>
            </a:solidFill>
            <a:prstDash val="solid"/>
          </a:ln>
        </p:spPr>
      </p:sp>
      <p:sp>
        <p:nvSpPr>
          <p:cNvPr id="19" name="Text 17"/>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0" name="Text 18"/>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7918704" y="27889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An investigation summary with catalog risk and an AI-written summary.</a:t>
            </a:r>
            <a:endParaRPr lang="en-US" sz="1150" dirty="0"/>
          </a:p>
        </p:txBody>
      </p:sp>
      <p:sp>
        <p:nvSpPr>
          <p:cNvPr id="22" name="Text 20"/>
          <p:cNvSpPr/>
          <p:nvPr/>
        </p:nvSpPr>
        <p:spPr>
          <a:xfrm>
            <a:off x="7626096" y="33055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33055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Organisation exposure: installs, endpoints, affected users.</a:t>
            </a:r>
            <a:endParaRPr lang="en-US" sz="1150" dirty="0"/>
          </a:p>
        </p:txBody>
      </p:sp>
      <p:sp>
        <p:nvSpPr>
          <p:cNvPr id="24" name="Text 22"/>
          <p:cNvSpPr/>
          <p:nvPr/>
        </p:nvSpPr>
        <p:spPr>
          <a:xfrm>
            <a:off x="7626096" y="3822192"/>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3822192"/>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Both governance counts — on blocklist AND on allowlist.</a:t>
            </a:r>
            <a:endParaRPr lang="en-US" sz="1150" dirty="0"/>
          </a:p>
        </p:txBody>
      </p:sp>
      <p:sp>
        <p:nvSpPr>
          <p:cNvPr id="26" name="Text 24"/>
          <p:cNvSpPr/>
          <p:nvPr/>
        </p:nvSpPr>
        <p:spPr>
          <a:xfrm>
            <a:off x="7626096" y="433882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4338828"/>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For the device: everything installed on that host, and which of it is risky.</a:t>
            </a:r>
            <a:endParaRPr lang="en-US" sz="1150" dirty="0"/>
          </a:p>
        </p:txBody>
      </p:sp>
      <p:sp>
        <p:nvSpPr>
          <p:cNvPr id="28" name="Shape 26"/>
          <p:cNvSpPr/>
          <p:nvPr/>
        </p:nvSpPr>
        <p:spPr>
          <a:xfrm>
            <a:off x="548640" y="5221224"/>
            <a:ext cx="11064240" cy="658368"/>
          </a:xfrm>
          <a:prstGeom prst="roundRect">
            <a:avLst>
              <a:gd name="adj" fmla="val 6944"/>
            </a:avLst>
          </a:prstGeom>
          <a:solidFill>
            <a:srgbClr val="1C2026"/>
          </a:solidFill>
          <a:ln w="12700">
            <a:solidFill>
              <a:srgbClr val="1C2026"/>
            </a:solidFill>
            <a:prstDash val="solid"/>
          </a:ln>
        </p:spPr>
      </p:sp>
      <p:sp>
        <p:nvSpPr>
          <p:cNvPr id="29" name="Shape 27"/>
          <p:cNvSpPr/>
          <p:nvPr/>
        </p:nvSpPr>
        <p:spPr>
          <a:xfrm>
            <a:off x="786384" y="5404104"/>
            <a:ext cx="292608" cy="292608"/>
          </a:xfrm>
          <a:prstGeom prst="roundRect">
            <a:avLst>
              <a:gd name="adj" fmla="val 28125"/>
            </a:avLst>
          </a:prstGeom>
          <a:solidFill>
            <a:srgbClr val="F5A524"/>
          </a:solidFill>
          <a:ln w="12700">
            <a:solidFill>
              <a:srgbClr val="F5A524"/>
            </a:solidFill>
            <a:prstDash val="solid"/>
          </a:ln>
        </p:spPr>
      </p:sp>
      <p:sp>
        <p:nvSpPr>
          <p:cNvPr id="30" name="Text 28"/>
          <p:cNvSpPr/>
          <p:nvPr/>
        </p:nvSpPr>
        <p:spPr>
          <a:xfrm>
            <a:off x="786384" y="5404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1243584" y="5330952"/>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Both governance counts matter. Zero blocklist hits alone does not mean nobody has governed the item — it may have been explicitly allowed, and blocking it would override that decision.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7</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Gated response</a:t>
            </a:r>
            <a:endParaRPr lang="en-US" sz="3100" dirty="0"/>
          </a:p>
        </p:txBody>
      </p:sp>
      <p:sp>
        <p:nvSpPr>
          <p:cNvPr id="4" name="Shape 2"/>
          <p:cNvSpPr/>
          <p:nvPr/>
        </p:nvSpPr>
        <p:spPr>
          <a:xfrm>
            <a:off x="548640" y="1316736"/>
            <a:ext cx="11064240" cy="918972"/>
          </a:xfrm>
          <a:prstGeom prst="roundRect">
            <a:avLst>
              <a:gd name="adj" fmla="val 4975"/>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1 passing</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An item id and marketplace</a:t>
            </a:r>
            <a:endParaRPr lang="en-US" sz="1050" dirty="0"/>
          </a:p>
        </p:txBody>
      </p:sp>
      <p:sp>
        <p:nvSpPr>
          <p:cNvPr id="10" name="Text 8"/>
          <p:cNvSpPr/>
          <p:nvPr/>
        </p:nvSpPr>
        <p:spPr>
          <a:xfrm>
            <a:off x="3749040" y="1847088"/>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3950208" y="1847088"/>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Permission to approve a task</a:t>
            </a:r>
            <a:endParaRPr lang="en-US" sz="1050" dirty="0"/>
          </a:p>
        </p:txBody>
      </p:sp>
      <p:sp>
        <p:nvSpPr>
          <p:cNvPr id="12" name="Shape 10"/>
          <p:cNvSpPr/>
          <p:nvPr/>
        </p:nvSpPr>
        <p:spPr>
          <a:xfrm>
            <a:off x="548640" y="2436876"/>
            <a:ext cx="6400800" cy="2665476"/>
          </a:xfrm>
          <a:prstGeom prst="roundRect">
            <a:avLst>
              <a:gd name="adj" fmla="val 1715"/>
            </a:avLst>
          </a:prstGeom>
          <a:solidFill>
            <a:srgbClr val="15171B"/>
          </a:solidFill>
          <a:ln w="12700">
            <a:solidFill>
              <a:srgbClr val="15171B"/>
            </a:solidFill>
            <a:prstDash val="solid"/>
          </a:ln>
        </p:spPr>
      </p:sp>
      <p:sp>
        <p:nvSpPr>
          <p:cNvPr id="13" name="Text 11"/>
          <p:cNvSpPr/>
          <p:nvPr/>
        </p:nvSpPr>
        <p:spPr>
          <a:xfrm>
            <a:off x="859536" y="2638044"/>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4" name="Text 12"/>
          <p:cNvSpPr/>
          <p:nvPr/>
        </p:nvSpPr>
        <p:spPr>
          <a:xfrm>
            <a:off x="859536" y="30038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5" name="Text 13"/>
          <p:cNvSpPr/>
          <p:nvPr/>
        </p:nvSpPr>
        <p:spPr>
          <a:xfrm>
            <a:off x="1152144" y="30038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Playbooks → KOI IR - Block and Remediate → Run.</a:t>
            </a:r>
            <a:endParaRPr lang="en-US" sz="1150" dirty="0"/>
          </a:p>
        </p:txBody>
      </p:sp>
      <p:sp>
        <p:nvSpPr>
          <p:cNvPr id="16" name="Text 14"/>
          <p:cNvSpPr/>
          <p:nvPr/>
        </p:nvSpPr>
        <p:spPr>
          <a:xfrm>
            <a:off x="859536" y="33329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7" name="Text 15"/>
          <p:cNvSpPr/>
          <p:nvPr/>
        </p:nvSpPr>
        <p:spPr>
          <a:xfrm>
            <a:off x="1152144" y="33329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Supply item_id and marketplace.</a:t>
            </a:r>
            <a:endParaRPr lang="en-US" sz="1150" dirty="0"/>
          </a:p>
        </p:txBody>
      </p:sp>
      <p:sp>
        <p:nvSpPr>
          <p:cNvPr id="18" name="Text 16"/>
          <p:cNvSpPr/>
          <p:nvPr/>
        </p:nvSpPr>
        <p:spPr>
          <a:xfrm>
            <a:off x="859536" y="36621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9" name="Text 17"/>
          <p:cNvSpPr/>
          <p:nvPr/>
        </p:nvSpPr>
        <p:spPr>
          <a:xfrm>
            <a:off x="1152144" y="36621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the pending approval task and read it.</a:t>
            </a:r>
            <a:endParaRPr lang="en-US" sz="1150" dirty="0"/>
          </a:p>
        </p:txBody>
      </p:sp>
      <p:sp>
        <p:nvSpPr>
          <p:cNvPr id="20" name="Text 18"/>
          <p:cNvSpPr/>
          <p:nvPr/>
        </p:nvSpPr>
        <p:spPr>
          <a:xfrm>
            <a:off x="859536" y="399135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21" name="Text 19"/>
          <p:cNvSpPr/>
          <p:nvPr/>
        </p:nvSpPr>
        <p:spPr>
          <a:xfrm>
            <a:off x="1152144" y="399135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Approve, or leave it pending.</a:t>
            </a:r>
            <a:endParaRPr lang="en-US" sz="1150" dirty="0"/>
          </a:p>
        </p:txBody>
      </p:sp>
      <p:sp>
        <p:nvSpPr>
          <p:cNvPr id="22" name="Shape 20"/>
          <p:cNvSpPr/>
          <p:nvPr/>
        </p:nvSpPr>
        <p:spPr>
          <a:xfrm>
            <a:off x="7315200" y="2436876"/>
            <a:ext cx="4297680" cy="2665476"/>
          </a:xfrm>
          <a:prstGeom prst="roundRect">
            <a:avLst>
              <a:gd name="adj" fmla="val 1715"/>
            </a:avLst>
          </a:prstGeom>
          <a:solidFill>
            <a:srgbClr val="1C2026"/>
          </a:solidFill>
          <a:ln w="12700">
            <a:solidFill>
              <a:srgbClr val="1C2026"/>
            </a:solidFill>
            <a:prstDash val="solid"/>
          </a:ln>
        </p:spPr>
      </p:sp>
      <p:sp>
        <p:nvSpPr>
          <p:cNvPr id="23" name="Text 21"/>
          <p:cNvSpPr/>
          <p:nvPr/>
        </p:nvSpPr>
        <p:spPr>
          <a:xfrm>
            <a:off x="7626096" y="2638044"/>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4" name="Text 22"/>
          <p:cNvSpPr/>
          <p:nvPr/>
        </p:nvSpPr>
        <p:spPr>
          <a:xfrm>
            <a:off x="7626096" y="300380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3003804"/>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run PARKS on an approval task and waits.</a:t>
            </a:r>
            <a:endParaRPr lang="en-US" sz="1150" dirty="0"/>
          </a:p>
        </p:txBody>
      </p:sp>
      <p:sp>
        <p:nvSpPr>
          <p:cNvPr id="26" name="Text 24"/>
          <p:cNvSpPr/>
          <p:nvPr/>
        </p:nvSpPr>
        <p:spPr>
          <a:xfrm>
            <a:off x="7626096" y="333298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332988"/>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approval shows the full investigation and both governance counts.</a:t>
            </a:r>
            <a:endParaRPr lang="en-US" sz="1150" dirty="0"/>
          </a:p>
        </p:txBody>
      </p:sp>
      <p:sp>
        <p:nvSpPr>
          <p:cNvPr id="28" name="Text 26"/>
          <p:cNvSpPr/>
          <p:nvPr/>
        </p:nvSpPr>
        <p:spPr>
          <a:xfrm>
            <a:off x="7626096" y="384962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3849624"/>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Nothing reaches the blocklist until a human approves.</a:t>
            </a:r>
            <a:endParaRPr lang="en-US" sz="1150" dirty="0"/>
          </a:p>
        </p:txBody>
      </p:sp>
      <p:sp>
        <p:nvSpPr>
          <p:cNvPr id="30" name="Text 28"/>
          <p:cNvSpPr/>
          <p:nvPr/>
        </p:nvSpPr>
        <p:spPr>
          <a:xfrm>
            <a:off x="7626096" y="436626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31" name="Text 29"/>
          <p:cNvSpPr/>
          <p:nvPr/>
        </p:nvSpPr>
        <p:spPr>
          <a:xfrm>
            <a:off x="7918704" y="436626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An item already blocked short-circuits instead of being added twice.</a:t>
            </a:r>
            <a:endParaRPr lang="en-US" sz="1150" dirty="0"/>
          </a:p>
        </p:txBody>
      </p:sp>
      <p:sp>
        <p:nvSpPr>
          <p:cNvPr id="32" name="Shape 30"/>
          <p:cNvSpPr/>
          <p:nvPr/>
        </p:nvSpPr>
        <p:spPr>
          <a:xfrm>
            <a:off x="548640" y="5248656"/>
            <a:ext cx="11064240" cy="658368"/>
          </a:xfrm>
          <a:prstGeom prst="roundRect">
            <a:avLst>
              <a:gd name="adj" fmla="val 6944"/>
            </a:avLst>
          </a:prstGeom>
          <a:solidFill>
            <a:srgbClr val="1C2026"/>
          </a:solidFill>
          <a:ln w="12700">
            <a:solidFill>
              <a:srgbClr val="1C2026"/>
            </a:solidFill>
            <a:prstDash val="solid"/>
          </a:ln>
        </p:spPr>
      </p:sp>
      <p:sp>
        <p:nvSpPr>
          <p:cNvPr id="33" name="Shape 31"/>
          <p:cNvSpPr/>
          <p:nvPr/>
        </p:nvSpPr>
        <p:spPr>
          <a:xfrm>
            <a:off x="786384" y="5431536"/>
            <a:ext cx="292608" cy="292608"/>
          </a:xfrm>
          <a:prstGeom prst="roundRect">
            <a:avLst>
              <a:gd name="adj" fmla="val 28125"/>
            </a:avLst>
          </a:prstGeom>
          <a:solidFill>
            <a:srgbClr val="F5A524"/>
          </a:solidFill>
          <a:ln w="12700">
            <a:solidFill>
              <a:srgbClr val="F5A524"/>
            </a:solidFill>
            <a:prstDash val="solid"/>
          </a:ln>
        </p:spPr>
      </p:sp>
      <p:sp>
        <p:nvSpPr>
          <p:cNvPr id="34" name="Text 32"/>
          <p:cNvSpPr/>
          <p:nvPr/>
        </p:nvSpPr>
        <p:spPr>
          <a:xfrm>
            <a:off x="786384" y="543153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1243584" y="5358384"/>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This is the test to repeat after any change to the response playbook. If a run ever completes without stopping for approval, stop and investigate before using the pack in production.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8</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MCP server hunt</a:t>
            </a:r>
            <a:endParaRPr lang="en-US" sz="3100" dirty="0"/>
          </a:p>
        </p:txBody>
      </p:sp>
      <p:sp>
        <p:nvSpPr>
          <p:cNvPr id="4" name="Shape 2"/>
          <p:cNvSpPr/>
          <p:nvPr/>
        </p:nvSpPr>
        <p:spPr>
          <a:xfrm>
            <a:off x="548640" y="1316736"/>
            <a:ext cx="11064240" cy="489204"/>
          </a:xfrm>
          <a:prstGeom prst="roundRect">
            <a:avLst>
              <a:gd name="adj" fmla="val 9346"/>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1 passing — the KOI integration answers</a:t>
            </a:r>
            <a:endParaRPr lang="en-US" sz="1050" dirty="0"/>
          </a:p>
        </p:txBody>
      </p:sp>
      <p:sp>
        <p:nvSpPr>
          <p:cNvPr id="8" name="Shape 6"/>
          <p:cNvSpPr/>
          <p:nvPr/>
        </p:nvSpPr>
        <p:spPr>
          <a:xfrm>
            <a:off x="548640" y="2007108"/>
            <a:ext cx="6400800" cy="2103120"/>
          </a:xfrm>
          <a:prstGeom prst="roundRect">
            <a:avLst>
              <a:gd name="adj" fmla="val 2174"/>
            </a:avLst>
          </a:prstGeom>
          <a:solidFill>
            <a:srgbClr val="15171B"/>
          </a:solidFill>
          <a:ln w="12700">
            <a:solidFill>
              <a:srgbClr val="15171B"/>
            </a:solidFill>
            <a:prstDash val="solid"/>
          </a:ln>
        </p:spPr>
      </p:sp>
      <p:sp>
        <p:nvSpPr>
          <p:cNvPr id="9" name="Text 7"/>
          <p:cNvSpPr/>
          <p:nvPr/>
        </p:nvSpPr>
        <p:spPr>
          <a:xfrm>
            <a:off x="859536" y="2208276"/>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0" name="Text 8"/>
          <p:cNvSpPr/>
          <p:nvPr/>
        </p:nvSpPr>
        <p:spPr>
          <a:xfrm>
            <a:off x="859536" y="257403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1" name="Text 9"/>
          <p:cNvSpPr/>
          <p:nvPr/>
        </p:nvSpPr>
        <p:spPr>
          <a:xfrm>
            <a:off x="1152144" y="257403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Playbooks → KOI Hunting - MCP Server Audit → Run.</a:t>
            </a:r>
            <a:endParaRPr lang="en-US" sz="1150" dirty="0"/>
          </a:p>
        </p:txBody>
      </p:sp>
      <p:sp>
        <p:nvSpPr>
          <p:cNvPr id="12" name="Text 10"/>
          <p:cNvSpPr/>
          <p:nvPr/>
        </p:nvSpPr>
        <p:spPr>
          <a:xfrm>
            <a:off x="859536" y="29032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3" name="Text 11"/>
          <p:cNvSpPr/>
          <p:nvPr/>
        </p:nvSpPr>
        <p:spPr>
          <a:xfrm>
            <a:off x="1152144" y="29032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Optionally set risk_levels (default high, critical).</a:t>
            </a:r>
            <a:endParaRPr lang="en-US" sz="1150" dirty="0"/>
          </a:p>
        </p:txBody>
      </p:sp>
      <p:sp>
        <p:nvSpPr>
          <p:cNvPr id="14" name="Text 12"/>
          <p:cNvSpPr/>
          <p:nvPr/>
        </p:nvSpPr>
        <p:spPr>
          <a:xfrm>
            <a:off x="859536" y="32324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1152144" y="32324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Read the War Room table.</a:t>
            </a:r>
            <a:endParaRPr lang="en-US" sz="1150" dirty="0"/>
          </a:p>
        </p:txBody>
      </p:sp>
      <p:sp>
        <p:nvSpPr>
          <p:cNvPr id="16" name="Text 14"/>
          <p:cNvSpPr/>
          <p:nvPr/>
        </p:nvSpPr>
        <p:spPr>
          <a:xfrm>
            <a:off x="859536" y="35615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7" name="Text 15"/>
          <p:cNvSpPr/>
          <p:nvPr/>
        </p:nvSpPr>
        <p:spPr>
          <a:xfrm>
            <a:off x="1152144" y="35615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To schedule it: Automation → Jobs → New Job, time-triggered.</a:t>
            </a:r>
            <a:endParaRPr lang="en-US" sz="1150" dirty="0"/>
          </a:p>
        </p:txBody>
      </p:sp>
      <p:sp>
        <p:nvSpPr>
          <p:cNvPr id="18" name="Shape 16"/>
          <p:cNvSpPr/>
          <p:nvPr/>
        </p:nvSpPr>
        <p:spPr>
          <a:xfrm>
            <a:off x="7315200" y="2007108"/>
            <a:ext cx="4297680" cy="2103120"/>
          </a:xfrm>
          <a:prstGeom prst="roundRect">
            <a:avLst>
              <a:gd name="adj" fmla="val 2174"/>
            </a:avLst>
          </a:prstGeom>
          <a:solidFill>
            <a:srgbClr val="1C2026"/>
          </a:solidFill>
          <a:ln w="12700">
            <a:solidFill>
              <a:srgbClr val="1C2026"/>
            </a:solidFill>
            <a:prstDash val="solid"/>
          </a:ln>
        </p:spPr>
      </p:sp>
      <p:sp>
        <p:nvSpPr>
          <p:cNvPr id="19" name="Text 17"/>
          <p:cNvSpPr/>
          <p:nvPr/>
        </p:nvSpPr>
        <p:spPr>
          <a:xfrm>
            <a:off x="7626096" y="2208276"/>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0" name="Text 18"/>
          <p:cNvSpPr/>
          <p:nvPr/>
        </p:nvSpPr>
        <p:spPr>
          <a:xfrm>
            <a:off x="7626096" y="257403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7918704" y="257403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 table of MCP servers at or above the risk threshold.</a:t>
            </a:r>
            <a:endParaRPr lang="en-US" sz="1150" dirty="0"/>
          </a:p>
        </p:txBody>
      </p:sp>
      <p:sp>
        <p:nvSpPr>
          <p:cNvPr id="22" name="Text 20"/>
          <p:cNvSpPr/>
          <p:nvPr/>
        </p:nvSpPr>
        <p:spPr>
          <a:xfrm>
            <a:off x="7626096" y="3090672"/>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3090672"/>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An empty table is a valid result — it means nothing risky is installed.</a:t>
            </a:r>
            <a:endParaRPr lang="en-US" sz="1150" dirty="0"/>
          </a:p>
        </p:txBody>
      </p:sp>
      <p:sp>
        <p:nvSpPr>
          <p:cNvPr id="24" name="Shape 22"/>
          <p:cNvSpPr/>
          <p:nvPr/>
        </p:nvSpPr>
        <p:spPr>
          <a:xfrm>
            <a:off x="548640" y="4256532"/>
            <a:ext cx="11064240" cy="658368"/>
          </a:xfrm>
          <a:prstGeom prst="roundRect">
            <a:avLst>
              <a:gd name="adj" fmla="val 6944"/>
            </a:avLst>
          </a:prstGeom>
          <a:solidFill>
            <a:srgbClr val="1C2026"/>
          </a:solidFill>
          <a:ln w="12700">
            <a:solidFill>
              <a:srgbClr val="1C2026"/>
            </a:solidFill>
            <a:prstDash val="solid"/>
          </a:ln>
        </p:spPr>
      </p:sp>
      <p:sp>
        <p:nvSpPr>
          <p:cNvPr id="25" name="Shape 23"/>
          <p:cNvSpPr/>
          <p:nvPr/>
        </p:nvSpPr>
        <p:spPr>
          <a:xfrm>
            <a:off x="786384" y="4439412"/>
            <a:ext cx="292608" cy="292608"/>
          </a:xfrm>
          <a:prstGeom prst="roundRect">
            <a:avLst>
              <a:gd name="adj" fmla="val 28125"/>
            </a:avLst>
          </a:prstGeom>
          <a:solidFill>
            <a:srgbClr val="F5A524"/>
          </a:solidFill>
          <a:ln w="12700">
            <a:solidFill>
              <a:srgbClr val="F5A524"/>
            </a:solidFill>
            <a:prstDash val="solid"/>
          </a:ln>
        </p:spPr>
      </p:sp>
      <p:sp>
        <p:nvSpPr>
          <p:cNvPr id="26" name="Text 24"/>
          <p:cNvSpPr/>
          <p:nvPr/>
        </p:nvSpPr>
        <p:spPr>
          <a:xfrm>
            <a:off x="786384" y="44394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p:nvPr/>
        </p:nvSpPr>
        <p:spPr>
          <a:xfrm>
            <a:off x="1243584" y="4366260"/>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This asks KOI what it has already scored. It finds risky agentic-AI assets without waiting for an alert about them.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9</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Script Runner — refresh the tracker</a:t>
            </a:r>
            <a:endParaRPr lang="en-US" sz="3100" dirty="0"/>
          </a:p>
        </p:txBody>
      </p:sp>
      <p:sp>
        <p:nvSpPr>
          <p:cNvPr id="4" name="Shape 2"/>
          <p:cNvSpPr/>
          <p:nvPr/>
        </p:nvSpPr>
        <p:spPr>
          <a:xfrm>
            <a:off x="548640" y="1316736"/>
            <a:ext cx="11064240" cy="1133856"/>
          </a:xfrm>
          <a:prstGeom prst="roundRect">
            <a:avLst>
              <a:gd name="adj" fmla="val 4032"/>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Core REST API integration instance configured  ← the one people miss</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The KOI deployment script — download it from YOUR KOI console, then upload it to Action Center → Scripts Library. This is KOI's script, not a Cortex one. It must take no parameters</a:t>
            </a:r>
            <a:endParaRPr lang="en-US" sz="1050" dirty="0"/>
          </a:p>
        </p:txBody>
      </p:sp>
      <p:sp>
        <p:nvSpPr>
          <p:cNvPr id="10" name="Text 8"/>
          <p:cNvSpPr/>
          <p:nvPr/>
        </p:nvSpPr>
        <p:spPr>
          <a:xfrm>
            <a:off x="3749040" y="1847088"/>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3950208" y="1847088"/>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An endpoint group — easiest is to tag the agents, then make a dynamic group on that tag</a:t>
            </a:r>
            <a:endParaRPr lang="en-US" sz="1050" dirty="0"/>
          </a:p>
        </p:txBody>
      </p:sp>
      <p:sp>
        <p:nvSpPr>
          <p:cNvPr id="12" name="Text 10"/>
          <p:cNvSpPr/>
          <p:nvPr/>
        </p:nvSpPr>
        <p:spPr>
          <a:xfrm>
            <a:off x="3749040" y="2061972"/>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3950208" y="2061972"/>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A JSON List named exactly "Koi Script Runner" — sample content ships with this pack</a:t>
            </a:r>
            <a:endParaRPr lang="en-US" sz="1050" dirty="0"/>
          </a:p>
        </p:txBody>
      </p:sp>
      <p:sp>
        <p:nvSpPr>
          <p:cNvPr id="14" name="Shape 12"/>
          <p:cNvSpPr/>
          <p:nvPr/>
        </p:nvSpPr>
        <p:spPr>
          <a:xfrm>
            <a:off x="548640" y="2651760"/>
            <a:ext cx="6400800" cy="3200400"/>
          </a:xfrm>
          <a:prstGeom prst="roundRect">
            <a:avLst>
              <a:gd name="adj" fmla="val 1429"/>
            </a:avLst>
          </a:prstGeom>
          <a:solidFill>
            <a:srgbClr val="15171B"/>
          </a:solidFill>
          <a:ln w="12700">
            <a:solidFill>
              <a:srgbClr val="15171B"/>
            </a:solidFill>
            <a:prstDash val="solid"/>
          </a:ln>
        </p:spPr>
      </p:sp>
      <p:sp>
        <p:nvSpPr>
          <p:cNvPr id="15" name="Text 13"/>
          <p:cNvSpPr/>
          <p:nvPr/>
        </p:nvSpPr>
        <p:spPr>
          <a:xfrm>
            <a:off x="859536" y="2852928"/>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6" name="Text 14"/>
          <p:cNvSpPr/>
          <p:nvPr/>
        </p:nvSpPr>
        <p:spPr>
          <a:xfrm>
            <a:off x="859536" y="32186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7" name="Text 15"/>
          <p:cNvSpPr/>
          <p:nvPr/>
        </p:nvSpPr>
        <p:spPr>
          <a:xfrm>
            <a:off x="1152144" y="3218688"/>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Settings → Object Setup → Lists → New List, type JSON, named exactly Koi Script Runner.</a:t>
            </a:r>
            <a:endParaRPr lang="en-US" sz="1150" dirty="0"/>
          </a:p>
        </p:txBody>
      </p:sp>
      <p:sp>
        <p:nvSpPr>
          <p:cNvPr id="18" name="Text 16"/>
          <p:cNvSpPr/>
          <p:nvPr/>
        </p:nvSpPr>
        <p:spPr>
          <a:xfrm>
            <a:off x="859536" y="373532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9" name="Text 17"/>
          <p:cNvSpPr/>
          <p:nvPr/>
        </p:nvSpPr>
        <p:spPr>
          <a:xfrm>
            <a:off x="1152144" y="3735324"/>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Paste the sample list content that ships with this pack (see the pack README), then edit it.</a:t>
            </a:r>
            <a:endParaRPr lang="en-US" sz="1150" dirty="0"/>
          </a:p>
        </p:txBody>
      </p:sp>
      <p:sp>
        <p:nvSpPr>
          <p:cNvPr id="20" name="Text 18"/>
          <p:cNvSpPr/>
          <p:nvPr/>
        </p:nvSpPr>
        <p:spPr>
          <a:xfrm>
            <a:off x="859536" y="425196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21" name="Text 19"/>
          <p:cNvSpPr/>
          <p:nvPr/>
        </p:nvSpPr>
        <p:spPr>
          <a:xfrm>
            <a:off x="1152144" y="4251960"/>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Set endpoint_groups to your group name and script.name to the KOI script exactly as it appears in Action Center.</a:t>
            </a:r>
            <a:endParaRPr lang="en-US" sz="1150" dirty="0"/>
          </a:p>
        </p:txBody>
      </p:sp>
      <p:sp>
        <p:nvSpPr>
          <p:cNvPr id="22" name="Text 20"/>
          <p:cNvSpPr/>
          <p:nvPr/>
        </p:nvSpPr>
        <p:spPr>
          <a:xfrm>
            <a:off x="859536" y="476859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23" name="Text 21"/>
          <p:cNvSpPr/>
          <p:nvPr/>
        </p:nvSpPr>
        <p:spPr>
          <a:xfrm>
            <a:off x="1152144" y="4768596"/>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Add one entry per operating system you deploy to — each entry pairs one script with one OS.</a:t>
            </a:r>
            <a:endParaRPr lang="en-US" sz="1150" dirty="0"/>
          </a:p>
        </p:txBody>
      </p:sp>
      <p:sp>
        <p:nvSpPr>
          <p:cNvPr id="24" name="Text 22"/>
          <p:cNvSpPr/>
          <p:nvPr/>
        </p:nvSpPr>
        <p:spPr>
          <a:xfrm>
            <a:off x="859536" y="528523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5</a:t>
            </a:r>
            <a:endParaRPr lang="en-US" sz="1150" dirty="0"/>
          </a:p>
        </p:txBody>
      </p:sp>
      <p:sp>
        <p:nvSpPr>
          <p:cNvPr id="25" name="Text 23"/>
          <p:cNvSpPr/>
          <p:nvPr/>
        </p:nvSpPr>
        <p:spPr>
          <a:xfrm>
            <a:off x="1152144" y="5285232"/>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tracker_list and rescan_interval_hours already carry working defaults — leave them unless you want a different rescan window.</a:t>
            </a:r>
            <a:endParaRPr lang="en-US" sz="1150" dirty="0"/>
          </a:p>
        </p:txBody>
      </p:sp>
      <p:sp>
        <p:nvSpPr>
          <p:cNvPr id="26" name="Text 24"/>
          <p:cNvSpPr/>
          <p:nvPr/>
        </p:nvSpPr>
        <p:spPr>
          <a:xfrm>
            <a:off x="859536" y="580186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6</a:t>
            </a:r>
            <a:endParaRPr lang="en-US" sz="1150" dirty="0"/>
          </a:p>
        </p:txBody>
      </p:sp>
      <p:sp>
        <p:nvSpPr>
          <p:cNvPr id="27" name="Text 25"/>
          <p:cNvSpPr/>
          <p:nvPr/>
        </p:nvSpPr>
        <p:spPr>
          <a:xfrm>
            <a:off x="1152144" y="5801868"/>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Jobs → New Job → time-triggered → playbook KOI Script Runner - Refresh Job.</a:t>
            </a:r>
            <a:endParaRPr lang="en-US" sz="1150" dirty="0"/>
          </a:p>
        </p:txBody>
      </p:sp>
      <p:sp>
        <p:nvSpPr>
          <p:cNvPr id="28" name="Text 26"/>
          <p:cNvSpPr/>
          <p:nvPr/>
        </p:nvSpPr>
        <p:spPr>
          <a:xfrm>
            <a:off x="859536" y="63185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7</a:t>
            </a:r>
            <a:endParaRPr lang="en-US" sz="1150" dirty="0"/>
          </a:p>
        </p:txBody>
      </p:sp>
      <p:sp>
        <p:nvSpPr>
          <p:cNvPr id="29" name="Text 27"/>
          <p:cNvSpPr/>
          <p:nvPr/>
        </p:nvSpPr>
        <p:spPr>
          <a:xfrm>
            <a:off x="1152144" y="63185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Enable the Job, then use Run now.</a:t>
            </a:r>
            <a:endParaRPr lang="en-US" sz="1150" dirty="0"/>
          </a:p>
        </p:txBody>
      </p:sp>
      <p:sp>
        <p:nvSpPr>
          <p:cNvPr id="30" name="Shape 28"/>
          <p:cNvSpPr/>
          <p:nvPr/>
        </p:nvSpPr>
        <p:spPr>
          <a:xfrm>
            <a:off x="7315200" y="2651760"/>
            <a:ext cx="4297680" cy="3200400"/>
          </a:xfrm>
          <a:prstGeom prst="roundRect">
            <a:avLst>
              <a:gd name="adj" fmla="val 1429"/>
            </a:avLst>
          </a:prstGeom>
          <a:solidFill>
            <a:srgbClr val="1C2026"/>
          </a:solidFill>
          <a:ln w="12700">
            <a:solidFill>
              <a:srgbClr val="1C2026"/>
            </a:solidFill>
            <a:prstDash val="solid"/>
          </a:ln>
        </p:spPr>
      </p:sp>
      <p:sp>
        <p:nvSpPr>
          <p:cNvPr id="31" name="Text 29"/>
          <p:cNvSpPr/>
          <p:nvPr/>
        </p:nvSpPr>
        <p:spPr>
          <a:xfrm>
            <a:off x="7626096" y="2852928"/>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32" name="Text 30"/>
          <p:cNvSpPr/>
          <p:nvPr/>
        </p:nvSpPr>
        <p:spPr>
          <a:xfrm>
            <a:off x="7626096" y="321868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33" name="Text 31"/>
          <p:cNvSpPr/>
          <p:nvPr/>
        </p:nvSpPr>
        <p:spPr>
          <a:xfrm>
            <a:off x="7918704" y="3218688"/>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 tracker List appears under Lists, named as in your entry.</a:t>
            </a:r>
            <a:endParaRPr lang="en-US" sz="1150" dirty="0"/>
          </a:p>
        </p:txBody>
      </p:sp>
      <p:sp>
        <p:nvSpPr>
          <p:cNvPr id="34" name="Text 32"/>
          <p:cNvSpPr/>
          <p:nvPr/>
        </p:nvSpPr>
        <p:spPr>
          <a:xfrm>
            <a:off x="7626096" y="373532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35" name="Text 33"/>
          <p:cNvSpPr/>
          <p:nvPr/>
        </p:nvSpPr>
        <p:spPr>
          <a:xfrm>
            <a:off x="7918704" y="3735324"/>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It fills with one row per endpoint: an id and a last-scan value.</a:t>
            </a:r>
            <a:endParaRPr lang="en-US" sz="1150" dirty="0"/>
          </a:p>
        </p:txBody>
      </p:sp>
      <p:sp>
        <p:nvSpPr>
          <p:cNvPr id="36" name="Text 34"/>
          <p:cNvSpPr/>
          <p:nvPr/>
        </p:nvSpPr>
        <p:spPr>
          <a:xfrm>
            <a:off x="7626096" y="425196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37" name="Text 35"/>
          <p:cNvSpPr/>
          <p:nvPr/>
        </p:nvSpPr>
        <p:spPr>
          <a:xfrm>
            <a:off x="7918704" y="425196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Re-running adds new endpoints without disturbing existing rows.</a:t>
            </a:r>
            <a:endParaRPr lang="en-US" sz="1150" dirty="0"/>
          </a:p>
        </p:txBody>
      </p:sp>
      <p:sp>
        <p:nvSpPr>
          <p:cNvPr id="38" name="Shape 36"/>
          <p:cNvSpPr/>
          <p:nvPr/>
        </p:nvSpPr>
        <p:spPr>
          <a:xfrm>
            <a:off x="548640" y="5998464"/>
            <a:ext cx="11064240" cy="658368"/>
          </a:xfrm>
          <a:prstGeom prst="roundRect">
            <a:avLst>
              <a:gd name="adj" fmla="val 6944"/>
            </a:avLst>
          </a:prstGeom>
          <a:solidFill>
            <a:srgbClr val="1C2026"/>
          </a:solidFill>
          <a:ln w="12700">
            <a:solidFill>
              <a:srgbClr val="1C2026"/>
            </a:solidFill>
            <a:prstDash val="solid"/>
          </a:ln>
        </p:spPr>
      </p:sp>
      <p:sp>
        <p:nvSpPr>
          <p:cNvPr id="39" name="Shape 37"/>
          <p:cNvSpPr/>
          <p:nvPr/>
        </p:nvSpPr>
        <p:spPr>
          <a:xfrm>
            <a:off x="786384" y="6181344"/>
            <a:ext cx="292608" cy="292608"/>
          </a:xfrm>
          <a:prstGeom prst="roundRect">
            <a:avLst>
              <a:gd name="adj" fmla="val 28125"/>
            </a:avLst>
          </a:prstGeom>
          <a:solidFill>
            <a:srgbClr val="F5A524"/>
          </a:solidFill>
          <a:ln w="12700">
            <a:solidFill>
              <a:srgbClr val="F5A524"/>
            </a:solidFill>
            <a:prstDash val="solid"/>
          </a:ln>
        </p:spPr>
      </p:sp>
      <p:sp>
        <p:nvSpPr>
          <p:cNvPr id="40" name="Text 38"/>
          <p:cNvSpPr/>
          <p:nvPr/>
        </p:nvSpPr>
        <p:spPr>
          <a:xfrm>
            <a:off x="786384" y="61813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1" name="Text 39"/>
          <p:cNvSpPr/>
          <p:nvPr/>
        </p:nvSpPr>
        <p:spPr>
          <a:xfrm>
            <a:off x="1243584" y="6108192"/>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Without a Core REST API instance this test cannot pass — the refresh reads endpoint groups through it. The tracker simply stays empty, which looks like a broken playbook.</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10</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Script Runner — scan due endpoints</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9 passing — the tracker List has rows</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Connected agents in the group, matching the entry's endpoint_os</a:t>
            </a:r>
            <a:endParaRPr lang="en-US" sz="1050" dirty="0"/>
          </a:p>
        </p:txBody>
      </p:sp>
      <p:sp>
        <p:nvSpPr>
          <p:cNvPr id="10" name="Shape 8"/>
          <p:cNvSpPr/>
          <p:nvPr/>
        </p:nvSpPr>
        <p:spPr>
          <a:xfrm>
            <a:off x="548640" y="2221992"/>
            <a:ext cx="6400800" cy="2852928"/>
          </a:xfrm>
          <a:prstGeom prst="roundRect">
            <a:avLst>
              <a:gd name="adj" fmla="val 1603"/>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Automation → Jobs → New Job → time-triggered → playbook KOI Script Runner - Scan Job.</a:t>
            </a:r>
            <a:endParaRPr lang="en-US" sz="1150" dirty="0"/>
          </a:p>
        </p:txBody>
      </p:sp>
      <p:sp>
        <p:nvSpPr>
          <p:cNvPr id="14" name="Text 12"/>
          <p:cNvSpPr/>
          <p:nvPr/>
        </p:nvSpPr>
        <p:spPr>
          <a:xfrm>
            <a:off x="859536" y="330555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30555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Enable the Job, then Run now.</a:t>
            </a:r>
            <a:endParaRPr lang="en-US" sz="1150" dirty="0"/>
          </a:p>
        </p:txBody>
      </p:sp>
      <p:sp>
        <p:nvSpPr>
          <p:cNvPr id="16" name="Text 14"/>
          <p:cNvSpPr/>
          <p:nvPr/>
        </p:nvSpPr>
        <p:spPr>
          <a:xfrm>
            <a:off x="859536" y="363474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63474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the run, then check Action Center.</a:t>
            </a:r>
            <a:endParaRPr lang="en-US" sz="1150" dirty="0"/>
          </a:p>
        </p:txBody>
      </p:sp>
      <p:sp>
        <p:nvSpPr>
          <p:cNvPr id="18" name="Text 16"/>
          <p:cNvSpPr/>
          <p:nvPr/>
        </p:nvSpPr>
        <p:spPr>
          <a:xfrm>
            <a:off x="859536" y="396392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96392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Run it a second time immediately.</a:t>
            </a:r>
            <a:endParaRPr lang="en-US" sz="1150" dirty="0"/>
          </a:p>
        </p:txBody>
      </p:sp>
      <p:sp>
        <p:nvSpPr>
          <p:cNvPr id="20" name="Shape 18"/>
          <p:cNvSpPr/>
          <p:nvPr/>
        </p:nvSpPr>
        <p:spPr>
          <a:xfrm>
            <a:off x="7315200" y="2221992"/>
            <a:ext cx="4297680" cy="2852928"/>
          </a:xfrm>
          <a:prstGeom prst="roundRect">
            <a:avLst>
              <a:gd name="adj" fmla="val 1603"/>
            </a:avLst>
          </a:prstGeom>
          <a:solidFill>
            <a:srgbClr val="1C2026"/>
          </a:solidFill>
          <a:ln w="12700">
            <a:solidFill>
              <a:srgbClr val="1C2026"/>
            </a:solidFill>
            <a:prstDash val="solid"/>
          </a:ln>
        </p:spPr>
      </p:sp>
      <p:sp>
        <p:nvSpPr>
          <p:cNvPr id="21" name="Text 19"/>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2" name="Text 20"/>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27889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script is dispatched to due, connected endpoints.</a:t>
            </a:r>
            <a:endParaRPr lang="en-US" sz="1150" dirty="0"/>
          </a:p>
        </p:txBody>
      </p:sp>
      <p:sp>
        <p:nvSpPr>
          <p:cNvPr id="24" name="Text 22"/>
          <p:cNvSpPr/>
          <p:nvPr/>
        </p:nvSpPr>
        <p:spPr>
          <a:xfrm>
            <a:off x="7626096" y="33055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33055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Those endpoints get a last-scan timestamp in the tracker.</a:t>
            </a:r>
            <a:endParaRPr lang="en-US" sz="1150" dirty="0"/>
          </a:p>
        </p:txBody>
      </p:sp>
      <p:sp>
        <p:nvSpPr>
          <p:cNvPr id="26" name="Text 24"/>
          <p:cNvSpPr/>
          <p:nvPr/>
        </p:nvSpPr>
        <p:spPr>
          <a:xfrm>
            <a:off x="7626096" y="3822192"/>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822192"/>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Offline, wrong-OS and unknown endpoints stay due and retry later.</a:t>
            </a:r>
            <a:endParaRPr lang="en-US" sz="1150" dirty="0"/>
          </a:p>
        </p:txBody>
      </p:sp>
      <p:sp>
        <p:nvSpPr>
          <p:cNvPr id="28" name="Text 26"/>
          <p:cNvSpPr/>
          <p:nvPr/>
        </p:nvSpPr>
        <p:spPr>
          <a:xfrm>
            <a:off x="7626096" y="4338828"/>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4338828"/>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second run does nothing — everything is inside the rescan interval.</a:t>
            </a:r>
            <a:endParaRPr lang="en-US" sz="1150" dirty="0"/>
          </a:p>
        </p:txBody>
      </p:sp>
      <p:sp>
        <p:nvSpPr>
          <p:cNvPr id="30" name="Shape 28"/>
          <p:cNvSpPr/>
          <p:nvPr/>
        </p:nvSpPr>
        <p:spPr>
          <a:xfrm>
            <a:off x="548640" y="5221224"/>
            <a:ext cx="11064240" cy="658368"/>
          </a:xfrm>
          <a:prstGeom prst="roundRect">
            <a:avLst>
              <a:gd name="adj" fmla="val 6944"/>
            </a:avLst>
          </a:prstGeom>
          <a:solidFill>
            <a:srgbClr val="1C2026"/>
          </a:solidFill>
          <a:ln w="12700">
            <a:solidFill>
              <a:srgbClr val="1C2026"/>
            </a:solidFill>
            <a:prstDash val="solid"/>
          </a:ln>
        </p:spPr>
      </p:sp>
      <p:sp>
        <p:nvSpPr>
          <p:cNvPr id="31" name="Shape 29"/>
          <p:cNvSpPr/>
          <p:nvPr/>
        </p:nvSpPr>
        <p:spPr>
          <a:xfrm>
            <a:off x="786384" y="5404104"/>
            <a:ext cx="292608" cy="292608"/>
          </a:xfrm>
          <a:prstGeom prst="roundRect">
            <a:avLst>
              <a:gd name="adj" fmla="val 28125"/>
            </a:avLst>
          </a:prstGeom>
          <a:solidFill>
            <a:srgbClr val="F5A524"/>
          </a:solidFill>
          <a:ln w="12700">
            <a:solidFill>
              <a:srgbClr val="F5A524"/>
            </a:solidFill>
            <a:prstDash val="solid"/>
          </a:ln>
        </p:spPr>
      </p:sp>
      <p:sp>
        <p:nvSpPr>
          <p:cNvPr id="32" name="Text 30"/>
          <p:cNvSpPr/>
          <p:nvPr/>
        </p:nvSpPr>
        <p:spPr>
          <a:xfrm>
            <a:off x="786384" y="5404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43584" y="5330952"/>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SKIPPED means nothing is due right now and sends no email, by design. STILL RUNNING means the script was dispatched and Action Center is finishing on its own. Neither is a failure.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11</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Threat-hunting query library</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Test 2 passing — events present</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Nothing else — the cross-dataset hunts read xdr_data, which XSIAM holds natively</a:t>
            </a:r>
            <a:endParaRPr lang="en-US" sz="1050" dirty="0"/>
          </a:p>
        </p:txBody>
      </p:sp>
      <p:sp>
        <p:nvSpPr>
          <p:cNvPr id="10" name="Shape 8"/>
          <p:cNvSpPr/>
          <p:nvPr/>
        </p:nvSpPr>
        <p:spPr>
          <a:xfrm>
            <a:off x="548640" y="2221992"/>
            <a:ext cx="6400800" cy="2148840"/>
          </a:xfrm>
          <a:prstGeom prst="roundRect">
            <a:avLst>
              <a:gd name="adj" fmla="val 2128"/>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docs/xql in the pack you were sent.</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Read QUERY_LIBRARY.md first — it explains the rules.</a:t>
            </a:r>
            <a:endParaRPr lang="en-US" sz="11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Paste a hunt into Query Builder, starting with H2.1.</a:t>
            </a:r>
            <a:endParaRPr lang="en-US" sz="1150" dirty="0"/>
          </a:p>
        </p:txBody>
      </p:sp>
      <p:sp>
        <p:nvSpPr>
          <p:cNvPr id="18" name="Text 16"/>
          <p:cNvSpPr/>
          <p:nvPr/>
        </p:nvSpPr>
        <p:spPr>
          <a:xfrm>
            <a:off x="859536" y="37764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7764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Try a detection too, for example A1.</a:t>
            </a:r>
            <a:endParaRPr lang="en-US" sz="1150" dirty="0"/>
          </a:p>
        </p:txBody>
      </p:sp>
      <p:sp>
        <p:nvSpPr>
          <p:cNvPr id="20" name="Shape 18"/>
          <p:cNvSpPr/>
          <p:nvPr/>
        </p:nvSpPr>
        <p:spPr>
          <a:xfrm>
            <a:off x="7315200" y="2221992"/>
            <a:ext cx="4297680" cy="2148840"/>
          </a:xfrm>
          <a:prstGeom prst="roundRect">
            <a:avLst>
              <a:gd name="adj" fmla="val 2128"/>
            </a:avLst>
          </a:prstGeom>
          <a:solidFill>
            <a:srgbClr val="1C2026"/>
          </a:solidFill>
          <a:ln w="12700">
            <a:solidFill>
              <a:srgbClr val="1C2026"/>
            </a:solidFill>
            <a:prstDash val="solid"/>
          </a:ln>
        </p:spPr>
      </p:sp>
      <p:sp>
        <p:nvSpPr>
          <p:cNvPr id="21" name="Text 19"/>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2" name="Text 20"/>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7918704" y="278892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Each query runs and returns rows, or a clean empty result.</a:t>
            </a:r>
            <a:endParaRPr lang="en-US" sz="1150" dirty="0"/>
          </a:p>
        </p:txBody>
      </p:sp>
      <p:sp>
        <p:nvSpPr>
          <p:cNvPr id="24" name="Text 22"/>
          <p:cNvSpPr/>
          <p:nvPr/>
        </p:nvSpPr>
        <p:spPr>
          <a:xfrm>
            <a:off x="7626096" y="3305556"/>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3305556"/>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Hunts surface findings KOI scored that nobody actioned.</a:t>
            </a:r>
            <a:endParaRPr lang="en-US" sz="1150" dirty="0"/>
          </a:p>
        </p:txBody>
      </p:sp>
      <p:sp>
        <p:nvSpPr>
          <p:cNvPr id="26" name="Text 24"/>
          <p:cNvSpPr/>
          <p:nvPr/>
        </p:nvSpPr>
        <p:spPr>
          <a:xfrm>
            <a:off x="7626096" y="3822192"/>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822192"/>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26 hunts and 46 detections are included.</a:t>
            </a:r>
            <a:endParaRPr lang="en-US" sz="1150" dirty="0"/>
          </a:p>
        </p:txBody>
      </p:sp>
      <p:sp>
        <p:nvSpPr>
          <p:cNvPr id="28" name="Shape 26"/>
          <p:cNvSpPr/>
          <p:nvPr/>
        </p:nvSpPr>
        <p:spPr>
          <a:xfrm>
            <a:off x="548640" y="4517136"/>
            <a:ext cx="11064240" cy="658368"/>
          </a:xfrm>
          <a:prstGeom prst="roundRect">
            <a:avLst>
              <a:gd name="adj" fmla="val 6944"/>
            </a:avLst>
          </a:prstGeom>
          <a:solidFill>
            <a:srgbClr val="1C2026"/>
          </a:solidFill>
          <a:ln w="12700">
            <a:solidFill>
              <a:srgbClr val="1C2026"/>
            </a:solidFill>
            <a:prstDash val="solid"/>
          </a:ln>
        </p:spPr>
      </p:sp>
      <p:sp>
        <p:nvSpPr>
          <p:cNvPr id="29" name="Shape 27"/>
          <p:cNvSpPr/>
          <p:nvPr/>
        </p:nvSpPr>
        <p:spPr>
          <a:xfrm>
            <a:off x="786384" y="4700016"/>
            <a:ext cx="292608" cy="292608"/>
          </a:xfrm>
          <a:prstGeom prst="roundRect">
            <a:avLst>
              <a:gd name="adj" fmla="val 28125"/>
            </a:avLst>
          </a:prstGeom>
          <a:solidFill>
            <a:srgbClr val="F5A524"/>
          </a:solidFill>
          <a:ln w="12700">
            <a:solidFill>
              <a:srgbClr val="F5A524"/>
            </a:solidFill>
            <a:prstDash val="solid"/>
          </a:ln>
        </p:spPr>
      </p:sp>
      <p:sp>
        <p:nvSpPr>
          <p:cNvPr id="30" name="Text 28"/>
          <p:cNvSpPr/>
          <p:nvPr/>
        </p:nvSpPr>
        <p:spPr>
          <a:xfrm>
            <a:off x="786384" y="470001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1243584" y="4626864"/>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These read raw event fields, so they keep working regardless of the modeling rule. An empty result is a valid answer, not a failure.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TEST 12</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Simulated test data</a:t>
            </a:r>
            <a:endParaRPr lang="en-US" sz="3100" dirty="0"/>
          </a:p>
        </p:txBody>
      </p:sp>
      <p:sp>
        <p:nvSpPr>
          <p:cNvPr id="4" name="Shape 2"/>
          <p:cNvSpPr/>
          <p:nvPr/>
        </p:nvSpPr>
        <p:spPr>
          <a:xfrm>
            <a:off x="548640" y="1316736"/>
            <a:ext cx="11064240" cy="704088"/>
          </a:xfrm>
          <a:prstGeom prst="roundRect">
            <a:avLst>
              <a:gd name="adj" fmla="val 6494"/>
            </a:avLst>
          </a:prstGeom>
          <a:solidFill>
            <a:srgbClr val="1C2026"/>
          </a:solidFill>
          <a:ln w="12700">
            <a:solidFill>
              <a:srgbClr val="1C2026"/>
            </a:solidFill>
            <a:prstDash val="solid"/>
          </a:ln>
        </p:spPr>
      </p:sp>
      <p:sp>
        <p:nvSpPr>
          <p:cNvPr id="5" name="Text 3"/>
          <p:cNvSpPr/>
          <p:nvPr/>
        </p:nvSpPr>
        <p:spPr>
          <a:xfrm>
            <a:off x="822960" y="1417320"/>
            <a:ext cx="2743200" cy="201168"/>
          </a:xfrm>
          <a:prstGeom prst="rect">
            <a:avLst/>
          </a:prstGeom>
          <a:noFill/>
          <a:ln/>
        </p:spPr>
        <p:txBody>
          <a:bodyPr wrap="square" lIns="0" tIns="0" rIns="0" bIns="0" rtlCol="0" anchor="t"/>
          <a:lstStyle/>
          <a:p>
            <a:pPr indent="0" marL="0">
              <a:buNone/>
            </a:pPr>
            <a:r>
              <a:rPr lang="en-US" sz="950" b="1" spc="150" kern="0" dirty="0">
                <a:solidFill>
                  <a:srgbClr val="F5A524"/>
                </a:solidFill>
                <a:latin typeface="Calibri" pitchFamily="34" charset="0"/>
                <a:ea typeface="Calibri" pitchFamily="34" charset="-122"/>
                <a:cs typeface="Calibri" pitchFamily="34" charset="-120"/>
              </a:rPr>
              <a:t>WHAT YOU NEED FIRST</a:t>
            </a:r>
            <a:endParaRPr lang="en-US" sz="950" dirty="0"/>
          </a:p>
        </p:txBody>
      </p:sp>
      <p:sp>
        <p:nvSpPr>
          <p:cNvPr id="6" name="Text 4"/>
          <p:cNvSpPr/>
          <p:nvPr/>
        </p:nvSpPr>
        <p:spPr>
          <a:xfrm>
            <a:off x="3749040" y="1417320"/>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7" name="Text 5"/>
          <p:cNvSpPr/>
          <p:nvPr/>
        </p:nvSpPr>
        <p:spPr>
          <a:xfrm>
            <a:off x="3950208" y="1417320"/>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The KoiSimulateEvents automation imported (ships in TestTools)</a:t>
            </a:r>
            <a:endParaRPr lang="en-US" sz="1050" dirty="0"/>
          </a:p>
        </p:txBody>
      </p:sp>
      <p:sp>
        <p:nvSpPr>
          <p:cNvPr id="8" name="Text 6"/>
          <p:cNvSpPr/>
          <p:nvPr/>
        </p:nvSpPr>
        <p:spPr>
          <a:xfrm>
            <a:off x="3749040" y="1632204"/>
            <a:ext cx="146304" cy="201168"/>
          </a:xfrm>
          <a:prstGeom prst="rect">
            <a:avLst/>
          </a:prstGeom>
          <a:noFill/>
          <a:ln/>
        </p:spPr>
        <p:txBody>
          <a:bodyPr wrap="square" lIns="0" tIns="0" rIns="0" bIns="0" rtlCol="0" anchor="t"/>
          <a:lstStyle/>
          <a:p>
            <a:pPr indent="0" marL="0">
              <a:buNone/>
            </a:pPr>
            <a:r>
              <a:rPr lang="en-US" sz="1100" b="1" dirty="0">
                <a:solidFill>
                  <a:srgbClr val="F5A524"/>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3950208" y="1632204"/>
            <a:ext cx="7315200" cy="201168"/>
          </a:xfrm>
          <a:prstGeom prst="rect">
            <a:avLst/>
          </a:prstGeom>
          <a:noFill/>
          <a:ln/>
        </p:spPr>
        <p:txBody>
          <a:bodyPr wrap="square" lIns="0" tIns="0" rIns="0" bIns="0" rtlCol="0" anchor="t"/>
          <a:lstStyle/>
          <a:p>
            <a:pPr indent="0" marL="0">
              <a:buNone/>
            </a:pPr>
            <a:r>
              <a:rPr lang="en-US" sz="1050" dirty="0">
                <a:solidFill>
                  <a:srgbClr val="B4B7BD"/>
                </a:solidFill>
                <a:latin typeface="Calibri" pitchFamily="34" charset="0"/>
                <a:ea typeface="Calibri" pitchFamily="34" charset="-122"/>
                <a:cs typeface="Calibri" pitchFamily="34" charset="-120"/>
              </a:rPr>
              <a:t>No KOI API key and no Core REST API needed</a:t>
            </a:r>
            <a:endParaRPr lang="en-US" sz="1050" dirty="0"/>
          </a:p>
        </p:txBody>
      </p:sp>
      <p:sp>
        <p:nvSpPr>
          <p:cNvPr id="10" name="Shape 8"/>
          <p:cNvSpPr/>
          <p:nvPr/>
        </p:nvSpPr>
        <p:spPr>
          <a:xfrm>
            <a:off x="548640" y="2221992"/>
            <a:ext cx="6400800" cy="2432304"/>
          </a:xfrm>
          <a:prstGeom prst="roundRect">
            <a:avLst>
              <a:gd name="adj" fmla="val 1880"/>
            </a:avLst>
          </a:prstGeom>
          <a:solidFill>
            <a:srgbClr val="15171B"/>
          </a:solidFill>
          <a:ln w="12700">
            <a:solidFill>
              <a:srgbClr val="15171B"/>
            </a:solidFill>
            <a:prstDash val="solid"/>
          </a:ln>
        </p:spPr>
      </p:sp>
      <p:sp>
        <p:nvSpPr>
          <p:cNvPr id="11" name="Text 9"/>
          <p:cNvSpPr/>
          <p:nvPr/>
        </p:nvSpPr>
        <p:spPr>
          <a:xfrm>
            <a:off x="859536" y="2423160"/>
            <a:ext cx="2743200" cy="256032"/>
          </a:xfrm>
          <a:prstGeom prst="rect">
            <a:avLst/>
          </a:prstGeom>
          <a:noFill/>
          <a:ln/>
        </p:spPr>
        <p:txBody>
          <a:bodyPr wrap="square" lIns="0" tIns="0" rIns="0" bIns="0" rtlCol="0" anchor="t"/>
          <a:lstStyle/>
          <a:p>
            <a:pPr indent="0" marL="0">
              <a:buNone/>
            </a:pPr>
            <a:r>
              <a:rPr lang="en-US" sz="1200" b="1" spc="100" kern="0" dirty="0">
                <a:solidFill>
                  <a:srgbClr val="E8551F"/>
                </a:solidFill>
                <a:latin typeface="Calibri" pitchFamily="34" charset="0"/>
                <a:ea typeface="Calibri" pitchFamily="34" charset="-122"/>
                <a:cs typeface="Calibri" pitchFamily="34" charset="-120"/>
              </a:rPr>
              <a:t>Steps</a:t>
            </a:r>
            <a:endParaRPr lang="en-US" sz="1200" dirty="0"/>
          </a:p>
        </p:txBody>
      </p:sp>
      <p:sp>
        <p:nvSpPr>
          <p:cNvPr id="12" name="Text 10"/>
          <p:cNvSpPr/>
          <p:nvPr/>
        </p:nvSpPr>
        <p:spPr>
          <a:xfrm>
            <a:off x="859536" y="2788920"/>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1</a:t>
            </a:r>
            <a:endParaRPr lang="en-US" sz="1150" dirty="0"/>
          </a:p>
        </p:txBody>
      </p:sp>
      <p:sp>
        <p:nvSpPr>
          <p:cNvPr id="13" name="Text 11"/>
          <p:cNvSpPr/>
          <p:nvPr/>
        </p:nvSpPr>
        <p:spPr>
          <a:xfrm>
            <a:off x="1152144" y="2788920"/>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Open the CLI on any incident.</a:t>
            </a:r>
            <a:endParaRPr lang="en-US" sz="1150" dirty="0"/>
          </a:p>
        </p:txBody>
      </p:sp>
      <p:sp>
        <p:nvSpPr>
          <p:cNvPr id="14" name="Text 12"/>
          <p:cNvSpPr/>
          <p:nvPr/>
        </p:nvSpPr>
        <p:spPr>
          <a:xfrm>
            <a:off x="859536" y="3118104"/>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152144" y="3118104"/>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Run:</a:t>
            </a:r>
            <a:endParaRPr lang="en-US" sz="1150" dirty="0"/>
          </a:p>
        </p:txBody>
      </p:sp>
      <p:sp>
        <p:nvSpPr>
          <p:cNvPr id="16" name="Text 14"/>
          <p:cNvSpPr/>
          <p:nvPr/>
        </p:nvSpPr>
        <p:spPr>
          <a:xfrm>
            <a:off x="859536" y="3447288"/>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3</a:t>
            </a:r>
            <a:endParaRPr lang="en-US" sz="1150" dirty="0"/>
          </a:p>
        </p:txBody>
      </p:sp>
      <p:sp>
        <p:nvSpPr>
          <p:cNvPr id="17" name="Text 15"/>
          <p:cNvSpPr/>
          <p:nvPr/>
        </p:nvSpPr>
        <p:spPr>
          <a:xfrm>
            <a:off x="1152144" y="3447288"/>
            <a:ext cx="5486400" cy="246888"/>
          </a:xfrm>
          <a:prstGeom prst="rect">
            <a:avLst/>
          </a:prstGeom>
          <a:noFill/>
          <a:ln/>
        </p:spPr>
        <p:txBody>
          <a:bodyPr wrap="square" lIns="0" tIns="0" rIns="0" bIns="0" rtlCol="0" anchor="t"/>
          <a:lstStyle/>
          <a:p>
            <a:pPr indent="0" marL="0">
              <a:lnSpc>
                <a:spcPts val="1500"/>
              </a:lnSpc>
              <a:buNone/>
            </a:pPr>
            <a:r>
              <a:rPr lang="en-US" sz="1050" dirty="0">
                <a:solidFill>
                  <a:srgbClr val="22D3EE"/>
                </a:solidFill>
                <a:latin typeface="Courier New" pitchFamily="34" charset="0"/>
                <a:ea typeface="Courier New" pitchFamily="34" charset="-122"/>
                <a:cs typeface="Courier New" pitchFamily="34" charset="-120"/>
              </a:rPr>
              <a:t>!KoiSimulateEvents alerts=40 duplicate_factor=8 audit=60</a:t>
            </a:r>
            <a:endParaRPr lang="en-US" sz="1050" dirty="0"/>
          </a:p>
        </p:txBody>
      </p:sp>
      <p:sp>
        <p:nvSpPr>
          <p:cNvPr id="18" name="Text 16"/>
          <p:cNvSpPr/>
          <p:nvPr/>
        </p:nvSpPr>
        <p:spPr>
          <a:xfrm>
            <a:off x="859536" y="3776472"/>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1152144" y="3776472"/>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Read the summary it prints — it tells you the answers in advance.</a:t>
            </a:r>
            <a:endParaRPr lang="en-US" sz="1150" dirty="0"/>
          </a:p>
        </p:txBody>
      </p:sp>
      <p:sp>
        <p:nvSpPr>
          <p:cNvPr id="20" name="Text 18"/>
          <p:cNvSpPr/>
          <p:nvPr/>
        </p:nvSpPr>
        <p:spPr>
          <a:xfrm>
            <a:off x="859536" y="4105656"/>
            <a:ext cx="219456" cy="256032"/>
          </a:xfrm>
          <a:prstGeom prst="rect">
            <a:avLst/>
          </a:prstGeom>
          <a:noFill/>
          <a:ln/>
        </p:spPr>
        <p:txBody>
          <a:bodyPr wrap="square" lIns="0" tIns="0" rIns="0" bIns="0" rtlCol="0" anchor="t"/>
          <a:lstStyle/>
          <a:p>
            <a:pPr indent="0" marL="0">
              <a:buNone/>
            </a:pPr>
            <a:r>
              <a:rPr lang="en-US" sz="1150" b="1" dirty="0">
                <a:solidFill>
                  <a:srgbClr val="E8551F"/>
                </a:solidFill>
                <a:latin typeface="Calibri" pitchFamily="34" charset="0"/>
                <a:ea typeface="Calibri" pitchFamily="34" charset="-122"/>
                <a:cs typeface="Calibri" pitchFamily="34" charset="-120"/>
              </a:rPr>
              <a:t>5</a:t>
            </a:r>
            <a:endParaRPr lang="en-US" sz="1150" dirty="0"/>
          </a:p>
        </p:txBody>
      </p:sp>
      <p:sp>
        <p:nvSpPr>
          <p:cNvPr id="21" name="Text 19"/>
          <p:cNvSpPr/>
          <p:nvPr/>
        </p:nvSpPr>
        <p:spPr>
          <a:xfrm>
            <a:off x="1152144" y="4105656"/>
            <a:ext cx="548640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Query koisim_koisim_raw to check them.</a:t>
            </a:r>
            <a:endParaRPr lang="en-US" sz="1150" dirty="0"/>
          </a:p>
        </p:txBody>
      </p:sp>
      <p:sp>
        <p:nvSpPr>
          <p:cNvPr id="22" name="Shape 20"/>
          <p:cNvSpPr/>
          <p:nvPr/>
        </p:nvSpPr>
        <p:spPr>
          <a:xfrm>
            <a:off x="7315200" y="2221992"/>
            <a:ext cx="4297680" cy="2432304"/>
          </a:xfrm>
          <a:prstGeom prst="roundRect">
            <a:avLst>
              <a:gd name="adj" fmla="val 1880"/>
            </a:avLst>
          </a:prstGeom>
          <a:solidFill>
            <a:srgbClr val="1C2026"/>
          </a:solidFill>
          <a:ln w="12700">
            <a:solidFill>
              <a:srgbClr val="1C2026"/>
            </a:solidFill>
            <a:prstDash val="solid"/>
          </a:ln>
        </p:spPr>
      </p:sp>
      <p:sp>
        <p:nvSpPr>
          <p:cNvPr id="23" name="Text 21"/>
          <p:cNvSpPr/>
          <p:nvPr/>
        </p:nvSpPr>
        <p:spPr>
          <a:xfrm>
            <a:off x="7626096" y="2423160"/>
            <a:ext cx="3108960" cy="256032"/>
          </a:xfrm>
          <a:prstGeom prst="rect">
            <a:avLst/>
          </a:prstGeom>
          <a:noFill/>
          <a:ln/>
        </p:spPr>
        <p:txBody>
          <a:bodyPr wrap="square" lIns="0" tIns="0" rIns="0" bIns="0" rtlCol="0" anchor="t"/>
          <a:lstStyle/>
          <a:p>
            <a:pPr indent="0" marL="0">
              <a:buNone/>
            </a:pPr>
            <a:r>
              <a:rPr lang="en-US" sz="1200" b="1" spc="100" kern="0" dirty="0">
                <a:solidFill>
                  <a:srgbClr val="3FB950"/>
                </a:solidFill>
                <a:latin typeface="Calibri" pitchFamily="34" charset="0"/>
                <a:ea typeface="Calibri" pitchFamily="34" charset="-122"/>
                <a:cs typeface="Calibri" pitchFamily="34" charset="-120"/>
              </a:rPr>
              <a:t>What to expect</a:t>
            </a:r>
            <a:endParaRPr lang="en-US" sz="1200" dirty="0"/>
          </a:p>
        </p:txBody>
      </p:sp>
      <p:sp>
        <p:nvSpPr>
          <p:cNvPr id="24" name="Text 22"/>
          <p:cNvSpPr/>
          <p:nvPr/>
        </p:nvSpPr>
        <p:spPr>
          <a:xfrm>
            <a:off x="7626096" y="278892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7918704" y="2788920"/>
            <a:ext cx="3383280" cy="246888"/>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380 events land in koisim_koisim_raw.</a:t>
            </a:r>
            <a:endParaRPr lang="en-US" sz="1150" dirty="0"/>
          </a:p>
        </p:txBody>
      </p:sp>
      <p:sp>
        <p:nvSpPr>
          <p:cNvPr id="26" name="Text 24"/>
          <p:cNvSpPr/>
          <p:nvPr/>
        </p:nvSpPr>
        <p:spPr>
          <a:xfrm>
            <a:off x="7626096" y="3118104"/>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7" name="Text 25"/>
          <p:cNvSpPr/>
          <p:nvPr/>
        </p:nvSpPr>
        <p:spPr>
          <a:xfrm>
            <a:off x="7918704" y="3118104"/>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40 distinct alerts delivered 8 times each, as real KOI does.</a:t>
            </a:r>
            <a:endParaRPr lang="en-US" sz="1150" dirty="0"/>
          </a:p>
        </p:txBody>
      </p:sp>
      <p:sp>
        <p:nvSpPr>
          <p:cNvPr id="28" name="Text 26"/>
          <p:cNvSpPr/>
          <p:nvPr/>
        </p:nvSpPr>
        <p:spPr>
          <a:xfrm>
            <a:off x="7626096" y="3634740"/>
            <a:ext cx="219456" cy="256032"/>
          </a:xfrm>
          <a:prstGeom prst="rect">
            <a:avLst/>
          </a:prstGeom>
          <a:noFill/>
          <a:ln/>
        </p:spPr>
        <p:txBody>
          <a:bodyPr wrap="square" lIns="0" tIns="0" rIns="0" bIns="0" rtlCol="0" anchor="t"/>
          <a:lstStyle/>
          <a:p>
            <a:pPr indent="0" marL="0">
              <a:buNone/>
            </a:pPr>
            <a:r>
              <a:rPr lang="en-US" sz="1150" b="1" dirty="0">
                <a:solidFill>
                  <a:srgbClr val="3FB950"/>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7918704" y="3634740"/>
            <a:ext cx="3383280" cy="438912"/>
          </a:xfrm>
          <a:prstGeom prst="rect">
            <a:avLst/>
          </a:prstGeom>
          <a:noFill/>
          <a:ln/>
        </p:spPr>
        <p:txBody>
          <a:bodyPr wrap="square" lIns="0" tIns="0" rIns="0" bIns="0" rtlCol="0" anchor="t"/>
          <a:lstStyle/>
          <a:p>
            <a:pPr indent="0" marL="0">
              <a:lnSpc>
                <a:spcPts val="1500"/>
              </a:lnSpc>
              <a:buNone/>
            </a:pPr>
            <a:r>
              <a:rPr lang="en-US" sz="1150" dirty="0">
                <a:solidFill>
                  <a:srgbClr val="B4B7BD"/>
                </a:solidFill>
                <a:latin typeface="Calibri" pitchFamily="34" charset="0"/>
                <a:ea typeface="Calibri" pitchFamily="34" charset="-122"/>
                <a:cs typeface="Calibri" pitchFamily="34" charset="-120"/>
              </a:rPr>
              <a:t>The counts you measure match the summary exactly.</a:t>
            </a:r>
            <a:endParaRPr lang="en-US" sz="1150" dirty="0"/>
          </a:p>
        </p:txBody>
      </p:sp>
      <p:sp>
        <p:nvSpPr>
          <p:cNvPr id="30" name="Shape 28"/>
          <p:cNvSpPr/>
          <p:nvPr/>
        </p:nvSpPr>
        <p:spPr>
          <a:xfrm>
            <a:off x="548640" y="4800600"/>
            <a:ext cx="11064240" cy="658368"/>
          </a:xfrm>
          <a:prstGeom prst="roundRect">
            <a:avLst>
              <a:gd name="adj" fmla="val 6944"/>
            </a:avLst>
          </a:prstGeom>
          <a:solidFill>
            <a:srgbClr val="1C2026"/>
          </a:solidFill>
          <a:ln w="12700">
            <a:solidFill>
              <a:srgbClr val="1C2026"/>
            </a:solidFill>
            <a:prstDash val="solid"/>
          </a:ln>
        </p:spPr>
      </p:sp>
      <p:sp>
        <p:nvSpPr>
          <p:cNvPr id="31" name="Shape 29"/>
          <p:cNvSpPr/>
          <p:nvPr/>
        </p:nvSpPr>
        <p:spPr>
          <a:xfrm>
            <a:off x="786384" y="4983480"/>
            <a:ext cx="292608" cy="292608"/>
          </a:xfrm>
          <a:prstGeom prst="roundRect">
            <a:avLst>
              <a:gd name="adj" fmla="val 28125"/>
            </a:avLst>
          </a:prstGeom>
          <a:solidFill>
            <a:srgbClr val="F5A524"/>
          </a:solidFill>
          <a:ln w="12700">
            <a:solidFill>
              <a:srgbClr val="F5A524"/>
            </a:solidFill>
            <a:prstDash val="solid"/>
          </a:ln>
        </p:spPr>
      </p:sp>
      <p:sp>
        <p:nvSpPr>
          <p:cNvPr id="32" name="Text 30"/>
          <p:cNvSpPr/>
          <p:nvPr/>
        </p:nvSpPr>
        <p:spPr>
          <a:xfrm>
            <a:off x="786384" y="49834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p:nvPr/>
        </p:nvSpPr>
        <p:spPr>
          <a:xfrm>
            <a:off x="1243584" y="4910328"/>
            <a:ext cx="10058400" cy="438912"/>
          </a:xfrm>
          <a:prstGeom prst="rect">
            <a:avLst/>
          </a:prstGeom>
          <a:noFill/>
          <a:ln/>
        </p:spPr>
        <p:txBody>
          <a:bodyPr wrap="square" lIns="0" tIns="0" rIns="0" bIns="0" rtlCol="0" anchor="t"/>
          <a:lstStyle/>
          <a:p>
            <a:pPr indent="0" marL="0">
              <a:lnSpc>
                <a:spcPts val="1200"/>
              </a:lnSpc>
              <a:buNone/>
            </a:pPr>
            <a:r>
              <a:rPr lang="en-US" sz="1000" dirty="0">
                <a:solidFill>
                  <a:srgbClr val="B4B7BD"/>
                </a:solidFill>
                <a:latin typeface="Calibri" pitchFamily="34" charset="0"/>
                <a:ea typeface="Calibri" pitchFamily="34" charset="-122"/>
                <a:cs typeface="Calibri" pitchFamily="34" charset="-120"/>
              </a:rPr>
              <a:t>It writes to its own dataset, never koi_koi_raw, so it cannot disturb real data. Use it to see the pack working before real KOI activity exists.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IF SOMETHING FAILS</a:t>
            </a:r>
            <a:endParaRPr lang="en-US" sz="11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Check the prerequisite before the product</a:t>
            </a:r>
            <a:endParaRPr lang="en-US" sz="3100" dirty="0"/>
          </a:p>
        </p:txBody>
      </p:sp>
      <p:sp>
        <p:nvSpPr>
          <p:cNvPr id="4" name="Shape 2"/>
          <p:cNvSpPr/>
          <p:nvPr/>
        </p:nvSpPr>
        <p:spPr>
          <a:xfrm>
            <a:off x="548640" y="1371600"/>
            <a:ext cx="11064240" cy="457200"/>
          </a:xfrm>
          <a:prstGeom prst="roundRect">
            <a:avLst>
              <a:gd name="adj" fmla="val 10000"/>
            </a:avLst>
          </a:prstGeom>
          <a:solidFill>
            <a:srgbClr val="15171B"/>
          </a:solidFill>
          <a:ln w="12700">
            <a:solidFill>
              <a:srgbClr val="15171B"/>
            </a:solidFill>
            <a:prstDash val="solid"/>
          </a:ln>
        </p:spPr>
      </p:sp>
      <p:sp>
        <p:nvSpPr>
          <p:cNvPr id="5" name="Text 3"/>
          <p:cNvSpPr/>
          <p:nvPr/>
        </p:nvSpPr>
        <p:spPr>
          <a:xfrm>
            <a:off x="822960" y="1499616"/>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403 on KOI commands</a:t>
            </a:r>
            <a:endParaRPr lang="en-US" sz="1100" dirty="0"/>
          </a:p>
        </p:txBody>
      </p:sp>
      <p:sp>
        <p:nvSpPr>
          <p:cNvPr id="6" name="Text 4"/>
          <p:cNvSpPr/>
          <p:nvPr/>
        </p:nvSpPr>
        <p:spPr>
          <a:xfrm>
            <a:off x="4023360" y="1508760"/>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Source IP not accepted by KOI</a:t>
            </a:r>
            <a:endParaRPr lang="en-US" sz="1000" dirty="0"/>
          </a:p>
        </p:txBody>
      </p:sp>
      <p:sp>
        <p:nvSpPr>
          <p:cNvPr id="7" name="Text 5"/>
          <p:cNvSpPr/>
          <p:nvPr/>
        </p:nvSpPr>
        <p:spPr>
          <a:xfrm>
            <a:off x="7315200" y="1508760"/>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Run the instance on a Cortex engine KOI accepts</a:t>
            </a:r>
            <a:endParaRPr lang="en-US" sz="1000" dirty="0"/>
          </a:p>
        </p:txBody>
      </p:sp>
      <p:sp>
        <p:nvSpPr>
          <p:cNvPr id="8" name="Shape 6"/>
          <p:cNvSpPr/>
          <p:nvPr/>
        </p:nvSpPr>
        <p:spPr>
          <a:xfrm>
            <a:off x="548640" y="1929384"/>
            <a:ext cx="11064240" cy="457200"/>
          </a:xfrm>
          <a:prstGeom prst="roundRect">
            <a:avLst>
              <a:gd name="adj" fmla="val 10000"/>
            </a:avLst>
          </a:prstGeom>
          <a:solidFill>
            <a:srgbClr val="15171B"/>
          </a:solidFill>
          <a:ln w="12700">
            <a:solidFill>
              <a:srgbClr val="15171B"/>
            </a:solidFill>
            <a:prstDash val="solid"/>
          </a:ln>
        </p:spPr>
      </p:sp>
      <p:sp>
        <p:nvSpPr>
          <p:cNvPr id="9" name="Text 7"/>
          <p:cNvSpPr/>
          <p:nvPr/>
        </p:nvSpPr>
        <p:spPr>
          <a:xfrm>
            <a:off x="822960" y="2057400"/>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401 on KOI commands</a:t>
            </a:r>
            <a:endParaRPr lang="en-US" sz="1100" dirty="0"/>
          </a:p>
        </p:txBody>
      </p:sp>
      <p:sp>
        <p:nvSpPr>
          <p:cNvPr id="10" name="Text 8"/>
          <p:cNvSpPr/>
          <p:nvPr/>
        </p:nvSpPr>
        <p:spPr>
          <a:xfrm>
            <a:off x="4023360" y="2066544"/>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The API key itself</a:t>
            </a:r>
            <a:endParaRPr lang="en-US" sz="1000" dirty="0"/>
          </a:p>
        </p:txBody>
      </p:sp>
      <p:sp>
        <p:nvSpPr>
          <p:cNvPr id="11" name="Text 9"/>
          <p:cNvSpPr/>
          <p:nvPr/>
        </p:nvSpPr>
        <p:spPr>
          <a:xfrm>
            <a:off x="7315200" y="2066544"/>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Re-create the key with the xt-Administrator role</a:t>
            </a:r>
            <a:endParaRPr lang="en-US" sz="1000" dirty="0"/>
          </a:p>
        </p:txBody>
      </p:sp>
      <p:sp>
        <p:nvSpPr>
          <p:cNvPr id="12" name="Shape 10"/>
          <p:cNvSpPr/>
          <p:nvPr/>
        </p:nvSpPr>
        <p:spPr>
          <a:xfrm>
            <a:off x="548640" y="2487168"/>
            <a:ext cx="11064240" cy="457200"/>
          </a:xfrm>
          <a:prstGeom prst="roundRect">
            <a:avLst>
              <a:gd name="adj" fmla="val 10000"/>
            </a:avLst>
          </a:prstGeom>
          <a:solidFill>
            <a:srgbClr val="15171B"/>
          </a:solidFill>
          <a:ln w="12700">
            <a:solidFill>
              <a:srgbClr val="15171B"/>
            </a:solidFill>
            <a:prstDash val="solid"/>
          </a:ln>
        </p:spPr>
      </p:sp>
      <p:sp>
        <p:nvSpPr>
          <p:cNvPr id="13" name="Text 11"/>
          <p:cNvSpPr/>
          <p:nvPr/>
        </p:nvSpPr>
        <p:spPr>
          <a:xfrm>
            <a:off x="822960" y="2615184"/>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Engine is not connected</a:t>
            </a:r>
            <a:endParaRPr lang="en-US" sz="1100" dirty="0"/>
          </a:p>
        </p:txBody>
      </p:sp>
      <p:sp>
        <p:nvSpPr>
          <p:cNvPr id="14" name="Text 12"/>
          <p:cNvSpPr/>
          <p:nvPr/>
        </p:nvSpPr>
        <p:spPr>
          <a:xfrm>
            <a:off x="4023360" y="2624328"/>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The Cortex engine is offline</a:t>
            </a:r>
            <a:endParaRPr lang="en-US" sz="1000" dirty="0"/>
          </a:p>
        </p:txBody>
      </p:sp>
      <p:sp>
        <p:nvSpPr>
          <p:cNvPr id="15" name="Text 13"/>
          <p:cNvSpPr/>
          <p:nvPr/>
        </p:nvSpPr>
        <p:spPr>
          <a:xfrm>
            <a:off x="7315200" y="2624328"/>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Every koi- command fails before reaching KOI. Restart the engine</a:t>
            </a:r>
            <a:endParaRPr lang="en-US" sz="1000" dirty="0"/>
          </a:p>
        </p:txBody>
      </p:sp>
      <p:sp>
        <p:nvSpPr>
          <p:cNvPr id="16" name="Shape 14"/>
          <p:cNvSpPr/>
          <p:nvPr/>
        </p:nvSpPr>
        <p:spPr>
          <a:xfrm>
            <a:off x="548640" y="3044952"/>
            <a:ext cx="11064240" cy="457200"/>
          </a:xfrm>
          <a:prstGeom prst="roundRect">
            <a:avLst>
              <a:gd name="adj" fmla="val 10000"/>
            </a:avLst>
          </a:prstGeom>
          <a:solidFill>
            <a:srgbClr val="15171B"/>
          </a:solidFill>
          <a:ln w="12700">
            <a:solidFill>
              <a:srgbClr val="15171B"/>
            </a:solidFill>
            <a:prstDash val="solid"/>
          </a:ln>
        </p:spPr>
      </p:sp>
      <p:sp>
        <p:nvSpPr>
          <p:cNvPr id="17" name="Text 15"/>
          <p:cNvSpPr/>
          <p:nvPr/>
        </p:nvSpPr>
        <p:spPr>
          <a:xfrm>
            <a:off x="822960" y="3172968"/>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No events after enabling fetch</a:t>
            </a:r>
            <a:endParaRPr lang="en-US" sz="1100" dirty="0"/>
          </a:p>
        </p:txBody>
      </p:sp>
      <p:sp>
        <p:nvSpPr>
          <p:cNvPr id="18" name="Text 16"/>
          <p:cNvSpPr/>
          <p:nvPr/>
        </p:nvSpPr>
        <p:spPr>
          <a:xfrm>
            <a:off x="4023360" y="3182112"/>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Only one cycle has run</a:t>
            </a:r>
            <a:endParaRPr lang="en-US" sz="1000" dirty="0"/>
          </a:p>
        </p:txBody>
      </p:sp>
      <p:sp>
        <p:nvSpPr>
          <p:cNvPr id="19" name="Text 17"/>
          <p:cNvSpPr/>
          <p:nvPr/>
        </p:nvSpPr>
        <p:spPr>
          <a:xfrm>
            <a:off x="7315200" y="3182112"/>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Wait two cycles, then re-check Test 2</a:t>
            </a:r>
            <a:endParaRPr lang="en-US" sz="1000" dirty="0"/>
          </a:p>
        </p:txBody>
      </p:sp>
      <p:sp>
        <p:nvSpPr>
          <p:cNvPr id="20" name="Shape 18"/>
          <p:cNvSpPr/>
          <p:nvPr/>
        </p:nvSpPr>
        <p:spPr>
          <a:xfrm>
            <a:off x="548640" y="3602736"/>
            <a:ext cx="11064240" cy="457200"/>
          </a:xfrm>
          <a:prstGeom prst="roundRect">
            <a:avLst>
              <a:gd name="adj" fmla="val 10000"/>
            </a:avLst>
          </a:prstGeom>
          <a:solidFill>
            <a:srgbClr val="15171B"/>
          </a:solidFill>
          <a:ln w="12700">
            <a:solidFill>
              <a:srgbClr val="15171B"/>
            </a:solidFill>
            <a:prstDash val="solid"/>
          </a:ln>
        </p:spPr>
      </p:sp>
      <p:sp>
        <p:nvSpPr>
          <p:cNvPr id="21" name="Text 19"/>
          <p:cNvSpPr/>
          <p:nvPr/>
        </p:nvSpPr>
        <p:spPr>
          <a:xfrm>
            <a:off x="822960" y="3730752"/>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Everything triages as Suspicious</a:t>
            </a:r>
            <a:endParaRPr lang="en-US" sz="1100" dirty="0"/>
          </a:p>
        </p:txBody>
      </p:sp>
      <p:sp>
        <p:nvSpPr>
          <p:cNvPr id="22" name="Text 20"/>
          <p:cNvSpPr/>
          <p:nvPr/>
        </p:nvSpPr>
        <p:spPr>
          <a:xfrm>
            <a:off x="4023360" y="3739896"/>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The alert carried no KOI detail</a:t>
            </a:r>
            <a:endParaRPr lang="en-US" sz="1000" dirty="0"/>
          </a:p>
        </p:txBody>
      </p:sp>
      <p:sp>
        <p:nvSpPr>
          <p:cNvPr id="23" name="Text 21"/>
          <p:cNvSpPr/>
          <p:nvPr/>
        </p:nvSpPr>
        <p:spPr>
          <a:xfrm>
            <a:off x="7315200" y="3739896"/>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Check the correlation rule passes KOI fields through</a:t>
            </a:r>
            <a:endParaRPr lang="en-US" sz="1000" dirty="0"/>
          </a:p>
        </p:txBody>
      </p:sp>
      <p:sp>
        <p:nvSpPr>
          <p:cNvPr id="24" name="Shape 22"/>
          <p:cNvSpPr/>
          <p:nvPr/>
        </p:nvSpPr>
        <p:spPr>
          <a:xfrm>
            <a:off x="548640" y="4160520"/>
            <a:ext cx="11064240" cy="457200"/>
          </a:xfrm>
          <a:prstGeom prst="roundRect">
            <a:avLst>
              <a:gd name="adj" fmla="val 10000"/>
            </a:avLst>
          </a:prstGeom>
          <a:solidFill>
            <a:srgbClr val="15171B"/>
          </a:solidFill>
          <a:ln w="12700">
            <a:solidFill>
              <a:srgbClr val="15171B"/>
            </a:solidFill>
            <a:prstDash val="solid"/>
          </a:ln>
        </p:spPr>
      </p:sp>
      <p:sp>
        <p:nvSpPr>
          <p:cNvPr id="25" name="Text 23"/>
          <p:cNvSpPr/>
          <p:nvPr/>
        </p:nvSpPr>
        <p:spPr>
          <a:xfrm>
            <a:off x="822960" y="4288536"/>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Tracker List stays empty</a:t>
            </a:r>
            <a:endParaRPr lang="en-US" sz="1100" dirty="0"/>
          </a:p>
        </p:txBody>
      </p:sp>
      <p:sp>
        <p:nvSpPr>
          <p:cNvPr id="26" name="Text 24"/>
          <p:cNvSpPr/>
          <p:nvPr/>
        </p:nvSpPr>
        <p:spPr>
          <a:xfrm>
            <a:off x="4023360" y="4297680"/>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No Core REST API instance</a:t>
            </a:r>
            <a:endParaRPr lang="en-US" sz="1000" dirty="0"/>
          </a:p>
        </p:txBody>
      </p:sp>
      <p:sp>
        <p:nvSpPr>
          <p:cNvPr id="27" name="Text 25"/>
          <p:cNvSpPr/>
          <p:nvPr/>
        </p:nvSpPr>
        <p:spPr>
          <a:xfrm>
            <a:off x="7315200" y="4297680"/>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Configure it — Test 9 cannot pass without it</a:t>
            </a:r>
            <a:endParaRPr lang="en-US" sz="1000" dirty="0"/>
          </a:p>
        </p:txBody>
      </p:sp>
      <p:sp>
        <p:nvSpPr>
          <p:cNvPr id="28" name="Shape 26"/>
          <p:cNvSpPr/>
          <p:nvPr/>
        </p:nvSpPr>
        <p:spPr>
          <a:xfrm>
            <a:off x="548640" y="4718304"/>
            <a:ext cx="11064240" cy="457200"/>
          </a:xfrm>
          <a:prstGeom prst="roundRect">
            <a:avLst>
              <a:gd name="adj" fmla="val 10000"/>
            </a:avLst>
          </a:prstGeom>
          <a:solidFill>
            <a:srgbClr val="15171B"/>
          </a:solidFill>
          <a:ln w="12700">
            <a:solidFill>
              <a:srgbClr val="15171B"/>
            </a:solidFill>
            <a:prstDash val="solid"/>
          </a:ln>
        </p:spPr>
      </p:sp>
      <p:sp>
        <p:nvSpPr>
          <p:cNvPr id="29" name="Text 27"/>
          <p:cNvSpPr/>
          <p:nvPr/>
        </p:nvSpPr>
        <p:spPr>
          <a:xfrm>
            <a:off x="822960" y="4846320"/>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Scan run does nothing</a:t>
            </a:r>
            <a:endParaRPr lang="en-US" sz="1100" dirty="0"/>
          </a:p>
        </p:txBody>
      </p:sp>
      <p:sp>
        <p:nvSpPr>
          <p:cNvPr id="30" name="Text 28"/>
          <p:cNvSpPr/>
          <p:nvPr/>
        </p:nvSpPr>
        <p:spPr>
          <a:xfrm>
            <a:off x="4023360" y="4855464"/>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Refresh has not run yet</a:t>
            </a:r>
            <a:endParaRPr lang="en-US" sz="1000" dirty="0"/>
          </a:p>
        </p:txBody>
      </p:sp>
      <p:sp>
        <p:nvSpPr>
          <p:cNvPr id="31" name="Text 29"/>
          <p:cNvSpPr/>
          <p:nvPr/>
        </p:nvSpPr>
        <p:spPr>
          <a:xfrm>
            <a:off x="7315200" y="4855464"/>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Run the Refresh job first; an empty tracker means nothing is due</a:t>
            </a:r>
            <a:endParaRPr lang="en-US" sz="1000" dirty="0"/>
          </a:p>
        </p:txBody>
      </p:sp>
      <p:sp>
        <p:nvSpPr>
          <p:cNvPr id="32" name="Shape 30"/>
          <p:cNvSpPr/>
          <p:nvPr/>
        </p:nvSpPr>
        <p:spPr>
          <a:xfrm>
            <a:off x="548640" y="5276088"/>
            <a:ext cx="11064240" cy="457200"/>
          </a:xfrm>
          <a:prstGeom prst="roundRect">
            <a:avLst>
              <a:gd name="adj" fmla="val 10000"/>
            </a:avLst>
          </a:prstGeom>
          <a:solidFill>
            <a:srgbClr val="15171B"/>
          </a:solidFill>
          <a:ln w="12700">
            <a:solidFill>
              <a:srgbClr val="15171B"/>
            </a:solidFill>
            <a:prstDash val="solid"/>
          </a:ln>
        </p:spPr>
      </p:sp>
      <p:sp>
        <p:nvSpPr>
          <p:cNvPr id="33" name="Text 31"/>
          <p:cNvSpPr/>
          <p:nvPr/>
        </p:nvSpPr>
        <p:spPr>
          <a:xfrm>
            <a:off x="822960" y="5404104"/>
            <a:ext cx="3017520"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 Job never fires</a:t>
            </a:r>
            <a:endParaRPr lang="en-US" sz="1100" dirty="0"/>
          </a:p>
        </p:txBody>
      </p:sp>
      <p:sp>
        <p:nvSpPr>
          <p:cNvPr id="34" name="Text 32"/>
          <p:cNvSpPr/>
          <p:nvPr/>
        </p:nvSpPr>
        <p:spPr>
          <a:xfrm>
            <a:off x="4023360" y="5413248"/>
            <a:ext cx="3108960" cy="237744"/>
          </a:xfrm>
          <a:prstGeom prst="rect">
            <a:avLst/>
          </a:prstGeom>
          <a:noFill/>
          <a:ln/>
        </p:spPr>
        <p:txBody>
          <a:bodyPr wrap="square" lIns="0" tIns="0" rIns="0" bIns="0" rtlCol="0" anchor="t"/>
          <a:lstStyle/>
          <a:p>
            <a:pPr indent="0" marL="0">
              <a:buNone/>
            </a:pPr>
            <a:r>
              <a:rPr lang="en-US" sz="1000" dirty="0">
                <a:solidFill>
                  <a:srgbClr val="F5A524"/>
                </a:solidFill>
                <a:latin typeface="Calibri" pitchFamily="34" charset="0"/>
                <a:ea typeface="Calibri" pitchFamily="34" charset="-122"/>
                <a:cs typeface="Calibri" pitchFamily="34" charset="-120"/>
              </a:rPr>
              <a:t>It was created disabled</a:t>
            </a:r>
            <a:endParaRPr lang="en-US" sz="1000" dirty="0"/>
          </a:p>
        </p:txBody>
      </p:sp>
      <p:sp>
        <p:nvSpPr>
          <p:cNvPr id="35" name="Text 33"/>
          <p:cNvSpPr/>
          <p:nvPr/>
        </p:nvSpPr>
        <p:spPr>
          <a:xfrm>
            <a:off x="7315200" y="5413248"/>
            <a:ext cx="4023360" cy="237744"/>
          </a:xfrm>
          <a:prstGeom prst="rect">
            <a:avLst/>
          </a:prstGeom>
          <a:noFill/>
          <a:ln/>
        </p:spPr>
        <p:txBody>
          <a:bodyPr wrap="square" lIns="0" tIns="0" rIns="0" bIns="0" rtlCol="0" anchor="t"/>
          <a:lstStyle/>
          <a:p>
            <a:pPr indent="0" marL="0">
              <a:buNone/>
            </a:pPr>
            <a:r>
              <a:rPr lang="en-US" sz="1000" dirty="0">
                <a:solidFill>
                  <a:srgbClr val="B4B7BD"/>
                </a:solidFill>
                <a:latin typeface="Calibri" pitchFamily="34" charset="0"/>
                <a:ea typeface="Calibri" pitchFamily="34" charset="-122"/>
                <a:cs typeface="Calibri" pitchFamily="34" charset="-120"/>
              </a:rPr>
              <a:t>Enable it and confirm a next-run time is shown</a:t>
            </a:r>
            <a:endParaRPr lang="en-US" sz="1000" dirty="0"/>
          </a:p>
        </p:txBody>
      </p:sp>
      <p:sp>
        <p:nvSpPr>
          <p:cNvPr id="36" name="Text 34"/>
          <p:cNvSpPr/>
          <p:nvPr/>
        </p:nvSpPr>
        <p:spPr>
          <a:xfrm>
            <a:off x="548640" y="5925312"/>
            <a:ext cx="11064240" cy="274320"/>
          </a:xfrm>
          <a:prstGeom prst="rect">
            <a:avLst/>
          </a:prstGeom>
          <a:noFill/>
          <a:ln/>
        </p:spPr>
        <p:txBody>
          <a:bodyPr wrap="square" lIns="0" tIns="0" rIns="0" bIns="0" rtlCol="0" anchor="t"/>
          <a:lstStyle/>
          <a:p>
            <a:pPr indent="0" marL="0">
              <a:buNone/>
            </a:pPr>
            <a:r>
              <a:rPr lang="en-US" sz="1050" i="1" dirty="0">
                <a:solidFill>
                  <a:srgbClr val="6E747E"/>
                </a:solidFill>
                <a:latin typeface="Calibri" pitchFamily="34" charset="0"/>
                <a:ea typeface="Calibri" pitchFamily="34" charset="-122"/>
                <a:cs typeface="Calibri" pitchFamily="34" charset="-120"/>
              </a:rPr>
              <a:t>Six of these eight are tenant setup, not the pack. Check the amber panel on the test before raising a defect.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0424160" y="-3108960"/>
            <a:ext cx="4389120" cy="4389120"/>
          </a:xfrm>
          <a:prstGeom prst="ellipse">
            <a:avLst/>
          </a:prstGeom>
          <a:solidFill>
            <a:srgbClr val="3FB950">
              <a:alpha val="7000"/>
            </a:srgbClr>
          </a:solidFill>
          <a:ln w="12700">
            <a:solidFill>
              <a:srgbClr val="3FB950"/>
            </a:solidFill>
            <a:prstDash val="solid"/>
          </a:ln>
        </p:spPr>
      </p:sp>
      <p:sp>
        <p:nvSpPr>
          <p:cNvPr id="3" name="Text 1"/>
          <p:cNvSpPr/>
          <p:nvPr/>
        </p:nvSpPr>
        <p:spPr>
          <a:xfrm>
            <a:off x="548640" y="384048"/>
            <a:ext cx="11064240" cy="237744"/>
          </a:xfrm>
          <a:prstGeom prst="rect">
            <a:avLst/>
          </a:prstGeom>
          <a:noFill/>
          <a:ln/>
        </p:spPr>
        <p:txBody>
          <a:bodyPr wrap="square" lIns="0" tIns="0" rIns="0" bIns="0" rtlCol="0" anchor="t"/>
          <a:lstStyle/>
          <a:p>
            <a:pPr indent="0" marL="0">
              <a:buNone/>
            </a:pPr>
            <a:r>
              <a:rPr lang="en-US" sz="1100" b="1" spc="200" kern="0" dirty="0">
                <a:solidFill>
                  <a:srgbClr val="E8551F"/>
                </a:solidFill>
                <a:latin typeface="Calibri" pitchFamily="34" charset="0"/>
                <a:ea typeface="Calibri" pitchFamily="34" charset="-122"/>
                <a:cs typeface="Calibri" pitchFamily="34" charset="-120"/>
              </a:rPr>
              <a:t>SIGN-OFF</a:t>
            </a:r>
            <a:endParaRPr lang="en-US" sz="1100" dirty="0"/>
          </a:p>
        </p:txBody>
      </p:sp>
      <p:sp>
        <p:nvSpPr>
          <p:cNvPr id="4" name="Text 2"/>
          <p:cNvSpPr/>
          <p:nvPr/>
        </p:nvSpPr>
        <p:spPr>
          <a:xfrm>
            <a:off x="548640" y="640080"/>
            <a:ext cx="11064240" cy="640080"/>
          </a:xfrm>
          <a:prstGeom prst="rect">
            <a:avLst/>
          </a:prstGeom>
          <a:noFill/>
          <a:ln/>
        </p:spPr>
        <p:txBody>
          <a:bodyPr wrap="square" lIns="0" tIns="0" rIns="0" bIns="0" rtlCol="0" anchor="t"/>
          <a:lstStyle/>
          <a:p>
            <a:pPr indent="0" marL="0">
              <a:buNone/>
            </a:pPr>
            <a:r>
              <a:rPr lang="en-US" sz="3100" b="1" dirty="0">
                <a:solidFill>
                  <a:srgbClr val="FFFFFF"/>
                </a:solidFill>
                <a:latin typeface="Calibri" pitchFamily="34" charset="0"/>
                <a:ea typeface="Calibri" pitchFamily="34" charset="-122"/>
                <a:cs typeface="Calibri" pitchFamily="34" charset="-120"/>
              </a:rPr>
              <a:t>One line of evidence per test</a:t>
            </a:r>
            <a:endParaRPr lang="en-US" sz="3100" dirty="0"/>
          </a:p>
        </p:txBody>
      </p:sp>
      <p:sp>
        <p:nvSpPr>
          <p:cNvPr id="5" name="Shape 3"/>
          <p:cNvSpPr/>
          <p:nvPr/>
        </p:nvSpPr>
        <p:spPr>
          <a:xfrm>
            <a:off x="548640" y="1417320"/>
            <a:ext cx="5349240" cy="548640"/>
          </a:xfrm>
          <a:prstGeom prst="roundRect">
            <a:avLst>
              <a:gd name="adj" fmla="val 8333"/>
            </a:avLst>
          </a:prstGeom>
          <a:solidFill>
            <a:srgbClr val="15171B"/>
          </a:solidFill>
          <a:ln w="12700">
            <a:solidFill>
              <a:srgbClr val="15171B"/>
            </a:solidFill>
            <a:prstDash val="solid"/>
          </a:ln>
        </p:spPr>
      </p:sp>
      <p:sp>
        <p:nvSpPr>
          <p:cNvPr id="6" name="Shape 4"/>
          <p:cNvSpPr/>
          <p:nvPr/>
        </p:nvSpPr>
        <p:spPr>
          <a:xfrm>
            <a:off x="749808" y="1536192"/>
            <a:ext cx="310896" cy="310896"/>
          </a:xfrm>
          <a:prstGeom prst="roundRect">
            <a:avLst>
              <a:gd name="adj" fmla="val 26471"/>
            </a:avLst>
          </a:prstGeom>
          <a:solidFill>
            <a:srgbClr val="3FB950"/>
          </a:solidFill>
          <a:ln w="12700">
            <a:solidFill>
              <a:srgbClr val="3FB950"/>
            </a:solidFill>
            <a:prstDash val="solid"/>
          </a:ln>
        </p:spPr>
      </p:sp>
      <p:sp>
        <p:nvSpPr>
          <p:cNvPr id="7" name="Text 5"/>
          <p:cNvSpPr/>
          <p:nvPr/>
        </p:nvSpPr>
        <p:spPr>
          <a:xfrm>
            <a:off x="749808" y="15361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25296" y="1554480"/>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Test returns Success; devices list returns rows</a:t>
            </a:r>
            <a:endParaRPr lang="en-US" sz="1050" dirty="0"/>
          </a:p>
        </p:txBody>
      </p:sp>
      <p:sp>
        <p:nvSpPr>
          <p:cNvPr id="9" name="Shape 7"/>
          <p:cNvSpPr/>
          <p:nvPr/>
        </p:nvSpPr>
        <p:spPr>
          <a:xfrm>
            <a:off x="548640" y="2075688"/>
            <a:ext cx="5349240" cy="548640"/>
          </a:xfrm>
          <a:prstGeom prst="roundRect">
            <a:avLst>
              <a:gd name="adj" fmla="val 8333"/>
            </a:avLst>
          </a:prstGeom>
          <a:solidFill>
            <a:srgbClr val="15171B"/>
          </a:solidFill>
          <a:ln w="12700">
            <a:solidFill>
              <a:srgbClr val="15171B"/>
            </a:solidFill>
            <a:prstDash val="solid"/>
          </a:ln>
        </p:spPr>
      </p:sp>
      <p:sp>
        <p:nvSpPr>
          <p:cNvPr id="10" name="Shape 8"/>
          <p:cNvSpPr/>
          <p:nvPr/>
        </p:nvSpPr>
        <p:spPr>
          <a:xfrm>
            <a:off x="749808" y="2194560"/>
            <a:ext cx="310896" cy="310896"/>
          </a:xfrm>
          <a:prstGeom prst="roundRect">
            <a:avLst>
              <a:gd name="adj" fmla="val 26471"/>
            </a:avLst>
          </a:prstGeom>
          <a:solidFill>
            <a:srgbClr val="3FB950"/>
          </a:solidFill>
          <a:ln w="12700">
            <a:solidFill>
              <a:srgbClr val="3FB950"/>
            </a:solidFill>
            <a:prstDash val="solid"/>
          </a:ln>
        </p:spPr>
      </p:sp>
      <p:sp>
        <p:nvSpPr>
          <p:cNvPr id="11" name="Text 9"/>
          <p:cNvSpPr/>
          <p:nvPr/>
        </p:nvSpPr>
        <p:spPr>
          <a:xfrm>
            <a:off x="749808" y="21945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25296" y="2212848"/>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koi_koi_raw grows between collection cycles</a:t>
            </a:r>
            <a:endParaRPr lang="en-US" sz="1050" dirty="0"/>
          </a:p>
        </p:txBody>
      </p:sp>
      <p:sp>
        <p:nvSpPr>
          <p:cNvPr id="13" name="Shape 11"/>
          <p:cNvSpPr/>
          <p:nvPr/>
        </p:nvSpPr>
        <p:spPr>
          <a:xfrm>
            <a:off x="548640" y="2734056"/>
            <a:ext cx="5349240" cy="548640"/>
          </a:xfrm>
          <a:prstGeom prst="roundRect">
            <a:avLst>
              <a:gd name="adj" fmla="val 8333"/>
            </a:avLst>
          </a:prstGeom>
          <a:solidFill>
            <a:srgbClr val="15171B"/>
          </a:solidFill>
          <a:ln w="12700">
            <a:solidFill>
              <a:srgbClr val="15171B"/>
            </a:solidFill>
            <a:prstDash val="solid"/>
          </a:ln>
        </p:spPr>
      </p:sp>
      <p:sp>
        <p:nvSpPr>
          <p:cNvPr id="14" name="Shape 12"/>
          <p:cNvSpPr/>
          <p:nvPr/>
        </p:nvSpPr>
        <p:spPr>
          <a:xfrm>
            <a:off x="749808" y="2852928"/>
            <a:ext cx="310896" cy="310896"/>
          </a:xfrm>
          <a:prstGeom prst="roundRect">
            <a:avLst>
              <a:gd name="adj" fmla="val 26471"/>
            </a:avLst>
          </a:prstGeom>
          <a:solidFill>
            <a:srgbClr val="3FB950"/>
          </a:solidFill>
          <a:ln w="12700">
            <a:solidFill>
              <a:srgbClr val="3FB950"/>
            </a:solidFill>
            <a:prstDash val="solid"/>
          </a:ln>
        </p:spPr>
      </p:sp>
      <p:sp>
        <p:nvSpPr>
          <p:cNvPr id="15" name="Text 13"/>
          <p:cNvSpPr/>
          <p:nvPr/>
        </p:nvSpPr>
        <p:spPr>
          <a:xfrm>
            <a:off x="749808" y="28529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225296" y="2871216"/>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Distinct alerts far below raw rows — and that is correct</a:t>
            </a:r>
            <a:endParaRPr lang="en-US" sz="1050" dirty="0"/>
          </a:p>
        </p:txBody>
      </p:sp>
      <p:sp>
        <p:nvSpPr>
          <p:cNvPr id="17" name="Shape 15"/>
          <p:cNvSpPr/>
          <p:nvPr/>
        </p:nvSpPr>
        <p:spPr>
          <a:xfrm>
            <a:off x="548640" y="3392424"/>
            <a:ext cx="5349240" cy="548640"/>
          </a:xfrm>
          <a:prstGeom prst="roundRect">
            <a:avLst>
              <a:gd name="adj" fmla="val 8333"/>
            </a:avLst>
          </a:prstGeom>
          <a:solidFill>
            <a:srgbClr val="15171B"/>
          </a:solidFill>
          <a:ln w="12700">
            <a:solidFill>
              <a:srgbClr val="15171B"/>
            </a:solidFill>
            <a:prstDash val="solid"/>
          </a:ln>
        </p:spPr>
      </p:sp>
      <p:sp>
        <p:nvSpPr>
          <p:cNvPr id="18" name="Shape 16"/>
          <p:cNvSpPr/>
          <p:nvPr/>
        </p:nvSpPr>
        <p:spPr>
          <a:xfrm>
            <a:off x="749808" y="3511296"/>
            <a:ext cx="310896" cy="310896"/>
          </a:xfrm>
          <a:prstGeom prst="roundRect">
            <a:avLst>
              <a:gd name="adj" fmla="val 26471"/>
            </a:avLst>
          </a:prstGeom>
          <a:solidFill>
            <a:srgbClr val="3FB950"/>
          </a:solidFill>
          <a:ln w="12700">
            <a:solidFill>
              <a:srgbClr val="3FB950"/>
            </a:solidFill>
            <a:prstDash val="solid"/>
          </a:ln>
        </p:spPr>
      </p:sp>
      <p:sp>
        <p:nvSpPr>
          <p:cNvPr id="19" name="Text 17"/>
          <p:cNvSpPr/>
          <p:nvPr/>
        </p:nvSpPr>
        <p:spPr>
          <a:xfrm>
            <a:off x="749808" y="3511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225296" y="3529584"/>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Dashboard renders; counts stay stable across fetches</a:t>
            </a:r>
            <a:endParaRPr lang="en-US" sz="1050" dirty="0"/>
          </a:p>
        </p:txBody>
      </p:sp>
      <p:sp>
        <p:nvSpPr>
          <p:cNvPr id="21" name="Shape 19"/>
          <p:cNvSpPr/>
          <p:nvPr/>
        </p:nvSpPr>
        <p:spPr>
          <a:xfrm>
            <a:off x="548640" y="4050792"/>
            <a:ext cx="5349240" cy="548640"/>
          </a:xfrm>
          <a:prstGeom prst="roundRect">
            <a:avLst>
              <a:gd name="adj" fmla="val 8333"/>
            </a:avLst>
          </a:prstGeom>
          <a:solidFill>
            <a:srgbClr val="15171B"/>
          </a:solidFill>
          <a:ln w="12700">
            <a:solidFill>
              <a:srgbClr val="15171B"/>
            </a:solidFill>
            <a:prstDash val="solid"/>
          </a:ln>
        </p:spPr>
      </p:sp>
      <p:sp>
        <p:nvSpPr>
          <p:cNvPr id="22" name="Shape 20"/>
          <p:cNvSpPr/>
          <p:nvPr/>
        </p:nvSpPr>
        <p:spPr>
          <a:xfrm>
            <a:off x="749808" y="4169664"/>
            <a:ext cx="310896" cy="310896"/>
          </a:xfrm>
          <a:prstGeom prst="roundRect">
            <a:avLst>
              <a:gd name="adj" fmla="val 26471"/>
            </a:avLst>
          </a:prstGeom>
          <a:solidFill>
            <a:srgbClr val="3FB950"/>
          </a:solidFill>
          <a:ln w="12700">
            <a:solidFill>
              <a:srgbClr val="3FB950"/>
            </a:solidFill>
            <a:prstDash val="solid"/>
          </a:ln>
        </p:spPr>
      </p:sp>
      <p:sp>
        <p:nvSpPr>
          <p:cNvPr id="23" name="Text 21"/>
          <p:cNvSpPr/>
          <p:nvPr/>
        </p:nvSpPr>
        <p:spPr>
          <a:xfrm>
            <a:off x="749808" y="41696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225296" y="4187952"/>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A verdict is reached; low risk auto-closes</a:t>
            </a:r>
            <a:endParaRPr lang="en-US" sz="1050" dirty="0"/>
          </a:p>
        </p:txBody>
      </p:sp>
      <p:sp>
        <p:nvSpPr>
          <p:cNvPr id="25" name="Shape 23"/>
          <p:cNvSpPr/>
          <p:nvPr/>
        </p:nvSpPr>
        <p:spPr>
          <a:xfrm>
            <a:off x="548640" y="4709160"/>
            <a:ext cx="5349240" cy="548640"/>
          </a:xfrm>
          <a:prstGeom prst="roundRect">
            <a:avLst>
              <a:gd name="adj" fmla="val 8333"/>
            </a:avLst>
          </a:prstGeom>
          <a:solidFill>
            <a:srgbClr val="15171B"/>
          </a:solidFill>
          <a:ln w="12700">
            <a:solidFill>
              <a:srgbClr val="15171B"/>
            </a:solidFill>
            <a:prstDash val="solid"/>
          </a:ln>
        </p:spPr>
      </p:sp>
      <p:sp>
        <p:nvSpPr>
          <p:cNvPr id="26" name="Shape 24"/>
          <p:cNvSpPr/>
          <p:nvPr/>
        </p:nvSpPr>
        <p:spPr>
          <a:xfrm>
            <a:off x="749808" y="4828032"/>
            <a:ext cx="310896" cy="310896"/>
          </a:xfrm>
          <a:prstGeom prst="roundRect">
            <a:avLst>
              <a:gd name="adj" fmla="val 26471"/>
            </a:avLst>
          </a:prstGeom>
          <a:solidFill>
            <a:srgbClr val="3FB950"/>
          </a:solidFill>
          <a:ln w="12700">
            <a:solidFill>
              <a:srgbClr val="3FB950"/>
            </a:solidFill>
            <a:prstDash val="solid"/>
          </a:ln>
        </p:spPr>
      </p:sp>
      <p:sp>
        <p:nvSpPr>
          <p:cNvPr id="27" name="Text 25"/>
          <p:cNvSpPr/>
          <p:nvPr/>
        </p:nvSpPr>
        <p:spPr>
          <a:xfrm>
            <a:off x="749808" y="4828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225296" y="4846320"/>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Investigation shows catalog risk and both governance counts</a:t>
            </a:r>
            <a:endParaRPr lang="en-US" sz="1050" dirty="0"/>
          </a:p>
        </p:txBody>
      </p:sp>
      <p:sp>
        <p:nvSpPr>
          <p:cNvPr id="29" name="Shape 27"/>
          <p:cNvSpPr/>
          <p:nvPr/>
        </p:nvSpPr>
        <p:spPr>
          <a:xfrm>
            <a:off x="6263640" y="1417320"/>
            <a:ext cx="5349240" cy="548640"/>
          </a:xfrm>
          <a:prstGeom prst="roundRect">
            <a:avLst>
              <a:gd name="adj" fmla="val 8333"/>
            </a:avLst>
          </a:prstGeom>
          <a:solidFill>
            <a:srgbClr val="15171B"/>
          </a:solidFill>
          <a:ln w="12700">
            <a:solidFill>
              <a:srgbClr val="15171B"/>
            </a:solidFill>
            <a:prstDash val="solid"/>
          </a:ln>
        </p:spPr>
      </p:sp>
      <p:sp>
        <p:nvSpPr>
          <p:cNvPr id="30" name="Shape 28"/>
          <p:cNvSpPr/>
          <p:nvPr/>
        </p:nvSpPr>
        <p:spPr>
          <a:xfrm>
            <a:off x="6464808" y="1536192"/>
            <a:ext cx="310896" cy="310896"/>
          </a:xfrm>
          <a:prstGeom prst="roundRect">
            <a:avLst>
              <a:gd name="adj" fmla="val 26471"/>
            </a:avLst>
          </a:prstGeom>
          <a:solidFill>
            <a:srgbClr val="3FB950"/>
          </a:solidFill>
          <a:ln w="12700">
            <a:solidFill>
              <a:srgbClr val="3FB950"/>
            </a:solidFill>
            <a:prstDash val="solid"/>
          </a:ln>
        </p:spPr>
      </p:sp>
      <p:sp>
        <p:nvSpPr>
          <p:cNvPr id="31" name="Text 29"/>
          <p:cNvSpPr/>
          <p:nvPr/>
        </p:nvSpPr>
        <p:spPr>
          <a:xfrm>
            <a:off x="6464808" y="15361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2" name="Text 30"/>
          <p:cNvSpPr/>
          <p:nvPr/>
        </p:nvSpPr>
        <p:spPr>
          <a:xfrm>
            <a:off x="6940296" y="1554480"/>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Response parks on approval; blocklist untouched until approved</a:t>
            </a:r>
            <a:endParaRPr lang="en-US" sz="1050" dirty="0"/>
          </a:p>
        </p:txBody>
      </p:sp>
      <p:sp>
        <p:nvSpPr>
          <p:cNvPr id="33" name="Shape 31"/>
          <p:cNvSpPr/>
          <p:nvPr/>
        </p:nvSpPr>
        <p:spPr>
          <a:xfrm>
            <a:off x="6263640" y="2075688"/>
            <a:ext cx="5349240" cy="548640"/>
          </a:xfrm>
          <a:prstGeom prst="roundRect">
            <a:avLst>
              <a:gd name="adj" fmla="val 8333"/>
            </a:avLst>
          </a:prstGeom>
          <a:solidFill>
            <a:srgbClr val="15171B"/>
          </a:solidFill>
          <a:ln w="12700">
            <a:solidFill>
              <a:srgbClr val="15171B"/>
            </a:solidFill>
            <a:prstDash val="solid"/>
          </a:ln>
        </p:spPr>
      </p:sp>
      <p:sp>
        <p:nvSpPr>
          <p:cNvPr id="34" name="Shape 32"/>
          <p:cNvSpPr/>
          <p:nvPr/>
        </p:nvSpPr>
        <p:spPr>
          <a:xfrm>
            <a:off x="6464808" y="2194560"/>
            <a:ext cx="310896" cy="310896"/>
          </a:xfrm>
          <a:prstGeom prst="roundRect">
            <a:avLst>
              <a:gd name="adj" fmla="val 26471"/>
            </a:avLst>
          </a:prstGeom>
          <a:solidFill>
            <a:srgbClr val="3FB950"/>
          </a:solidFill>
          <a:ln w="12700">
            <a:solidFill>
              <a:srgbClr val="3FB950"/>
            </a:solidFill>
            <a:prstDash val="solid"/>
          </a:ln>
        </p:spPr>
      </p:sp>
      <p:sp>
        <p:nvSpPr>
          <p:cNvPr id="35" name="Text 33"/>
          <p:cNvSpPr/>
          <p:nvPr/>
        </p:nvSpPr>
        <p:spPr>
          <a:xfrm>
            <a:off x="6464808" y="21945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6" name="Text 34"/>
          <p:cNvSpPr/>
          <p:nvPr/>
        </p:nvSpPr>
        <p:spPr>
          <a:xfrm>
            <a:off x="6940296" y="2212848"/>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MCP audit returns servers at or above the threshold</a:t>
            </a:r>
            <a:endParaRPr lang="en-US" sz="1050" dirty="0"/>
          </a:p>
        </p:txBody>
      </p:sp>
      <p:sp>
        <p:nvSpPr>
          <p:cNvPr id="37" name="Shape 35"/>
          <p:cNvSpPr/>
          <p:nvPr/>
        </p:nvSpPr>
        <p:spPr>
          <a:xfrm>
            <a:off x="6263640" y="2734056"/>
            <a:ext cx="5349240" cy="548640"/>
          </a:xfrm>
          <a:prstGeom prst="roundRect">
            <a:avLst>
              <a:gd name="adj" fmla="val 8333"/>
            </a:avLst>
          </a:prstGeom>
          <a:solidFill>
            <a:srgbClr val="15171B"/>
          </a:solidFill>
          <a:ln w="12700">
            <a:solidFill>
              <a:srgbClr val="15171B"/>
            </a:solidFill>
            <a:prstDash val="solid"/>
          </a:ln>
        </p:spPr>
      </p:sp>
      <p:sp>
        <p:nvSpPr>
          <p:cNvPr id="38" name="Shape 36"/>
          <p:cNvSpPr/>
          <p:nvPr/>
        </p:nvSpPr>
        <p:spPr>
          <a:xfrm>
            <a:off x="6464808" y="2852928"/>
            <a:ext cx="310896" cy="310896"/>
          </a:xfrm>
          <a:prstGeom prst="roundRect">
            <a:avLst>
              <a:gd name="adj" fmla="val 26471"/>
            </a:avLst>
          </a:prstGeom>
          <a:solidFill>
            <a:srgbClr val="3FB950"/>
          </a:solidFill>
          <a:ln w="12700">
            <a:solidFill>
              <a:srgbClr val="3FB950"/>
            </a:solidFill>
            <a:prstDash val="solid"/>
          </a:ln>
        </p:spPr>
      </p:sp>
      <p:sp>
        <p:nvSpPr>
          <p:cNvPr id="39" name="Text 37"/>
          <p:cNvSpPr/>
          <p:nvPr/>
        </p:nvSpPr>
        <p:spPr>
          <a:xfrm>
            <a:off x="6464808" y="28529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0" name="Text 38"/>
          <p:cNvSpPr/>
          <p:nvPr/>
        </p:nvSpPr>
        <p:spPr>
          <a:xfrm>
            <a:off x="6940296" y="2871216"/>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Tracker List is created and fills with endpoints</a:t>
            </a:r>
            <a:endParaRPr lang="en-US" sz="1050" dirty="0"/>
          </a:p>
        </p:txBody>
      </p:sp>
      <p:sp>
        <p:nvSpPr>
          <p:cNvPr id="41" name="Shape 39"/>
          <p:cNvSpPr/>
          <p:nvPr/>
        </p:nvSpPr>
        <p:spPr>
          <a:xfrm>
            <a:off x="6263640" y="3392424"/>
            <a:ext cx="5349240" cy="548640"/>
          </a:xfrm>
          <a:prstGeom prst="roundRect">
            <a:avLst>
              <a:gd name="adj" fmla="val 8333"/>
            </a:avLst>
          </a:prstGeom>
          <a:solidFill>
            <a:srgbClr val="15171B"/>
          </a:solidFill>
          <a:ln w="12700">
            <a:solidFill>
              <a:srgbClr val="15171B"/>
            </a:solidFill>
            <a:prstDash val="solid"/>
          </a:ln>
        </p:spPr>
      </p:sp>
      <p:sp>
        <p:nvSpPr>
          <p:cNvPr id="42" name="Shape 40"/>
          <p:cNvSpPr/>
          <p:nvPr/>
        </p:nvSpPr>
        <p:spPr>
          <a:xfrm>
            <a:off x="6464808" y="3511296"/>
            <a:ext cx="310896" cy="310896"/>
          </a:xfrm>
          <a:prstGeom prst="roundRect">
            <a:avLst>
              <a:gd name="adj" fmla="val 26471"/>
            </a:avLst>
          </a:prstGeom>
          <a:solidFill>
            <a:srgbClr val="3FB950"/>
          </a:solidFill>
          <a:ln w="12700">
            <a:solidFill>
              <a:srgbClr val="3FB950"/>
            </a:solidFill>
            <a:prstDash val="solid"/>
          </a:ln>
        </p:spPr>
      </p:sp>
      <p:sp>
        <p:nvSpPr>
          <p:cNvPr id="43" name="Text 41"/>
          <p:cNvSpPr/>
          <p:nvPr/>
        </p:nvSpPr>
        <p:spPr>
          <a:xfrm>
            <a:off x="6464808" y="3511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4" name="Text 42"/>
          <p:cNvSpPr/>
          <p:nvPr/>
        </p:nvSpPr>
        <p:spPr>
          <a:xfrm>
            <a:off x="6940296" y="3529584"/>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Scan marks only due, connected endpoints; re-run is a no-op</a:t>
            </a:r>
            <a:endParaRPr lang="en-US" sz="1050" dirty="0"/>
          </a:p>
        </p:txBody>
      </p:sp>
      <p:sp>
        <p:nvSpPr>
          <p:cNvPr id="45" name="Shape 43"/>
          <p:cNvSpPr/>
          <p:nvPr/>
        </p:nvSpPr>
        <p:spPr>
          <a:xfrm>
            <a:off x="6263640" y="4050792"/>
            <a:ext cx="5349240" cy="548640"/>
          </a:xfrm>
          <a:prstGeom prst="roundRect">
            <a:avLst>
              <a:gd name="adj" fmla="val 8333"/>
            </a:avLst>
          </a:prstGeom>
          <a:solidFill>
            <a:srgbClr val="15171B"/>
          </a:solidFill>
          <a:ln w="12700">
            <a:solidFill>
              <a:srgbClr val="15171B"/>
            </a:solidFill>
            <a:prstDash val="solid"/>
          </a:ln>
        </p:spPr>
      </p:sp>
      <p:sp>
        <p:nvSpPr>
          <p:cNvPr id="46" name="Shape 44"/>
          <p:cNvSpPr/>
          <p:nvPr/>
        </p:nvSpPr>
        <p:spPr>
          <a:xfrm>
            <a:off x="6464808" y="4169664"/>
            <a:ext cx="310896" cy="310896"/>
          </a:xfrm>
          <a:prstGeom prst="roundRect">
            <a:avLst>
              <a:gd name="adj" fmla="val 26471"/>
            </a:avLst>
          </a:prstGeom>
          <a:solidFill>
            <a:srgbClr val="3FB950"/>
          </a:solidFill>
          <a:ln w="12700">
            <a:solidFill>
              <a:srgbClr val="3FB950"/>
            </a:solidFill>
            <a:prstDash val="solid"/>
          </a:ln>
        </p:spPr>
      </p:sp>
      <p:sp>
        <p:nvSpPr>
          <p:cNvPr id="47" name="Text 45"/>
          <p:cNvSpPr/>
          <p:nvPr/>
        </p:nvSpPr>
        <p:spPr>
          <a:xfrm>
            <a:off x="6464808" y="41696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8" name="Text 46"/>
          <p:cNvSpPr/>
          <p:nvPr/>
        </p:nvSpPr>
        <p:spPr>
          <a:xfrm>
            <a:off x="6940296" y="4187952"/>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Library queries run and return results</a:t>
            </a:r>
            <a:endParaRPr lang="en-US" sz="1050" dirty="0"/>
          </a:p>
        </p:txBody>
      </p:sp>
      <p:sp>
        <p:nvSpPr>
          <p:cNvPr id="49" name="Shape 47"/>
          <p:cNvSpPr/>
          <p:nvPr/>
        </p:nvSpPr>
        <p:spPr>
          <a:xfrm>
            <a:off x="6263640" y="4709160"/>
            <a:ext cx="5349240" cy="548640"/>
          </a:xfrm>
          <a:prstGeom prst="roundRect">
            <a:avLst>
              <a:gd name="adj" fmla="val 8333"/>
            </a:avLst>
          </a:prstGeom>
          <a:solidFill>
            <a:srgbClr val="15171B"/>
          </a:solidFill>
          <a:ln w="12700">
            <a:solidFill>
              <a:srgbClr val="15171B"/>
            </a:solidFill>
            <a:prstDash val="solid"/>
          </a:ln>
        </p:spPr>
      </p:sp>
      <p:sp>
        <p:nvSpPr>
          <p:cNvPr id="50" name="Shape 48"/>
          <p:cNvSpPr/>
          <p:nvPr/>
        </p:nvSpPr>
        <p:spPr>
          <a:xfrm>
            <a:off x="6464808" y="4828032"/>
            <a:ext cx="310896" cy="310896"/>
          </a:xfrm>
          <a:prstGeom prst="roundRect">
            <a:avLst>
              <a:gd name="adj" fmla="val 26471"/>
            </a:avLst>
          </a:prstGeom>
          <a:solidFill>
            <a:srgbClr val="3FB950"/>
          </a:solidFill>
          <a:ln w="12700">
            <a:solidFill>
              <a:srgbClr val="3FB950"/>
            </a:solidFill>
            <a:prstDash val="solid"/>
          </a:ln>
        </p:spPr>
      </p:sp>
      <p:sp>
        <p:nvSpPr>
          <p:cNvPr id="51" name="Text 49"/>
          <p:cNvSpPr/>
          <p:nvPr/>
        </p:nvSpPr>
        <p:spPr>
          <a:xfrm>
            <a:off x="6464808" y="4828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52" name="Text 50"/>
          <p:cNvSpPr/>
          <p:nvPr/>
        </p:nvSpPr>
        <p:spPr>
          <a:xfrm>
            <a:off x="6940296" y="4846320"/>
            <a:ext cx="4453128" cy="329184"/>
          </a:xfrm>
          <a:prstGeom prst="rect">
            <a:avLst/>
          </a:prstGeom>
          <a:noFill/>
          <a:ln/>
        </p:spPr>
        <p:txBody>
          <a:bodyPr wrap="square" lIns="0" tIns="0" rIns="0" bIns="0" rtlCol="0" anchor="t"/>
          <a:lstStyle/>
          <a:p>
            <a:pPr indent="0" marL="0">
              <a:lnSpc>
                <a:spcPts val="1200"/>
              </a:lnSpc>
              <a:buNone/>
            </a:pPr>
            <a:r>
              <a:rPr lang="en-US" sz="1050" dirty="0">
                <a:solidFill>
                  <a:srgbClr val="B4B7BD"/>
                </a:solidFill>
                <a:latin typeface="Calibri" pitchFamily="34" charset="0"/>
                <a:ea typeface="Calibri" pitchFamily="34" charset="-122"/>
                <a:cs typeface="Calibri" pitchFamily="34" charset="-120"/>
              </a:rPr>
              <a:t>Simulated counts match the summary exactly</a:t>
            </a:r>
            <a:endParaRPr lang="en-US" sz="1050" dirty="0"/>
          </a:p>
        </p:txBody>
      </p:sp>
      <p:sp>
        <p:nvSpPr>
          <p:cNvPr id="53" name="Shape 51"/>
          <p:cNvSpPr/>
          <p:nvPr/>
        </p:nvSpPr>
        <p:spPr>
          <a:xfrm>
            <a:off x="548640" y="5440680"/>
            <a:ext cx="11064240" cy="685800"/>
          </a:xfrm>
          <a:prstGeom prst="roundRect">
            <a:avLst>
              <a:gd name="adj" fmla="val 6667"/>
            </a:avLst>
          </a:prstGeom>
          <a:solidFill>
            <a:srgbClr val="1C2026"/>
          </a:solidFill>
          <a:ln w="12700">
            <a:solidFill>
              <a:srgbClr val="1C2026"/>
            </a:solidFill>
            <a:prstDash val="solid"/>
          </a:ln>
        </p:spPr>
      </p:sp>
      <p:sp>
        <p:nvSpPr>
          <p:cNvPr id="54" name="Text 52"/>
          <p:cNvSpPr/>
          <p:nvPr/>
        </p:nvSpPr>
        <p:spPr>
          <a:xfrm>
            <a:off x="859536" y="5623560"/>
            <a:ext cx="7315200" cy="292608"/>
          </a:xfrm>
          <a:prstGeom prst="rect">
            <a:avLst/>
          </a:prstGeom>
          <a:noFill/>
          <a:ln/>
        </p:spPr>
        <p:txBody>
          <a:bodyPr wrap="square" lIns="0" tIns="0" rIns="0" bIns="0" rtlCol="0" anchor="t"/>
          <a:lstStyle/>
          <a:p>
            <a:pPr indent="0" marL="0">
              <a:buNone/>
            </a:pPr>
            <a:r>
              <a:rPr lang="en-US" sz="1300" b="1" i="1" dirty="0">
                <a:solidFill>
                  <a:srgbClr val="3FB950"/>
                </a:solidFill>
                <a:latin typeface="Calibri" pitchFamily="34" charset="0"/>
                <a:ea typeface="Calibri" pitchFamily="34" charset="-122"/>
                <a:cs typeface="Calibri" pitchFamily="34" charset="-120"/>
              </a:rPr>
              <a:t>All twelve green — the pack is ready for production use.</a:t>
            </a:r>
            <a:endParaRPr lang="en-US" sz="1300" dirty="0"/>
          </a:p>
        </p:txBody>
      </p:sp>
      <p:sp>
        <p:nvSpPr>
          <p:cNvPr id="55" name="Text 53"/>
          <p:cNvSpPr/>
          <p:nvPr/>
        </p:nvSpPr>
        <p:spPr>
          <a:xfrm>
            <a:off x="548640" y="6263640"/>
            <a:ext cx="11064240" cy="274320"/>
          </a:xfrm>
          <a:prstGeom prst="rect">
            <a:avLst/>
          </a:prstGeom>
          <a:noFill/>
          <a:ln/>
        </p:spPr>
        <p:txBody>
          <a:bodyPr wrap="square" lIns="0" tIns="0" rIns="0" bIns="0" rtlCol="0" anchor="t"/>
          <a:lstStyle/>
          <a:p>
            <a:pPr indent="0" marL="0">
              <a:buNone/>
            </a:pPr>
            <a:r>
              <a:rPr lang="en-US" sz="1050" dirty="0">
                <a:solidFill>
                  <a:srgbClr val="6E747E"/>
                </a:solidFill>
                <a:latin typeface="Calibri" pitchFamily="34" charset="0"/>
                <a:ea typeface="Calibri" pitchFamily="34" charset="-122"/>
                <a:cs typeface="Calibri" pitchFamily="34" charset="-120"/>
              </a:rPr>
              <a:t>Full detail in KOI_Integration_Customer_Guide_v1.4.0. Diagnostics in the troubleshooting guide.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KOI Content Pack — Test Guide</dc:title>
  <dc:subject>PptxGenJS Presentation</dc:subject>
  <dc:creator>Cortex XSIAM</dc:creator>
  <cp:lastModifiedBy>Cortex XSIAM</cp:lastModifiedBy>
  <cp:revision>1</cp:revision>
  <dcterms:created xsi:type="dcterms:W3CDTF">2026-07-26T06:44:58Z</dcterms:created>
  <dcterms:modified xsi:type="dcterms:W3CDTF">2026-07-26T06:44:58Z</dcterms:modified>
</cp:coreProperties>
</file>