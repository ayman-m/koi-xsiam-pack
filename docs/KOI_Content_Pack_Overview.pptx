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</p:sldIdLst>
  <p:notesMasterIdLst>
    <p:notesMasterId r:id="rId14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notesMaster" Target="notesMasters/notesMaster1.xml"/><Relationship Id="rId15" Type="http://schemas.openxmlformats.org/officeDocument/2006/relationships/presProps" Target="presProps.xml"/><Relationship Id="rId16" Type="http://schemas.openxmlformats.org/officeDocument/2006/relationships/viewProps" Target="viewProps.xml"/><Relationship Id="rId17" Type="http://schemas.openxmlformats.org/officeDocument/2006/relationships/theme" Target="theme/theme1.xml"/><Relationship Id="rId18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KOI content pack overview. Covers what ships in the pack, its capabilities, the automated triage and investigation flow, analyst-gated response, deployment and validation.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The pack targets self-installed software and the agentic-AI supply chain — the assets traditional endpoint tooling does not inventory.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Five component groups. The two playbook suites solve different problems: alert-driven response, and scheduled fleet execution.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Eight capabilities spanning visibility, intelligence, automated triage, investigation, gated response and fleet operations.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Two tracks: telemetry into the data model, and alert-driven automation. The egress caveat is the single most common cause of 403s on the command surface.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Verdict is keyed on KOI's own alert type and risk level, corroborated by the independent Koidex catalog risk — so a benign-looking alert on a high-risk package still escalates.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The item investigation answers what and where; the device investigation answers what else is on that host. Together they give the analyst the full picture before any decision.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The safety property: the blocklist write never fires before approval. This was verified end to end on a live tenant.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26 commands. Most are read-only; the state-changing ones are the allow/block list writes and policy status updates.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Three install paths. Validation: connectivity, collector, and a triage run end to end.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These are measured results from a live tenant run, not projections.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Close: the three places to go for detail.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00000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8321040" y="-1371600"/>
            <a:ext cx="5669280" cy="5669280"/>
          </a:xfrm>
          <a:prstGeom prst="ellipse">
            <a:avLst/>
          </a:prstGeom>
          <a:solidFill>
            <a:srgbClr val="E8551F">
              <a:alpha val="8000"/>
            </a:srgbClr>
          </a:solidFill>
          <a:ln w="12700">
            <a:solidFill>
              <a:srgbClr val="E8551F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9692640" y="3108960"/>
            <a:ext cx="3291840" cy="3291840"/>
          </a:xfrm>
          <a:prstGeom prst="ellipse">
            <a:avLst/>
          </a:prstGeom>
          <a:solidFill>
            <a:srgbClr val="22D3EE">
              <a:alpha val="6000"/>
            </a:srgbClr>
          </a:solidFill>
          <a:ln w="12700">
            <a:solidFill>
              <a:srgbClr val="22D3EE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548640" y="1600200"/>
            <a:ext cx="110642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300" kern="0" dirty="0">
                <a:solidFill>
                  <a:srgbClr val="E8551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CORTEX XSIAM  ·  CONTENT PACK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548640" y="1810512"/>
            <a:ext cx="6858000" cy="1645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KOI</a:t>
            </a:r>
            <a:endParaRPr lang="en-US" sz="9600" dirty="0"/>
          </a:p>
        </p:txBody>
      </p:sp>
      <p:sp>
        <p:nvSpPr>
          <p:cNvPr id="6" name="Text 4"/>
          <p:cNvSpPr/>
          <p:nvPr/>
        </p:nvSpPr>
        <p:spPr>
          <a:xfrm>
            <a:off x="548640" y="3529584"/>
            <a:ext cx="749808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2400"/>
              </a:lnSpc>
              <a:buNone/>
            </a:pPr>
            <a:r>
              <a:rPr lang="en-US" sz="1700" dirty="0">
                <a:solidFill>
                  <a:srgbClr val="B4B7B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Endpoint and agentic-AI security — collected, investigated and acted on, automatically.</a:t>
            </a:r>
            <a:endParaRPr lang="en-US" sz="1700" dirty="0"/>
          </a:p>
        </p:txBody>
      </p:sp>
      <p:sp>
        <p:nvSpPr>
          <p:cNvPr id="7" name="Text 5"/>
          <p:cNvSpPr/>
          <p:nvPr/>
        </p:nvSpPr>
        <p:spPr>
          <a:xfrm>
            <a:off x="548640" y="4617720"/>
            <a:ext cx="15544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600" b="1" dirty="0">
                <a:solidFill>
                  <a:srgbClr val="E8551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26</a:t>
            </a:r>
            <a:endParaRPr lang="en-US" sz="3600" dirty="0"/>
          </a:p>
        </p:txBody>
      </p:sp>
      <p:sp>
        <p:nvSpPr>
          <p:cNvPr id="8" name="Text 6"/>
          <p:cNvSpPr/>
          <p:nvPr/>
        </p:nvSpPr>
        <p:spPr>
          <a:xfrm>
            <a:off x="548640" y="5166360"/>
            <a:ext cx="15544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6E747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commands</a:t>
            </a:r>
            <a:endParaRPr lang="en-US" sz="1100" dirty="0"/>
          </a:p>
        </p:txBody>
      </p:sp>
      <p:sp>
        <p:nvSpPr>
          <p:cNvPr id="9" name="Text 7"/>
          <p:cNvSpPr/>
          <p:nvPr/>
        </p:nvSpPr>
        <p:spPr>
          <a:xfrm>
            <a:off x="2423160" y="4617720"/>
            <a:ext cx="15544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600" b="1" dirty="0">
                <a:solidFill>
                  <a:srgbClr val="E8551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10</a:t>
            </a:r>
            <a:endParaRPr lang="en-US" sz="3600" dirty="0"/>
          </a:p>
        </p:txBody>
      </p:sp>
      <p:sp>
        <p:nvSpPr>
          <p:cNvPr id="10" name="Text 8"/>
          <p:cNvSpPr/>
          <p:nvPr/>
        </p:nvSpPr>
        <p:spPr>
          <a:xfrm>
            <a:off x="2423160" y="5166360"/>
            <a:ext cx="15544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6E747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playbooks</a:t>
            </a:r>
            <a:endParaRPr lang="en-US" sz="1100" dirty="0"/>
          </a:p>
        </p:txBody>
      </p:sp>
      <p:sp>
        <p:nvSpPr>
          <p:cNvPr id="11" name="Text 9"/>
          <p:cNvSpPr/>
          <p:nvPr/>
        </p:nvSpPr>
        <p:spPr>
          <a:xfrm>
            <a:off x="4297680" y="4617720"/>
            <a:ext cx="15544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600" b="1" dirty="0">
                <a:solidFill>
                  <a:srgbClr val="E8551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3600" dirty="0"/>
          </a:p>
        </p:txBody>
      </p:sp>
      <p:sp>
        <p:nvSpPr>
          <p:cNvPr id="12" name="Text 10"/>
          <p:cNvSpPr/>
          <p:nvPr/>
        </p:nvSpPr>
        <p:spPr>
          <a:xfrm>
            <a:off x="4297680" y="5166360"/>
            <a:ext cx="15544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6E747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dashboard</a:t>
            </a:r>
            <a:endParaRPr lang="en-US" sz="1100" dirty="0"/>
          </a:p>
        </p:txBody>
      </p:sp>
      <p:sp>
        <p:nvSpPr>
          <p:cNvPr id="13" name="Text 11"/>
          <p:cNvSpPr/>
          <p:nvPr/>
        </p:nvSpPr>
        <p:spPr>
          <a:xfrm>
            <a:off x="6172200" y="4617720"/>
            <a:ext cx="15544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600" b="1" dirty="0">
                <a:solidFill>
                  <a:srgbClr val="E8551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3600" dirty="0"/>
          </a:p>
        </p:txBody>
      </p:sp>
      <p:sp>
        <p:nvSpPr>
          <p:cNvPr id="14" name="Text 12"/>
          <p:cNvSpPr/>
          <p:nvPr/>
        </p:nvSpPr>
        <p:spPr>
          <a:xfrm>
            <a:off x="6172200" y="5166360"/>
            <a:ext cx="15544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6E747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rule sets</a:t>
            </a:r>
            <a:endParaRPr lang="en-US" sz="11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00000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84048"/>
            <a:ext cx="110642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200" kern="0" dirty="0">
                <a:solidFill>
                  <a:srgbClr val="E8551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PROBLEM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548640" y="640080"/>
            <a:ext cx="1106424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software you never deployed — but still run</a:t>
            </a:r>
            <a:endParaRPr lang="en-US" sz="3300" dirty="0"/>
          </a:p>
        </p:txBody>
      </p:sp>
      <p:sp>
        <p:nvSpPr>
          <p:cNvPr id="4" name="Text 2"/>
          <p:cNvSpPr/>
          <p:nvPr/>
        </p:nvSpPr>
        <p:spPr>
          <a:xfrm>
            <a:off x="548640" y="1353312"/>
            <a:ext cx="87782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B4B7B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KOI discovers, scores and governs the long tail of software your workforce installs itself, including the fast-growing agentic-AI surface.</a:t>
            </a:r>
            <a:endParaRPr lang="en-US" sz="1250" dirty="0"/>
          </a:p>
        </p:txBody>
      </p:sp>
      <p:sp>
        <p:nvSpPr>
          <p:cNvPr id="5" name="Shape 3"/>
          <p:cNvSpPr/>
          <p:nvPr/>
        </p:nvSpPr>
        <p:spPr>
          <a:xfrm>
            <a:off x="548640" y="1874520"/>
            <a:ext cx="3474720" cy="1783080"/>
          </a:xfrm>
          <a:prstGeom prst="roundRect">
            <a:avLst>
              <a:gd name="adj" fmla="val 2564"/>
            </a:avLst>
          </a:prstGeom>
          <a:solidFill>
            <a:srgbClr val="15171B"/>
          </a:solidFill>
          <a:ln w="12700">
            <a:solidFill>
              <a:srgbClr val="15171B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804672" y="2130552"/>
            <a:ext cx="329184" cy="329184"/>
          </a:xfrm>
          <a:prstGeom prst="roundRect">
            <a:avLst>
              <a:gd name="adj" fmla="val 25000"/>
            </a:avLst>
          </a:prstGeom>
          <a:solidFill>
            <a:srgbClr val="E8551F"/>
          </a:solidFill>
          <a:ln w="12700">
            <a:solidFill>
              <a:srgbClr val="E8551F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804672" y="2130552"/>
            <a:ext cx="32918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1300" dirty="0"/>
          </a:p>
        </p:txBody>
      </p:sp>
      <p:sp>
        <p:nvSpPr>
          <p:cNvPr id="8" name="Text 6"/>
          <p:cNvSpPr/>
          <p:nvPr/>
        </p:nvSpPr>
        <p:spPr>
          <a:xfrm>
            <a:off x="804672" y="2569464"/>
            <a:ext cx="296265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Browser extensions</a:t>
            </a:r>
            <a:endParaRPr lang="en-US" sz="1450" dirty="0"/>
          </a:p>
        </p:txBody>
      </p:sp>
      <p:sp>
        <p:nvSpPr>
          <p:cNvPr id="9" name="Text 7"/>
          <p:cNvSpPr/>
          <p:nvPr/>
        </p:nvSpPr>
        <p:spPr>
          <a:xfrm>
            <a:off x="804672" y="2898648"/>
            <a:ext cx="2962656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400"/>
              </a:lnSpc>
              <a:buNone/>
            </a:pPr>
            <a:r>
              <a:rPr lang="en-US" sz="1100" dirty="0">
                <a:solidFill>
                  <a:srgbClr val="B4B7B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Chrome, Edge and friends — the classic blind spot.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4343400" y="1874520"/>
            <a:ext cx="3474720" cy="1783080"/>
          </a:xfrm>
          <a:prstGeom prst="roundRect">
            <a:avLst>
              <a:gd name="adj" fmla="val 2564"/>
            </a:avLst>
          </a:prstGeom>
          <a:solidFill>
            <a:srgbClr val="15171B"/>
          </a:solidFill>
          <a:ln w="12700">
            <a:solidFill>
              <a:srgbClr val="15171B"/>
            </a:solidFill>
            <a:prstDash val="solid"/>
          </a:ln>
        </p:spPr>
      </p:sp>
      <p:sp>
        <p:nvSpPr>
          <p:cNvPr id="11" name="Shape 9"/>
          <p:cNvSpPr/>
          <p:nvPr/>
        </p:nvSpPr>
        <p:spPr>
          <a:xfrm>
            <a:off x="4599432" y="2130552"/>
            <a:ext cx="329184" cy="329184"/>
          </a:xfrm>
          <a:prstGeom prst="roundRect">
            <a:avLst>
              <a:gd name="adj" fmla="val 25000"/>
            </a:avLst>
          </a:prstGeom>
          <a:solidFill>
            <a:srgbClr val="E8551F"/>
          </a:solidFill>
          <a:ln w="12700">
            <a:solidFill>
              <a:srgbClr val="E8551F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4599432" y="2130552"/>
            <a:ext cx="32918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1300" dirty="0"/>
          </a:p>
        </p:txBody>
      </p:sp>
      <p:sp>
        <p:nvSpPr>
          <p:cNvPr id="13" name="Text 11"/>
          <p:cNvSpPr/>
          <p:nvPr/>
        </p:nvSpPr>
        <p:spPr>
          <a:xfrm>
            <a:off x="4599432" y="2569464"/>
            <a:ext cx="296265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IDE plugins</a:t>
            </a:r>
            <a:endParaRPr lang="en-US" sz="1450" dirty="0"/>
          </a:p>
        </p:txBody>
      </p:sp>
      <p:sp>
        <p:nvSpPr>
          <p:cNvPr id="14" name="Text 12"/>
          <p:cNvSpPr/>
          <p:nvPr/>
        </p:nvSpPr>
        <p:spPr>
          <a:xfrm>
            <a:off x="4599432" y="2898648"/>
            <a:ext cx="2962656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400"/>
              </a:lnSpc>
              <a:buNone/>
            </a:pPr>
            <a:r>
              <a:rPr lang="en-US" sz="1100" dirty="0">
                <a:solidFill>
                  <a:srgbClr val="B4B7B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VS Code and JetBrains add-ons running with developer rights.</a:t>
            </a:r>
            <a:endParaRPr lang="en-US" sz="1100" dirty="0"/>
          </a:p>
        </p:txBody>
      </p:sp>
      <p:sp>
        <p:nvSpPr>
          <p:cNvPr id="15" name="Shape 13"/>
          <p:cNvSpPr/>
          <p:nvPr/>
        </p:nvSpPr>
        <p:spPr>
          <a:xfrm>
            <a:off x="8138160" y="1874520"/>
            <a:ext cx="3474720" cy="1783080"/>
          </a:xfrm>
          <a:prstGeom prst="roundRect">
            <a:avLst>
              <a:gd name="adj" fmla="val 2564"/>
            </a:avLst>
          </a:prstGeom>
          <a:solidFill>
            <a:srgbClr val="15171B"/>
          </a:solidFill>
          <a:ln w="12700">
            <a:solidFill>
              <a:srgbClr val="15171B"/>
            </a:solidFill>
            <a:prstDash val="solid"/>
          </a:ln>
        </p:spPr>
      </p:sp>
      <p:sp>
        <p:nvSpPr>
          <p:cNvPr id="16" name="Shape 14"/>
          <p:cNvSpPr/>
          <p:nvPr/>
        </p:nvSpPr>
        <p:spPr>
          <a:xfrm>
            <a:off x="8394192" y="2130552"/>
            <a:ext cx="329184" cy="329184"/>
          </a:xfrm>
          <a:prstGeom prst="roundRect">
            <a:avLst>
              <a:gd name="adj" fmla="val 25000"/>
            </a:avLst>
          </a:prstGeom>
          <a:solidFill>
            <a:srgbClr val="E8551F"/>
          </a:solidFill>
          <a:ln w="12700">
            <a:solidFill>
              <a:srgbClr val="E8551F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8394192" y="2130552"/>
            <a:ext cx="32918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8394192" y="2569464"/>
            <a:ext cx="296265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Code packages</a:t>
            </a:r>
            <a:endParaRPr lang="en-US" sz="1450" dirty="0"/>
          </a:p>
        </p:txBody>
      </p:sp>
      <p:sp>
        <p:nvSpPr>
          <p:cNvPr id="19" name="Text 17"/>
          <p:cNvSpPr/>
          <p:nvPr/>
        </p:nvSpPr>
        <p:spPr>
          <a:xfrm>
            <a:off x="8394192" y="2898648"/>
            <a:ext cx="2962656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400"/>
              </a:lnSpc>
              <a:buNone/>
            </a:pPr>
            <a:r>
              <a:rPr lang="en-US" sz="1100" dirty="0">
                <a:solidFill>
                  <a:srgbClr val="B4B7B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npm and PyPI dependencies pulled straight into builds.</a:t>
            </a:r>
            <a:endParaRPr lang="en-US" sz="1100" dirty="0"/>
          </a:p>
        </p:txBody>
      </p:sp>
      <p:sp>
        <p:nvSpPr>
          <p:cNvPr id="20" name="Shape 18"/>
          <p:cNvSpPr/>
          <p:nvPr/>
        </p:nvSpPr>
        <p:spPr>
          <a:xfrm>
            <a:off x="548640" y="3977640"/>
            <a:ext cx="3474720" cy="1783080"/>
          </a:xfrm>
          <a:prstGeom prst="roundRect">
            <a:avLst>
              <a:gd name="adj" fmla="val 2564"/>
            </a:avLst>
          </a:prstGeom>
          <a:solidFill>
            <a:srgbClr val="15171B"/>
          </a:solidFill>
          <a:ln w="12700">
            <a:solidFill>
              <a:srgbClr val="15171B"/>
            </a:solidFill>
            <a:prstDash val="solid"/>
          </a:ln>
        </p:spPr>
      </p:sp>
      <p:sp>
        <p:nvSpPr>
          <p:cNvPr id="21" name="Shape 19"/>
          <p:cNvSpPr/>
          <p:nvPr/>
        </p:nvSpPr>
        <p:spPr>
          <a:xfrm>
            <a:off x="804672" y="4233672"/>
            <a:ext cx="329184" cy="329184"/>
          </a:xfrm>
          <a:prstGeom prst="roundRect">
            <a:avLst>
              <a:gd name="adj" fmla="val 25000"/>
            </a:avLst>
          </a:prstGeom>
          <a:solidFill>
            <a:srgbClr val="E8551F"/>
          </a:solidFill>
          <a:ln w="12700">
            <a:solidFill>
              <a:srgbClr val="E8551F"/>
            </a:solidFill>
            <a:prstDash val="solid"/>
          </a:ln>
        </p:spPr>
      </p:sp>
      <p:sp>
        <p:nvSpPr>
          <p:cNvPr id="22" name="Text 20"/>
          <p:cNvSpPr/>
          <p:nvPr/>
        </p:nvSpPr>
        <p:spPr>
          <a:xfrm>
            <a:off x="804672" y="4233672"/>
            <a:ext cx="32918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</a:t>
            </a:r>
            <a:endParaRPr lang="en-US" sz="1300" dirty="0"/>
          </a:p>
        </p:txBody>
      </p:sp>
      <p:sp>
        <p:nvSpPr>
          <p:cNvPr id="23" name="Text 21"/>
          <p:cNvSpPr/>
          <p:nvPr/>
        </p:nvSpPr>
        <p:spPr>
          <a:xfrm>
            <a:off x="804672" y="4672584"/>
            <a:ext cx="296265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Desktop applications</a:t>
            </a:r>
            <a:endParaRPr lang="en-US" sz="1450" dirty="0"/>
          </a:p>
        </p:txBody>
      </p:sp>
      <p:sp>
        <p:nvSpPr>
          <p:cNvPr id="24" name="Text 22"/>
          <p:cNvSpPr/>
          <p:nvPr/>
        </p:nvSpPr>
        <p:spPr>
          <a:xfrm>
            <a:off x="804672" y="5001768"/>
            <a:ext cx="2962656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400"/>
              </a:lnSpc>
              <a:buNone/>
            </a:pPr>
            <a:r>
              <a:rPr lang="en-US" sz="1100" dirty="0">
                <a:solidFill>
                  <a:srgbClr val="B4B7B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Installed outside any deployment pipeline.</a:t>
            </a:r>
            <a:endParaRPr lang="en-US" sz="1100" dirty="0"/>
          </a:p>
        </p:txBody>
      </p:sp>
      <p:sp>
        <p:nvSpPr>
          <p:cNvPr id="25" name="Shape 23"/>
          <p:cNvSpPr/>
          <p:nvPr/>
        </p:nvSpPr>
        <p:spPr>
          <a:xfrm>
            <a:off x="4343400" y="3977640"/>
            <a:ext cx="3474720" cy="1783080"/>
          </a:xfrm>
          <a:prstGeom prst="roundRect">
            <a:avLst>
              <a:gd name="adj" fmla="val 2564"/>
            </a:avLst>
          </a:prstGeom>
          <a:solidFill>
            <a:srgbClr val="15171B"/>
          </a:solidFill>
          <a:ln w="12700">
            <a:solidFill>
              <a:srgbClr val="15171B"/>
            </a:solidFill>
            <a:prstDash val="solid"/>
          </a:ln>
        </p:spPr>
      </p:sp>
      <p:sp>
        <p:nvSpPr>
          <p:cNvPr id="26" name="Shape 24"/>
          <p:cNvSpPr/>
          <p:nvPr/>
        </p:nvSpPr>
        <p:spPr>
          <a:xfrm>
            <a:off x="4599432" y="4233672"/>
            <a:ext cx="329184" cy="329184"/>
          </a:xfrm>
          <a:prstGeom prst="roundRect">
            <a:avLst>
              <a:gd name="adj" fmla="val 25000"/>
            </a:avLst>
          </a:prstGeom>
          <a:solidFill>
            <a:srgbClr val="22D3EE"/>
          </a:solidFill>
          <a:ln w="12700">
            <a:solidFill>
              <a:srgbClr val="22D3EE"/>
            </a:solidFill>
            <a:prstDash val="solid"/>
          </a:ln>
        </p:spPr>
      </p:sp>
      <p:sp>
        <p:nvSpPr>
          <p:cNvPr id="27" name="Text 25"/>
          <p:cNvSpPr/>
          <p:nvPr/>
        </p:nvSpPr>
        <p:spPr>
          <a:xfrm>
            <a:off x="4599432" y="4233672"/>
            <a:ext cx="32918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</a:t>
            </a:r>
            <a:endParaRPr lang="en-US" sz="1300" dirty="0"/>
          </a:p>
        </p:txBody>
      </p:sp>
      <p:sp>
        <p:nvSpPr>
          <p:cNvPr id="28" name="Text 26"/>
          <p:cNvSpPr/>
          <p:nvPr/>
        </p:nvSpPr>
        <p:spPr>
          <a:xfrm>
            <a:off x="4599432" y="4672584"/>
            <a:ext cx="296265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MCP servers</a:t>
            </a:r>
            <a:endParaRPr lang="en-US" sz="1450" dirty="0"/>
          </a:p>
        </p:txBody>
      </p:sp>
      <p:sp>
        <p:nvSpPr>
          <p:cNvPr id="29" name="Text 27"/>
          <p:cNvSpPr/>
          <p:nvPr/>
        </p:nvSpPr>
        <p:spPr>
          <a:xfrm>
            <a:off x="4599432" y="5001768"/>
            <a:ext cx="2962656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400"/>
              </a:lnSpc>
              <a:buNone/>
            </a:pPr>
            <a:r>
              <a:rPr lang="en-US" sz="1100" dirty="0">
                <a:solidFill>
                  <a:srgbClr val="B4B7B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Model Context Protocol endpoints wired into AI agents.</a:t>
            </a:r>
            <a:endParaRPr lang="en-US" sz="1100" dirty="0"/>
          </a:p>
        </p:txBody>
      </p:sp>
      <p:sp>
        <p:nvSpPr>
          <p:cNvPr id="30" name="Shape 28"/>
          <p:cNvSpPr/>
          <p:nvPr/>
        </p:nvSpPr>
        <p:spPr>
          <a:xfrm>
            <a:off x="8138160" y="3977640"/>
            <a:ext cx="3474720" cy="1783080"/>
          </a:xfrm>
          <a:prstGeom prst="roundRect">
            <a:avLst>
              <a:gd name="adj" fmla="val 2564"/>
            </a:avLst>
          </a:prstGeom>
          <a:solidFill>
            <a:srgbClr val="15171B"/>
          </a:solidFill>
          <a:ln w="12700">
            <a:solidFill>
              <a:srgbClr val="15171B"/>
            </a:solidFill>
            <a:prstDash val="solid"/>
          </a:ln>
        </p:spPr>
      </p:sp>
      <p:sp>
        <p:nvSpPr>
          <p:cNvPr id="31" name="Shape 29"/>
          <p:cNvSpPr/>
          <p:nvPr/>
        </p:nvSpPr>
        <p:spPr>
          <a:xfrm>
            <a:off x="8394192" y="4233672"/>
            <a:ext cx="329184" cy="329184"/>
          </a:xfrm>
          <a:prstGeom prst="roundRect">
            <a:avLst>
              <a:gd name="adj" fmla="val 25000"/>
            </a:avLst>
          </a:prstGeom>
          <a:solidFill>
            <a:srgbClr val="22D3EE"/>
          </a:solidFill>
          <a:ln w="12700">
            <a:solidFill>
              <a:srgbClr val="22D3EE"/>
            </a:solidFill>
            <a:prstDash val="solid"/>
          </a:ln>
        </p:spPr>
      </p:sp>
      <p:sp>
        <p:nvSpPr>
          <p:cNvPr id="32" name="Text 30"/>
          <p:cNvSpPr/>
          <p:nvPr/>
        </p:nvSpPr>
        <p:spPr>
          <a:xfrm>
            <a:off x="8394192" y="4233672"/>
            <a:ext cx="32918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6</a:t>
            </a:r>
            <a:endParaRPr lang="en-US" sz="1300" dirty="0"/>
          </a:p>
        </p:txBody>
      </p:sp>
      <p:sp>
        <p:nvSpPr>
          <p:cNvPr id="33" name="Text 31"/>
          <p:cNvSpPr/>
          <p:nvPr/>
        </p:nvSpPr>
        <p:spPr>
          <a:xfrm>
            <a:off x="8394192" y="4672584"/>
            <a:ext cx="296265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AI models &amp; skills</a:t>
            </a:r>
            <a:endParaRPr lang="en-US" sz="1450" dirty="0"/>
          </a:p>
        </p:txBody>
      </p:sp>
      <p:sp>
        <p:nvSpPr>
          <p:cNvPr id="34" name="Text 32"/>
          <p:cNvSpPr/>
          <p:nvPr/>
        </p:nvSpPr>
        <p:spPr>
          <a:xfrm>
            <a:off x="8394192" y="5001768"/>
            <a:ext cx="2962656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400"/>
              </a:lnSpc>
              <a:buNone/>
            </a:pPr>
            <a:r>
              <a:rPr lang="en-US" sz="1100" dirty="0">
                <a:solidFill>
                  <a:srgbClr val="B4B7B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rest of the agentic-AI supply chain.</a:t>
            </a:r>
            <a:endParaRPr lang="en-US" sz="11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00000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84048"/>
            <a:ext cx="110642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200" kern="0" dirty="0">
                <a:solidFill>
                  <a:srgbClr val="E8551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CONTENTS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548640" y="640080"/>
            <a:ext cx="1106424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What ships in the pack</a:t>
            </a:r>
            <a:endParaRPr lang="en-US" sz="3300" dirty="0"/>
          </a:p>
        </p:txBody>
      </p:sp>
      <p:sp>
        <p:nvSpPr>
          <p:cNvPr id="4" name="Shape 2"/>
          <p:cNvSpPr/>
          <p:nvPr/>
        </p:nvSpPr>
        <p:spPr>
          <a:xfrm>
            <a:off x="548640" y="1572768"/>
            <a:ext cx="6766560" cy="804672"/>
          </a:xfrm>
          <a:prstGeom prst="roundRect">
            <a:avLst>
              <a:gd name="adj" fmla="val 5682"/>
            </a:avLst>
          </a:prstGeom>
          <a:solidFill>
            <a:srgbClr val="15171B"/>
          </a:solidFill>
          <a:ln w="12700">
            <a:solidFill>
              <a:srgbClr val="15171B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786384" y="1810512"/>
            <a:ext cx="329184" cy="329184"/>
          </a:xfrm>
          <a:prstGeom prst="roundRect">
            <a:avLst>
              <a:gd name="adj" fmla="val 25000"/>
            </a:avLst>
          </a:prstGeom>
          <a:solidFill>
            <a:srgbClr val="E8551F"/>
          </a:solidFill>
          <a:ln w="12700">
            <a:solidFill>
              <a:srgbClr val="E8551F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786384" y="1810512"/>
            <a:ext cx="32918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</a:t>
            </a:r>
            <a:endParaRPr lang="en-US" sz="1300" dirty="0"/>
          </a:p>
        </p:txBody>
      </p:sp>
      <p:sp>
        <p:nvSpPr>
          <p:cNvPr id="7" name="Text 5"/>
          <p:cNvSpPr/>
          <p:nvPr/>
        </p:nvSpPr>
        <p:spPr>
          <a:xfrm>
            <a:off x="1335024" y="1700784"/>
            <a:ext cx="576072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KOI integration</a:t>
            </a:r>
            <a:endParaRPr lang="en-US" sz="1400" dirty="0"/>
          </a:p>
        </p:txBody>
      </p:sp>
      <p:sp>
        <p:nvSpPr>
          <p:cNvPr id="8" name="Text 6"/>
          <p:cNvSpPr/>
          <p:nvPr/>
        </p:nvSpPr>
        <p:spPr>
          <a:xfrm>
            <a:off x="1335024" y="1993392"/>
            <a:ext cx="57607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B4B7B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Event collector plus 26 commands across the KOI API.</a:t>
            </a:r>
            <a:endParaRPr lang="en-US" sz="1050" dirty="0"/>
          </a:p>
        </p:txBody>
      </p:sp>
      <p:sp>
        <p:nvSpPr>
          <p:cNvPr id="9" name="Shape 7"/>
          <p:cNvSpPr/>
          <p:nvPr/>
        </p:nvSpPr>
        <p:spPr>
          <a:xfrm>
            <a:off x="548640" y="2514600"/>
            <a:ext cx="6766560" cy="804672"/>
          </a:xfrm>
          <a:prstGeom prst="roundRect">
            <a:avLst>
              <a:gd name="adj" fmla="val 5682"/>
            </a:avLst>
          </a:prstGeom>
          <a:solidFill>
            <a:srgbClr val="15171B"/>
          </a:solidFill>
          <a:ln w="12700">
            <a:solidFill>
              <a:srgbClr val="15171B"/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>
            <a:off x="786384" y="2752344"/>
            <a:ext cx="329184" cy="329184"/>
          </a:xfrm>
          <a:prstGeom prst="roundRect">
            <a:avLst>
              <a:gd name="adj" fmla="val 25000"/>
            </a:avLst>
          </a:prstGeom>
          <a:solidFill>
            <a:srgbClr val="E8551F"/>
          </a:solidFill>
          <a:ln w="12700">
            <a:solidFill>
              <a:srgbClr val="E8551F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786384" y="2752344"/>
            <a:ext cx="32918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</a:t>
            </a:r>
            <a:endParaRPr lang="en-US" sz="1300" dirty="0"/>
          </a:p>
        </p:txBody>
      </p:sp>
      <p:sp>
        <p:nvSpPr>
          <p:cNvPr id="12" name="Text 10"/>
          <p:cNvSpPr/>
          <p:nvPr/>
        </p:nvSpPr>
        <p:spPr>
          <a:xfrm>
            <a:off x="1335024" y="2642616"/>
            <a:ext cx="576072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Parsing &amp; modeling rules</a:t>
            </a:r>
            <a:endParaRPr lang="en-US" sz="1400" dirty="0"/>
          </a:p>
        </p:txBody>
      </p:sp>
      <p:sp>
        <p:nvSpPr>
          <p:cNvPr id="13" name="Text 11"/>
          <p:cNvSpPr/>
          <p:nvPr/>
        </p:nvSpPr>
        <p:spPr>
          <a:xfrm>
            <a:off x="1335024" y="2935224"/>
            <a:ext cx="57607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B4B7B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Normalize raw events and map them to the Cortex Data Model.</a:t>
            </a:r>
            <a:endParaRPr lang="en-US" sz="1050" dirty="0"/>
          </a:p>
        </p:txBody>
      </p:sp>
      <p:sp>
        <p:nvSpPr>
          <p:cNvPr id="14" name="Shape 12"/>
          <p:cNvSpPr/>
          <p:nvPr/>
        </p:nvSpPr>
        <p:spPr>
          <a:xfrm>
            <a:off x="548640" y="3456432"/>
            <a:ext cx="6766560" cy="804672"/>
          </a:xfrm>
          <a:prstGeom prst="roundRect">
            <a:avLst>
              <a:gd name="adj" fmla="val 5682"/>
            </a:avLst>
          </a:prstGeom>
          <a:solidFill>
            <a:srgbClr val="15171B"/>
          </a:solidFill>
          <a:ln w="12700">
            <a:solidFill>
              <a:srgbClr val="15171B"/>
            </a:solidFill>
            <a:prstDash val="solid"/>
          </a:ln>
        </p:spPr>
      </p:sp>
      <p:sp>
        <p:nvSpPr>
          <p:cNvPr id="15" name="Shape 13"/>
          <p:cNvSpPr/>
          <p:nvPr/>
        </p:nvSpPr>
        <p:spPr>
          <a:xfrm>
            <a:off x="786384" y="3694176"/>
            <a:ext cx="329184" cy="329184"/>
          </a:xfrm>
          <a:prstGeom prst="roundRect">
            <a:avLst>
              <a:gd name="adj" fmla="val 25000"/>
            </a:avLst>
          </a:prstGeom>
          <a:solidFill>
            <a:srgbClr val="E8551F"/>
          </a:solidFill>
          <a:ln w="12700">
            <a:solidFill>
              <a:srgbClr val="E8551F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786384" y="3694176"/>
            <a:ext cx="32918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</a:t>
            </a:r>
            <a:endParaRPr lang="en-US" sz="1300" dirty="0"/>
          </a:p>
        </p:txBody>
      </p:sp>
      <p:sp>
        <p:nvSpPr>
          <p:cNvPr id="17" name="Text 15"/>
          <p:cNvSpPr/>
          <p:nvPr/>
        </p:nvSpPr>
        <p:spPr>
          <a:xfrm>
            <a:off x="1335024" y="3584448"/>
            <a:ext cx="576072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Alerts dashboard</a:t>
            </a:r>
            <a:endParaRPr lang="en-US" sz="1400" dirty="0"/>
          </a:p>
        </p:txBody>
      </p:sp>
      <p:sp>
        <p:nvSpPr>
          <p:cNvPr id="18" name="Text 16"/>
          <p:cNvSpPr/>
          <p:nvPr/>
        </p:nvSpPr>
        <p:spPr>
          <a:xfrm>
            <a:off x="1335024" y="3877056"/>
            <a:ext cx="57607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B4B7B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Ready-made XSIAM dashboard for KOI alert activity.</a:t>
            </a:r>
            <a:endParaRPr lang="en-US" sz="1050" dirty="0"/>
          </a:p>
        </p:txBody>
      </p:sp>
      <p:sp>
        <p:nvSpPr>
          <p:cNvPr id="19" name="Shape 17"/>
          <p:cNvSpPr/>
          <p:nvPr/>
        </p:nvSpPr>
        <p:spPr>
          <a:xfrm>
            <a:off x="548640" y="4398264"/>
            <a:ext cx="6766560" cy="804672"/>
          </a:xfrm>
          <a:prstGeom prst="roundRect">
            <a:avLst>
              <a:gd name="adj" fmla="val 5682"/>
            </a:avLst>
          </a:prstGeom>
          <a:solidFill>
            <a:srgbClr val="15171B"/>
          </a:solidFill>
          <a:ln w="12700">
            <a:solidFill>
              <a:srgbClr val="15171B"/>
            </a:solidFill>
            <a:prstDash val="solid"/>
          </a:ln>
        </p:spPr>
      </p:sp>
      <p:sp>
        <p:nvSpPr>
          <p:cNvPr id="20" name="Shape 18"/>
          <p:cNvSpPr/>
          <p:nvPr/>
        </p:nvSpPr>
        <p:spPr>
          <a:xfrm>
            <a:off x="786384" y="4636008"/>
            <a:ext cx="329184" cy="329184"/>
          </a:xfrm>
          <a:prstGeom prst="roundRect">
            <a:avLst>
              <a:gd name="adj" fmla="val 25000"/>
            </a:avLst>
          </a:prstGeom>
          <a:solidFill>
            <a:srgbClr val="22D3EE"/>
          </a:solidFill>
          <a:ln w="12700">
            <a:solidFill>
              <a:srgbClr val="22D3EE"/>
            </a:solidFill>
            <a:prstDash val="solid"/>
          </a:ln>
        </p:spPr>
      </p:sp>
      <p:sp>
        <p:nvSpPr>
          <p:cNvPr id="21" name="Text 19"/>
          <p:cNvSpPr/>
          <p:nvPr/>
        </p:nvSpPr>
        <p:spPr>
          <a:xfrm>
            <a:off x="786384" y="4636008"/>
            <a:ext cx="32918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</a:t>
            </a:r>
            <a:endParaRPr lang="en-US" sz="1300" dirty="0"/>
          </a:p>
        </p:txBody>
      </p:sp>
      <p:sp>
        <p:nvSpPr>
          <p:cNvPr id="22" name="Text 20"/>
          <p:cNvSpPr/>
          <p:nvPr/>
        </p:nvSpPr>
        <p:spPr>
          <a:xfrm>
            <a:off x="1335024" y="4526280"/>
            <a:ext cx="576072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Triage &amp; response playbooks</a:t>
            </a:r>
            <a:endParaRPr lang="en-US" sz="1400" dirty="0"/>
          </a:p>
        </p:txBody>
      </p:sp>
      <p:sp>
        <p:nvSpPr>
          <p:cNvPr id="23" name="Text 21"/>
          <p:cNvSpPr/>
          <p:nvPr/>
        </p:nvSpPr>
        <p:spPr>
          <a:xfrm>
            <a:off x="1335024" y="4818888"/>
            <a:ext cx="57607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B4B7B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Seven playbooks: triage, investigation, and gated response.</a:t>
            </a:r>
            <a:endParaRPr lang="en-US" sz="1050" dirty="0"/>
          </a:p>
        </p:txBody>
      </p:sp>
      <p:sp>
        <p:nvSpPr>
          <p:cNvPr id="24" name="Shape 22"/>
          <p:cNvSpPr/>
          <p:nvPr/>
        </p:nvSpPr>
        <p:spPr>
          <a:xfrm>
            <a:off x="548640" y="5340096"/>
            <a:ext cx="6766560" cy="804672"/>
          </a:xfrm>
          <a:prstGeom prst="roundRect">
            <a:avLst>
              <a:gd name="adj" fmla="val 5682"/>
            </a:avLst>
          </a:prstGeom>
          <a:solidFill>
            <a:srgbClr val="15171B"/>
          </a:solidFill>
          <a:ln w="12700">
            <a:solidFill>
              <a:srgbClr val="15171B"/>
            </a:solidFill>
            <a:prstDash val="solid"/>
          </a:ln>
        </p:spPr>
      </p:sp>
      <p:sp>
        <p:nvSpPr>
          <p:cNvPr id="25" name="Shape 23"/>
          <p:cNvSpPr/>
          <p:nvPr/>
        </p:nvSpPr>
        <p:spPr>
          <a:xfrm>
            <a:off x="786384" y="5577840"/>
            <a:ext cx="329184" cy="329184"/>
          </a:xfrm>
          <a:prstGeom prst="roundRect">
            <a:avLst>
              <a:gd name="adj" fmla="val 25000"/>
            </a:avLst>
          </a:prstGeom>
          <a:solidFill>
            <a:srgbClr val="E8551F"/>
          </a:solidFill>
          <a:ln w="12700">
            <a:solidFill>
              <a:srgbClr val="E8551F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786384" y="5577840"/>
            <a:ext cx="32918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</a:t>
            </a:r>
            <a:endParaRPr lang="en-US" sz="1300" dirty="0"/>
          </a:p>
        </p:txBody>
      </p:sp>
      <p:sp>
        <p:nvSpPr>
          <p:cNvPr id="27" name="Text 25"/>
          <p:cNvSpPr/>
          <p:nvPr/>
        </p:nvSpPr>
        <p:spPr>
          <a:xfrm>
            <a:off x="1335024" y="5468112"/>
            <a:ext cx="576072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Script Runner playbooks</a:t>
            </a:r>
            <a:endParaRPr lang="en-US" sz="1400" dirty="0"/>
          </a:p>
        </p:txBody>
      </p:sp>
      <p:sp>
        <p:nvSpPr>
          <p:cNvPr id="28" name="Text 26"/>
          <p:cNvSpPr/>
          <p:nvPr/>
        </p:nvSpPr>
        <p:spPr>
          <a:xfrm>
            <a:off x="1335024" y="5760720"/>
            <a:ext cx="57607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B4B7B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Three playbooks to run KOI scripts on Cortex-Agent endpoints.</a:t>
            </a:r>
            <a:endParaRPr lang="en-US" sz="1050" dirty="0"/>
          </a:p>
        </p:txBody>
      </p:sp>
      <p:sp>
        <p:nvSpPr>
          <p:cNvPr id="29" name="Shape 27"/>
          <p:cNvSpPr/>
          <p:nvPr/>
        </p:nvSpPr>
        <p:spPr>
          <a:xfrm>
            <a:off x="7680960" y="1572768"/>
            <a:ext cx="3931920" cy="4572000"/>
          </a:xfrm>
          <a:prstGeom prst="roundRect">
            <a:avLst>
              <a:gd name="adj" fmla="val 1163"/>
            </a:avLst>
          </a:prstGeom>
          <a:solidFill>
            <a:srgbClr val="1C2026"/>
          </a:solidFill>
          <a:ln w="12700">
            <a:solidFill>
              <a:srgbClr val="1C2026"/>
            </a:solidFill>
            <a:prstDash val="solid"/>
          </a:ln>
        </p:spPr>
      </p:sp>
      <p:sp>
        <p:nvSpPr>
          <p:cNvPr id="30" name="Text 28"/>
          <p:cNvSpPr/>
          <p:nvPr/>
        </p:nvSpPr>
        <p:spPr>
          <a:xfrm>
            <a:off x="7955280" y="1810512"/>
            <a:ext cx="33832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Two independent automation tracks</a:t>
            </a:r>
            <a:endParaRPr lang="en-US" sz="1500" dirty="0"/>
          </a:p>
        </p:txBody>
      </p:sp>
      <p:sp>
        <p:nvSpPr>
          <p:cNvPr id="31" name="Shape 29"/>
          <p:cNvSpPr/>
          <p:nvPr/>
        </p:nvSpPr>
        <p:spPr>
          <a:xfrm>
            <a:off x="7936992" y="2331720"/>
            <a:ext cx="3419856" cy="1600200"/>
          </a:xfrm>
          <a:prstGeom prst="roundRect">
            <a:avLst>
              <a:gd name="adj" fmla="val 2857"/>
            </a:avLst>
          </a:prstGeom>
          <a:solidFill>
            <a:srgbClr val="15171B"/>
          </a:solidFill>
          <a:ln w="12700">
            <a:solidFill>
              <a:srgbClr val="15171B"/>
            </a:solidFill>
            <a:prstDash val="solid"/>
          </a:ln>
        </p:spPr>
      </p:sp>
      <p:sp>
        <p:nvSpPr>
          <p:cNvPr id="32" name="Text 30"/>
          <p:cNvSpPr/>
          <p:nvPr/>
        </p:nvSpPr>
        <p:spPr>
          <a:xfrm>
            <a:off x="8156448" y="2514600"/>
            <a:ext cx="2980944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50" b="1" dirty="0">
                <a:solidFill>
                  <a:srgbClr val="E8551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Detect &amp; respond</a:t>
            </a:r>
            <a:endParaRPr lang="en-US" sz="1250" dirty="0"/>
          </a:p>
        </p:txBody>
      </p:sp>
      <p:sp>
        <p:nvSpPr>
          <p:cNvPr id="33" name="Text 31"/>
          <p:cNvSpPr/>
          <p:nvPr/>
        </p:nvSpPr>
        <p:spPr>
          <a:xfrm>
            <a:off x="8156448" y="2825496"/>
            <a:ext cx="2980944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400"/>
              </a:lnSpc>
              <a:buNone/>
            </a:pPr>
            <a:r>
              <a:rPr lang="en-US" sz="1100" dirty="0">
                <a:solidFill>
                  <a:srgbClr val="B4B7B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Each KOI alert is triaged, investigated and routed — with response gated on an analyst.</a:t>
            </a:r>
            <a:endParaRPr lang="en-US" sz="1100" dirty="0"/>
          </a:p>
        </p:txBody>
      </p:sp>
      <p:sp>
        <p:nvSpPr>
          <p:cNvPr id="34" name="Text 32"/>
          <p:cNvSpPr/>
          <p:nvPr/>
        </p:nvSpPr>
        <p:spPr>
          <a:xfrm>
            <a:off x="8156448" y="3392424"/>
            <a:ext cx="2980944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300"/>
              </a:lnSpc>
              <a:buNone/>
            </a:pPr>
            <a:r>
              <a:rPr lang="en-US" sz="1000" dirty="0">
                <a:solidFill>
                  <a:srgbClr val="6E747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Seven playbooks: triage, two investigations, enrichment, response and hunting.</a:t>
            </a:r>
            <a:endParaRPr lang="en-US" sz="1000" dirty="0"/>
          </a:p>
        </p:txBody>
      </p:sp>
      <p:sp>
        <p:nvSpPr>
          <p:cNvPr id="35" name="Shape 33"/>
          <p:cNvSpPr/>
          <p:nvPr/>
        </p:nvSpPr>
        <p:spPr>
          <a:xfrm>
            <a:off x="7936992" y="4069080"/>
            <a:ext cx="3419856" cy="1600200"/>
          </a:xfrm>
          <a:prstGeom prst="roundRect">
            <a:avLst>
              <a:gd name="adj" fmla="val 2857"/>
            </a:avLst>
          </a:prstGeom>
          <a:solidFill>
            <a:srgbClr val="15171B"/>
          </a:solidFill>
          <a:ln w="12700">
            <a:solidFill>
              <a:srgbClr val="15171B"/>
            </a:solidFill>
            <a:prstDash val="solid"/>
          </a:ln>
        </p:spPr>
      </p:sp>
      <p:sp>
        <p:nvSpPr>
          <p:cNvPr id="36" name="Text 34"/>
          <p:cNvSpPr/>
          <p:nvPr/>
        </p:nvSpPr>
        <p:spPr>
          <a:xfrm>
            <a:off x="8156448" y="4251960"/>
            <a:ext cx="2980944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50" b="1" dirty="0">
                <a:solidFill>
                  <a:srgbClr val="22D3E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Operate at fleet scale</a:t>
            </a:r>
            <a:endParaRPr lang="en-US" sz="1250" dirty="0"/>
          </a:p>
        </p:txBody>
      </p:sp>
      <p:sp>
        <p:nvSpPr>
          <p:cNvPr id="37" name="Text 35"/>
          <p:cNvSpPr/>
          <p:nvPr/>
        </p:nvSpPr>
        <p:spPr>
          <a:xfrm>
            <a:off x="8156448" y="4562856"/>
            <a:ext cx="2980944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400"/>
              </a:lnSpc>
              <a:buNone/>
            </a:pPr>
            <a:r>
              <a:rPr lang="en-US" sz="1100" dirty="0">
                <a:solidFill>
                  <a:srgbClr val="B4B7B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Run KOI script packages on Cortex-Agent endpoints on a schedule, targeted by OS, group or hostname.</a:t>
            </a:r>
            <a:endParaRPr lang="en-US" sz="1100" dirty="0"/>
          </a:p>
        </p:txBody>
      </p:sp>
      <p:sp>
        <p:nvSpPr>
          <p:cNvPr id="38" name="Text 36"/>
          <p:cNvSpPr/>
          <p:nvPr/>
        </p:nvSpPr>
        <p:spPr>
          <a:xfrm>
            <a:off x="8156448" y="5129784"/>
            <a:ext cx="2980944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300"/>
              </a:lnSpc>
              <a:buNone/>
            </a:pPr>
            <a:r>
              <a:rPr lang="en-US" sz="1000" dirty="0">
                <a:solidFill>
                  <a:srgbClr val="6E747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Three playbooks, configured entirely through a JSON List.</a:t>
            </a:r>
            <a:endParaRPr lang="en-US" sz="1000" dirty="0"/>
          </a:p>
        </p:txBody>
      </p:sp>
      <p:sp>
        <p:nvSpPr>
          <p:cNvPr id="39" name="Text 37"/>
          <p:cNvSpPr/>
          <p:nvPr/>
        </p:nvSpPr>
        <p:spPr>
          <a:xfrm>
            <a:off x="7955280" y="5760720"/>
            <a:ext cx="33832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i="1" dirty="0">
                <a:solidFill>
                  <a:srgbClr val="6E747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Everything installs together as one pack.</a:t>
            </a:r>
            <a:endParaRPr lang="en-US" sz="105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00000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84048"/>
            <a:ext cx="110642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200" kern="0" dirty="0">
                <a:solidFill>
                  <a:srgbClr val="E8551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CAPABILITIES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548640" y="640080"/>
            <a:ext cx="1106424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What you can do with it</a:t>
            </a:r>
            <a:endParaRPr lang="en-US" sz="3300" dirty="0"/>
          </a:p>
        </p:txBody>
      </p:sp>
      <p:sp>
        <p:nvSpPr>
          <p:cNvPr id="4" name="Shape 2"/>
          <p:cNvSpPr/>
          <p:nvPr/>
        </p:nvSpPr>
        <p:spPr>
          <a:xfrm>
            <a:off x="548640" y="1517904"/>
            <a:ext cx="5349240" cy="1024128"/>
          </a:xfrm>
          <a:prstGeom prst="roundRect">
            <a:avLst>
              <a:gd name="adj" fmla="val 4464"/>
            </a:avLst>
          </a:prstGeom>
          <a:solidFill>
            <a:srgbClr val="15171B"/>
          </a:solidFill>
          <a:ln w="12700">
            <a:solidFill>
              <a:srgbClr val="15171B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768096" y="1847088"/>
            <a:ext cx="310896" cy="310896"/>
          </a:xfrm>
          <a:prstGeom prst="roundRect">
            <a:avLst>
              <a:gd name="adj" fmla="val 26471"/>
            </a:avLst>
          </a:prstGeom>
          <a:solidFill>
            <a:srgbClr val="E8551F"/>
          </a:solidFill>
          <a:ln w="12700">
            <a:solidFill>
              <a:srgbClr val="E8551F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768096" y="1847088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1300" dirty="0"/>
          </a:p>
        </p:txBody>
      </p:sp>
      <p:sp>
        <p:nvSpPr>
          <p:cNvPr id="7" name="Text 5"/>
          <p:cNvSpPr/>
          <p:nvPr/>
        </p:nvSpPr>
        <p:spPr>
          <a:xfrm>
            <a:off x="1261872" y="1700784"/>
            <a:ext cx="44348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Telemetry collection</a:t>
            </a:r>
            <a:endParaRPr lang="en-US" sz="1350" dirty="0"/>
          </a:p>
        </p:txBody>
      </p:sp>
      <p:sp>
        <p:nvSpPr>
          <p:cNvPr id="8" name="Text 6"/>
          <p:cNvSpPr/>
          <p:nvPr/>
        </p:nvSpPr>
        <p:spPr>
          <a:xfrm>
            <a:off x="1261872" y="2020824"/>
            <a:ext cx="443484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B4B7B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Alerts and audit logs into koi_koi_raw, mapped to XDM.</a:t>
            </a:r>
            <a:endParaRPr lang="en-US" sz="1050" dirty="0"/>
          </a:p>
        </p:txBody>
      </p:sp>
      <p:sp>
        <p:nvSpPr>
          <p:cNvPr id="9" name="Shape 7"/>
          <p:cNvSpPr/>
          <p:nvPr/>
        </p:nvSpPr>
        <p:spPr>
          <a:xfrm>
            <a:off x="6263640" y="1517904"/>
            <a:ext cx="5349240" cy="1024128"/>
          </a:xfrm>
          <a:prstGeom prst="roundRect">
            <a:avLst>
              <a:gd name="adj" fmla="val 4464"/>
            </a:avLst>
          </a:prstGeom>
          <a:solidFill>
            <a:srgbClr val="15171B"/>
          </a:solidFill>
          <a:ln w="12700">
            <a:solidFill>
              <a:srgbClr val="15171B"/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>
            <a:off x="6483096" y="1847088"/>
            <a:ext cx="310896" cy="310896"/>
          </a:xfrm>
          <a:prstGeom prst="roundRect">
            <a:avLst>
              <a:gd name="adj" fmla="val 26471"/>
            </a:avLst>
          </a:prstGeom>
          <a:solidFill>
            <a:srgbClr val="22D3EE"/>
          </a:solidFill>
          <a:ln w="12700">
            <a:solidFill>
              <a:srgbClr val="22D3EE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6483096" y="1847088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1300" dirty="0"/>
          </a:p>
        </p:txBody>
      </p:sp>
      <p:sp>
        <p:nvSpPr>
          <p:cNvPr id="12" name="Text 10"/>
          <p:cNvSpPr/>
          <p:nvPr/>
        </p:nvSpPr>
        <p:spPr>
          <a:xfrm>
            <a:off x="6976872" y="1700784"/>
            <a:ext cx="44348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Asset &amp; posture visibility</a:t>
            </a:r>
            <a:endParaRPr lang="en-US" sz="1350" dirty="0"/>
          </a:p>
        </p:txBody>
      </p:sp>
      <p:sp>
        <p:nvSpPr>
          <p:cNvPr id="13" name="Text 11"/>
          <p:cNvSpPr/>
          <p:nvPr/>
        </p:nvSpPr>
        <p:spPr>
          <a:xfrm>
            <a:off x="6976872" y="2020824"/>
            <a:ext cx="443484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B4B7B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Everything running, per item or per device, with risk scoring.</a:t>
            </a:r>
            <a:endParaRPr lang="en-US" sz="1050" dirty="0"/>
          </a:p>
        </p:txBody>
      </p:sp>
      <p:sp>
        <p:nvSpPr>
          <p:cNvPr id="14" name="Shape 12"/>
          <p:cNvSpPr/>
          <p:nvPr/>
        </p:nvSpPr>
        <p:spPr>
          <a:xfrm>
            <a:off x="548640" y="2697480"/>
            <a:ext cx="5349240" cy="1024128"/>
          </a:xfrm>
          <a:prstGeom prst="roundRect">
            <a:avLst>
              <a:gd name="adj" fmla="val 4464"/>
            </a:avLst>
          </a:prstGeom>
          <a:solidFill>
            <a:srgbClr val="15171B"/>
          </a:solidFill>
          <a:ln w="12700">
            <a:solidFill>
              <a:srgbClr val="15171B"/>
            </a:solidFill>
            <a:prstDash val="solid"/>
          </a:ln>
        </p:spPr>
      </p:sp>
      <p:sp>
        <p:nvSpPr>
          <p:cNvPr id="15" name="Shape 13"/>
          <p:cNvSpPr/>
          <p:nvPr/>
        </p:nvSpPr>
        <p:spPr>
          <a:xfrm>
            <a:off x="768096" y="3026664"/>
            <a:ext cx="310896" cy="310896"/>
          </a:xfrm>
          <a:prstGeom prst="roundRect">
            <a:avLst>
              <a:gd name="adj" fmla="val 26471"/>
            </a:avLst>
          </a:prstGeom>
          <a:solidFill>
            <a:srgbClr val="E8551F"/>
          </a:solidFill>
          <a:ln w="12700">
            <a:solidFill>
              <a:srgbClr val="E8551F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768096" y="3026664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1300" dirty="0"/>
          </a:p>
        </p:txBody>
      </p:sp>
      <p:sp>
        <p:nvSpPr>
          <p:cNvPr id="17" name="Text 15"/>
          <p:cNvSpPr/>
          <p:nvPr/>
        </p:nvSpPr>
        <p:spPr>
          <a:xfrm>
            <a:off x="1261872" y="2880360"/>
            <a:ext cx="44348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Threat intelligence</a:t>
            </a:r>
            <a:endParaRPr lang="en-US" sz="1350" dirty="0"/>
          </a:p>
        </p:txBody>
      </p:sp>
      <p:sp>
        <p:nvSpPr>
          <p:cNvPr id="18" name="Text 16"/>
          <p:cNvSpPr/>
          <p:nvPr/>
        </p:nvSpPr>
        <p:spPr>
          <a:xfrm>
            <a:off x="1261872" y="3200400"/>
            <a:ext cx="443484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B4B7B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Koidex risk score, findings and an AI-generated risk summary.</a:t>
            </a:r>
            <a:endParaRPr lang="en-US" sz="1050" dirty="0"/>
          </a:p>
        </p:txBody>
      </p:sp>
      <p:sp>
        <p:nvSpPr>
          <p:cNvPr id="19" name="Shape 17"/>
          <p:cNvSpPr/>
          <p:nvPr/>
        </p:nvSpPr>
        <p:spPr>
          <a:xfrm>
            <a:off x="6263640" y="2697480"/>
            <a:ext cx="5349240" cy="1024128"/>
          </a:xfrm>
          <a:prstGeom prst="roundRect">
            <a:avLst>
              <a:gd name="adj" fmla="val 4464"/>
            </a:avLst>
          </a:prstGeom>
          <a:solidFill>
            <a:srgbClr val="15171B"/>
          </a:solidFill>
          <a:ln w="12700">
            <a:solidFill>
              <a:srgbClr val="15171B"/>
            </a:solidFill>
            <a:prstDash val="solid"/>
          </a:ln>
        </p:spPr>
      </p:sp>
      <p:sp>
        <p:nvSpPr>
          <p:cNvPr id="20" name="Shape 18"/>
          <p:cNvSpPr/>
          <p:nvPr/>
        </p:nvSpPr>
        <p:spPr>
          <a:xfrm>
            <a:off x="6483096" y="3026664"/>
            <a:ext cx="310896" cy="310896"/>
          </a:xfrm>
          <a:prstGeom prst="roundRect">
            <a:avLst>
              <a:gd name="adj" fmla="val 26471"/>
            </a:avLst>
          </a:prstGeom>
          <a:solidFill>
            <a:srgbClr val="22D3EE"/>
          </a:solidFill>
          <a:ln w="12700">
            <a:solidFill>
              <a:srgbClr val="22D3EE"/>
            </a:solidFill>
            <a:prstDash val="solid"/>
          </a:ln>
        </p:spPr>
      </p:sp>
      <p:sp>
        <p:nvSpPr>
          <p:cNvPr id="21" name="Text 19"/>
          <p:cNvSpPr/>
          <p:nvPr/>
        </p:nvSpPr>
        <p:spPr>
          <a:xfrm>
            <a:off x="6483096" y="3026664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</a:t>
            </a:r>
            <a:endParaRPr lang="en-US" sz="1300" dirty="0"/>
          </a:p>
        </p:txBody>
      </p:sp>
      <p:sp>
        <p:nvSpPr>
          <p:cNvPr id="22" name="Text 20"/>
          <p:cNvSpPr/>
          <p:nvPr/>
        </p:nvSpPr>
        <p:spPr>
          <a:xfrm>
            <a:off x="6976872" y="2880360"/>
            <a:ext cx="44348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Automated triage</a:t>
            </a:r>
            <a:endParaRPr lang="en-US" sz="1350" dirty="0"/>
          </a:p>
        </p:txBody>
      </p:sp>
      <p:sp>
        <p:nvSpPr>
          <p:cNvPr id="23" name="Text 21"/>
          <p:cNvSpPr/>
          <p:nvPr/>
        </p:nvSpPr>
        <p:spPr>
          <a:xfrm>
            <a:off x="6976872" y="3200400"/>
            <a:ext cx="443484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B4B7B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Benign / Suspicious / Malicious on every alert, with routing.</a:t>
            </a:r>
            <a:endParaRPr lang="en-US" sz="1050" dirty="0"/>
          </a:p>
        </p:txBody>
      </p:sp>
      <p:sp>
        <p:nvSpPr>
          <p:cNvPr id="24" name="Shape 22"/>
          <p:cNvSpPr/>
          <p:nvPr/>
        </p:nvSpPr>
        <p:spPr>
          <a:xfrm>
            <a:off x="548640" y="3877056"/>
            <a:ext cx="5349240" cy="1024128"/>
          </a:xfrm>
          <a:prstGeom prst="roundRect">
            <a:avLst>
              <a:gd name="adj" fmla="val 4464"/>
            </a:avLst>
          </a:prstGeom>
          <a:solidFill>
            <a:srgbClr val="15171B"/>
          </a:solidFill>
          <a:ln w="12700">
            <a:solidFill>
              <a:srgbClr val="15171B"/>
            </a:solidFill>
            <a:prstDash val="solid"/>
          </a:ln>
        </p:spPr>
      </p:sp>
      <p:sp>
        <p:nvSpPr>
          <p:cNvPr id="25" name="Shape 23"/>
          <p:cNvSpPr/>
          <p:nvPr/>
        </p:nvSpPr>
        <p:spPr>
          <a:xfrm>
            <a:off x="768096" y="4206240"/>
            <a:ext cx="310896" cy="310896"/>
          </a:xfrm>
          <a:prstGeom prst="roundRect">
            <a:avLst>
              <a:gd name="adj" fmla="val 26471"/>
            </a:avLst>
          </a:prstGeom>
          <a:solidFill>
            <a:srgbClr val="E8551F"/>
          </a:solidFill>
          <a:ln w="12700">
            <a:solidFill>
              <a:srgbClr val="E8551F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768096" y="4206240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</a:t>
            </a:r>
            <a:endParaRPr lang="en-US" sz="1300" dirty="0"/>
          </a:p>
        </p:txBody>
      </p:sp>
      <p:sp>
        <p:nvSpPr>
          <p:cNvPr id="27" name="Text 25"/>
          <p:cNvSpPr/>
          <p:nvPr/>
        </p:nvSpPr>
        <p:spPr>
          <a:xfrm>
            <a:off x="1261872" y="4059936"/>
            <a:ext cx="44348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Deep investigation</a:t>
            </a:r>
            <a:endParaRPr lang="en-US" sz="1350" dirty="0"/>
          </a:p>
        </p:txBody>
      </p:sp>
      <p:sp>
        <p:nvSpPr>
          <p:cNvPr id="28" name="Text 26"/>
          <p:cNvSpPr/>
          <p:nvPr/>
        </p:nvSpPr>
        <p:spPr>
          <a:xfrm>
            <a:off x="1261872" y="4379976"/>
            <a:ext cx="443484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B4B7B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Item exposure and device posture gathered automatically.</a:t>
            </a:r>
            <a:endParaRPr lang="en-US" sz="1050" dirty="0"/>
          </a:p>
        </p:txBody>
      </p:sp>
      <p:sp>
        <p:nvSpPr>
          <p:cNvPr id="29" name="Shape 27"/>
          <p:cNvSpPr/>
          <p:nvPr/>
        </p:nvSpPr>
        <p:spPr>
          <a:xfrm>
            <a:off x="6263640" y="3877056"/>
            <a:ext cx="5349240" cy="1024128"/>
          </a:xfrm>
          <a:prstGeom prst="roundRect">
            <a:avLst>
              <a:gd name="adj" fmla="val 4464"/>
            </a:avLst>
          </a:prstGeom>
          <a:solidFill>
            <a:srgbClr val="15171B"/>
          </a:solidFill>
          <a:ln w="12700">
            <a:solidFill>
              <a:srgbClr val="15171B"/>
            </a:solidFill>
            <a:prstDash val="solid"/>
          </a:ln>
        </p:spPr>
      </p:sp>
      <p:sp>
        <p:nvSpPr>
          <p:cNvPr id="30" name="Shape 28"/>
          <p:cNvSpPr/>
          <p:nvPr/>
        </p:nvSpPr>
        <p:spPr>
          <a:xfrm>
            <a:off x="6483096" y="4206240"/>
            <a:ext cx="310896" cy="310896"/>
          </a:xfrm>
          <a:prstGeom prst="roundRect">
            <a:avLst>
              <a:gd name="adj" fmla="val 26471"/>
            </a:avLst>
          </a:prstGeom>
          <a:solidFill>
            <a:srgbClr val="22D3EE"/>
          </a:solidFill>
          <a:ln w="12700">
            <a:solidFill>
              <a:srgbClr val="22D3EE"/>
            </a:solidFill>
            <a:prstDash val="solid"/>
          </a:ln>
        </p:spPr>
      </p:sp>
      <p:sp>
        <p:nvSpPr>
          <p:cNvPr id="31" name="Text 29"/>
          <p:cNvSpPr/>
          <p:nvPr/>
        </p:nvSpPr>
        <p:spPr>
          <a:xfrm>
            <a:off x="6483096" y="4206240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6</a:t>
            </a:r>
            <a:endParaRPr lang="en-US" sz="1300" dirty="0"/>
          </a:p>
        </p:txBody>
      </p:sp>
      <p:sp>
        <p:nvSpPr>
          <p:cNvPr id="32" name="Text 30"/>
          <p:cNvSpPr/>
          <p:nvPr/>
        </p:nvSpPr>
        <p:spPr>
          <a:xfrm>
            <a:off x="6976872" y="4059936"/>
            <a:ext cx="44348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Analyst-gated response</a:t>
            </a:r>
            <a:endParaRPr lang="en-US" sz="1350" dirty="0"/>
          </a:p>
        </p:txBody>
      </p:sp>
      <p:sp>
        <p:nvSpPr>
          <p:cNvPr id="33" name="Text 31"/>
          <p:cNvSpPr/>
          <p:nvPr/>
        </p:nvSpPr>
        <p:spPr>
          <a:xfrm>
            <a:off x="6976872" y="4379976"/>
            <a:ext cx="443484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B4B7B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Org-wide blocklisting only after a human approves.</a:t>
            </a:r>
            <a:endParaRPr lang="en-US" sz="1050" dirty="0"/>
          </a:p>
        </p:txBody>
      </p:sp>
      <p:sp>
        <p:nvSpPr>
          <p:cNvPr id="34" name="Shape 32"/>
          <p:cNvSpPr/>
          <p:nvPr/>
        </p:nvSpPr>
        <p:spPr>
          <a:xfrm>
            <a:off x="548640" y="5056632"/>
            <a:ext cx="5349240" cy="1024128"/>
          </a:xfrm>
          <a:prstGeom prst="roundRect">
            <a:avLst>
              <a:gd name="adj" fmla="val 4464"/>
            </a:avLst>
          </a:prstGeom>
          <a:solidFill>
            <a:srgbClr val="15171B"/>
          </a:solidFill>
          <a:ln w="12700">
            <a:solidFill>
              <a:srgbClr val="15171B"/>
            </a:solidFill>
            <a:prstDash val="solid"/>
          </a:ln>
        </p:spPr>
      </p:sp>
      <p:sp>
        <p:nvSpPr>
          <p:cNvPr id="35" name="Shape 33"/>
          <p:cNvSpPr/>
          <p:nvPr/>
        </p:nvSpPr>
        <p:spPr>
          <a:xfrm>
            <a:off x="768096" y="5385816"/>
            <a:ext cx="310896" cy="310896"/>
          </a:xfrm>
          <a:prstGeom prst="roundRect">
            <a:avLst>
              <a:gd name="adj" fmla="val 26471"/>
            </a:avLst>
          </a:prstGeom>
          <a:solidFill>
            <a:srgbClr val="E8551F"/>
          </a:solidFill>
          <a:ln w="12700">
            <a:solidFill>
              <a:srgbClr val="E8551F"/>
            </a:solidFill>
            <a:prstDash val="solid"/>
          </a:ln>
        </p:spPr>
      </p:sp>
      <p:sp>
        <p:nvSpPr>
          <p:cNvPr id="36" name="Text 34"/>
          <p:cNvSpPr/>
          <p:nvPr/>
        </p:nvSpPr>
        <p:spPr>
          <a:xfrm>
            <a:off x="768096" y="5385816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7</a:t>
            </a:r>
            <a:endParaRPr lang="en-US" sz="1300" dirty="0"/>
          </a:p>
        </p:txBody>
      </p:sp>
      <p:sp>
        <p:nvSpPr>
          <p:cNvPr id="37" name="Text 35"/>
          <p:cNvSpPr/>
          <p:nvPr/>
        </p:nvSpPr>
        <p:spPr>
          <a:xfrm>
            <a:off x="1261872" y="5239512"/>
            <a:ext cx="44348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Proactive hunting</a:t>
            </a:r>
            <a:endParaRPr lang="en-US" sz="1350" dirty="0"/>
          </a:p>
        </p:txBody>
      </p:sp>
      <p:sp>
        <p:nvSpPr>
          <p:cNvPr id="38" name="Text 36"/>
          <p:cNvSpPr/>
          <p:nvPr/>
        </p:nvSpPr>
        <p:spPr>
          <a:xfrm>
            <a:off x="1261872" y="5559552"/>
            <a:ext cx="443484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B4B7B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Scheduled MCP-server audit across the estate.</a:t>
            </a:r>
            <a:endParaRPr lang="en-US" sz="1050" dirty="0"/>
          </a:p>
        </p:txBody>
      </p:sp>
      <p:sp>
        <p:nvSpPr>
          <p:cNvPr id="39" name="Shape 37"/>
          <p:cNvSpPr/>
          <p:nvPr/>
        </p:nvSpPr>
        <p:spPr>
          <a:xfrm>
            <a:off x="6263640" y="5056632"/>
            <a:ext cx="5349240" cy="1024128"/>
          </a:xfrm>
          <a:prstGeom prst="roundRect">
            <a:avLst>
              <a:gd name="adj" fmla="val 4464"/>
            </a:avLst>
          </a:prstGeom>
          <a:solidFill>
            <a:srgbClr val="15171B"/>
          </a:solidFill>
          <a:ln w="12700">
            <a:solidFill>
              <a:srgbClr val="15171B"/>
            </a:solidFill>
            <a:prstDash val="solid"/>
          </a:ln>
        </p:spPr>
      </p:sp>
      <p:sp>
        <p:nvSpPr>
          <p:cNvPr id="40" name="Shape 38"/>
          <p:cNvSpPr/>
          <p:nvPr/>
        </p:nvSpPr>
        <p:spPr>
          <a:xfrm>
            <a:off x="6483096" y="5385816"/>
            <a:ext cx="310896" cy="310896"/>
          </a:xfrm>
          <a:prstGeom prst="roundRect">
            <a:avLst>
              <a:gd name="adj" fmla="val 26471"/>
            </a:avLst>
          </a:prstGeom>
          <a:solidFill>
            <a:srgbClr val="22D3EE"/>
          </a:solidFill>
          <a:ln w="12700">
            <a:solidFill>
              <a:srgbClr val="22D3EE"/>
            </a:solidFill>
            <a:prstDash val="solid"/>
          </a:ln>
        </p:spPr>
      </p:sp>
      <p:sp>
        <p:nvSpPr>
          <p:cNvPr id="41" name="Text 39"/>
          <p:cNvSpPr/>
          <p:nvPr/>
        </p:nvSpPr>
        <p:spPr>
          <a:xfrm>
            <a:off x="6483096" y="5385816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8</a:t>
            </a:r>
            <a:endParaRPr lang="en-US" sz="1300" dirty="0"/>
          </a:p>
        </p:txBody>
      </p:sp>
      <p:sp>
        <p:nvSpPr>
          <p:cNvPr id="42" name="Text 40"/>
          <p:cNvSpPr/>
          <p:nvPr/>
        </p:nvSpPr>
        <p:spPr>
          <a:xfrm>
            <a:off x="6976872" y="5239512"/>
            <a:ext cx="44348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Fleet script execution</a:t>
            </a:r>
            <a:endParaRPr lang="en-US" sz="1350" dirty="0"/>
          </a:p>
        </p:txBody>
      </p:sp>
      <p:sp>
        <p:nvSpPr>
          <p:cNvPr id="43" name="Text 41"/>
          <p:cNvSpPr/>
          <p:nvPr/>
        </p:nvSpPr>
        <p:spPr>
          <a:xfrm>
            <a:off x="6976872" y="5559552"/>
            <a:ext cx="443484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B4B7B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Scheduled KOI script runs on Cortex-Agent endpoints.</a:t>
            </a:r>
            <a:endParaRPr lang="en-US" sz="105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00000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84048"/>
            <a:ext cx="110642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200" kern="0" dirty="0">
                <a:solidFill>
                  <a:srgbClr val="E8551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ARCHITECTURE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548640" y="640080"/>
            <a:ext cx="1106424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How it flows</a:t>
            </a:r>
            <a:endParaRPr lang="en-US" sz="3300" dirty="0"/>
          </a:p>
        </p:txBody>
      </p:sp>
      <p:sp>
        <p:nvSpPr>
          <p:cNvPr id="4" name="Text 2"/>
          <p:cNvSpPr/>
          <p:nvPr/>
        </p:nvSpPr>
        <p:spPr>
          <a:xfrm>
            <a:off x="548640" y="1444752"/>
            <a:ext cx="110642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b="1" spc="100" kern="0" dirty="0">
                <a:solidFill>
                  <a:srgbClr val="E8551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Telemetry pipeline</a:t>
            </a:r>
            <a:endParaRPr lang="en-US" sz="1200" dirty="0"/>
          </a:p>
        </p:txBody>
      </p:sp>
      <p:sp>
        <p:nvSpPr>
          <p:cNvPr id="5" name="Shape 3"/>
          <p:cNvSpPr/>
          <p:nvPr/>
        </p:nvSpPr>
        <p:spPr>
          <a:xfrm>
            <a:off x="548640" y="1810512"/>
            <a:ext cx="1993392" cy="1371600"/>
          </a:xfrm>
          <a:prstGeom prst="roundRect">
            <a:avLst>
              <a:gd name="adj" fmla="val 3333"/>
            </a:avLst>
          </a:prstGeom>
          <a:solidFill>
            <a:srgbClr val="15171B"/>
          </a:solidFill>
          <a:ln w="12700">
            <a:solidFill>
              <a:srgbClr val="15171B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713232" y="1956816"/>
            <a:ext cx="1664208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KOI API</a:t>
            </a:r>
            <a:endParaRPr lang="en-US" sz="1300" dirty="0"/>
          </a:p>
        </p:txBody>
      </p:sp>
      <p:sp>
        <p:nvSpPr>
          <p:cNvPr id="7" name="Text 5"/>
          <p:cNvSpPr/>
          <p:nvPr/>
        </p:nvSpPr>
        <p:spPr>
          <a:xfrm>
            <a:off x="713232" y="2286000"/>
            <a:ext cx="1664208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400"/>
              </a:lnSpc>
              <a:buNone/>
            </a:pPr>
            <a:r>
              <a:rPr lang="en-US" sz="1050" dirty="0">
                <a:solidFill>
                  <a:srgbClr val="B4B7B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Alerts, audit,</a:t>
            </a:r>
            <a:endParaRPr lang="en-US" sz="1050" dirty="0"/>
          </a:p>
          <a:p>
            <a:pPr indent="0" marL="0">
              <a:lnSpc>
                <a:spcPts val="1400"/>
              </a:lnSpc>
              <a:buNone/>
            </a:pPr>
            <a:r>
              <a:rPr lang="en-US" sz="1050" dirty="0">
                <a:solidFill>
                  <a:srgbClr val="B4B7B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inventory, Koidex</a:t>
            </a:r>
            <a:endParaRPr lang="en-US" sz="1050" dirty="0"/>
          </a:p>
        </p:txBody>
      </p:sp>
      <p:sp>
        <p:nvSpPr>
          <p:cNvPr id="8" name="Shape 6"/>
          <p:cNvSpPr/>
          <p:nvPr/>
        </p:nvSpPr>
        <p:spPr>
          <a:xfrm>
            <a:off x="2542032" y="2404872"/>
            <a:ext cx="274320" cy="182880"/>
          </a:xfrm>
          <a:prstGeom prst="rightArrow">
            <a:avLst/>
          </a:prstGeom>
          <a:solidFill>
            <a:srgbClr val="E8551F"/>
          </a:solidFill>
          <a:ln w="12700">
            <a:solidFill>
              <a:srgbClr val="E8551F"/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2807208" y="1810512"/>
            <a:ext cx="1993392" cy="1371600"/>
          </a:xfrm>
          <a:prstGeom prst="roundRect">
            <a:avLst>
              <a:gd name="adj" fmla="val 3333"/>
            </a:avLst>
          </a:prstGeom>
          <a:solidFill>
            <a:srgbClr val="15171B"/>
          </a:solidFill>
          <a:ln w="12700">
            <a:solidFill>
              <a:srgbClr val="15171B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2971800" y="1956816"/>
            <a:ext cx="1664208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Integration</a:t>
            </a:r>
            <a:endParaRPr lang="en-US" sz="1300" dirty="0"/>
          </a:p>
        </p:txBody>
      </p:sp>
      <p:sp>
        <p:nvSpPr>
          <p:cNvPr id="11" name="Text 9"/>
          <p:cNvSpPr/>
          <p:nvPr/>
        </p:nvSpPr>
        <p:spPr>
          <a:xfrm>
            <a:off x="2971800" y="2286000"/>
            <a:ext cx="1664208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400"/>
              </a:lnSpc>
              <a:buNone/>
            </a:pPr>
            <a:r>
              <a:rPr lang="en-US" sz="1050" dirty="0">
                <a:solidFill>
                  <a:srgbClr val="22D3E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Runs on tenant</a:t>
            </a:r>
            <a:endParaRPr lang="en-US" sz="1050" dirty="0"/>
          </a:p>
          <a:p>
            <a:pPr indent="0" marL="0">
              <a:lnSpc>
                <a:spcPts val="1400"/>
              </a:lnSpc>
              <a:buNone/>
            </a:pPr>
            <a:r>
              <a:rPr lang="en-US" sz="1050" dirty="0">
                <a:solidFill>
                  <a:srgbClr val="22D3E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or a Cortex engine</a:t>
            </a:r>
            <a:endParaRPr lang="en-US" sz="1050" dirty="0"/>
          </a:p>
        </p:txBody>
      </p:sp>
      <p:sp>
        <p:nvSpPr>
          <p:cNvPr id="12" name="Shape 10"/>
          <p:cNvSpPr/>
          <p:nvPr/>
        </p:nvSpPr>
        <p:spPr>
          <a:xfrm>
            <a:off x="4800600" y="2404872"/>
            <a:ext cx="274320" cy="182880"/>
          </a:xfrm>
          <a:prstGeom prst="rightArrow">
            <a:avLst/>
          </a:prstGeom>
          <a:solidFill>
            <a:srgbClr val="E8551F"/>
          </a:solidFill>
          <a:ln w="12700">
            <a:solidFill>
              <a:srgbClr val="E8551F"/>
            </a:solidFill>
            <a:prstDash val="solid"/>
          </a:ln>
        </p:spPr>
      </p:sp>
      <p:sp>
        <p:nvSpPr>
          <p:cNvPr id="13" name="Shape 11"/>
          <p:cNvSpPr/>
          <p:nvPr/>
        </p:nvSpPr>
        <p:spPr>
          <a:xfrm>
            <a:off x="5065776" y="1810512"/>
            <a:ext cx="1993392" cy="1371600"/>
          </a:xfrm>
          <a:prstGeom prst="roundRect">
            <a:avLst>
              <a:gd name="adj" fmla="val 3333"/>
            </a:avLst>
          </a:prstGeom>
          <a:solidFill>
            <a:srgbClr val="15171B"/>
          </a:solidFill>
          <a:ln w="12700">
            <a:solidFill>
              <a:srgbClr val="15171B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5230368" y="1956816"/>
            <a:ext cx="1664208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koi_koi_raw</a:t>
            </a:r>
            <a:endParaRPr lang="en-US" sz="1300" dirty="0"/>
          </a:p>
        </p:txBody>
      </p:sp>
      <p:sp>
        <p:nvSpPr>
          <p:cNvPr id="15" name="Text 13"/>
          <p:cNvSpPr/>
          <p:nvPr/>
        </p:nvSpPr>
        <p:spPr>
          <a:xfrm>
            <a:off x="5230368" y="2286000"/>
            <a:ext cx="1664208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400"/>
              </a:lnSpc>
              <a:buNone/>
            </a:pPr>
            <a:r>
              <a:rPr lang="en-US" sz="1050" dirty="0">
                <a:solidFill>
                  <a:srgbClr val="B4B7B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Raw events</a:t>
            </a:r>
            <a:endParaRPr lang="en-US" sz="1050" dirty="0"/>
          </a:p>
          <a:p>
            <a:pPr indent="0" marL="0">
              <a:lnSpc>
                <a:spcPts val="1400"/>
              </a:lnSpc>
              <a:buNone/>
            </a:pPr>
            <a:r>
              <a:rPr lang="en-US" sz="1050" dirty="0">
                <a:solidFill>
                  <a:srgbClr val="B4B7B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land here</a:t>
            </a:r>
            <a:endParaRPr lang="en-US" sz="1050" dirty="0"/>
          </a:p>
        </p:txBody>
      </p:sp>
      <p:sp>
        <p:nvSpPr>
          <p:cNvPr id="16" name="Shape 14"/>
          <p:cNvSpPr/>
          <p:nvPr/>
        </p:nvSpPr>
        <p:spPr>
          <a:xfrm>
            <a:off x="7059168" y="2404872"/>
            <a:ext cx="274320" cy="182880"/>
          </a:xfrm>
          <a:prstGeom prst="rightArrow">
            <a:avLst/>
          </a:prstGeom>
          <a:solidFill>
            <a:srgbClr val="E8551F"/>
          </a:solidFill>
          <a:ln w="12700">
            <a:solidFill>
              <a:srgbClr val="E8551F"/>
            </a:solidFill>
            <a:prstDash val="solid"/>
          </a:ln>
        </p:spPr>
      </p:sp>
      <p:sp>
        <p:nvSpPr>
          <p:cNvPr id="17" name="Shape 15"/>
          <p:cNvSpPr/>
          <p:nvPr/>
        </p:nvSpPr>
        <p:spPr>
          <a:xfrm>
            <a:off x="7324344" y="1810512"/>
            <a:ext cx="1993392" cy="1371600"/>
          </a:xfrm>
          <a:prstGeom prst="roundRect">
            <a:avLst>
              <a:gd name="adj" fmla="val 3333"/>
            </a:avLst>
          </a:prstGeom>
          <a:solidFill>
            <a:srgbClr val="15171B"/>
          </a:solidFill>
          <a:ln w="12700">
            <a:solidFill>
              <a:srgbClr val="15171B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7488936" y="1956816"/>
            <a:ext cx="1664208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Parsing + modeling</a:t>
            </a:r>
            <a:endParaRPr lang="en-US" sz="1300" dirty="0"/>
          </a:p>
        </p:txBody>
      </p:sp>
      <p:sp>
        <p:nvSpPr>
          <p:cNvPr id="19" name="Text 17"/>
          <p:cNvSpPr/>
          <p:nvPr/>
        </p:nvSpPr>
        <p:spPr>
          <a:xfrm>
            <a:off x="7488936" y="2286000"/>
            <a:ext cx="1664208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400"/>
              </a:lnSpc>
              <a:buNone/>
            </a:pPr>
            <a:r>
              <a:rPr lang="en-US" sz="1050" dirty="0">
                <a:solidFill>
                  <a:srgbClr val="B4B7B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Normalized and</a:t>
            </a:r>
            <a:endParaRPr lang="en-US" sz="1050" dirty="0"/>
          </a:p>
          <a:p>
            <a:pPr indent="0" marL="0">
              <a:lnSpc>
                <a:spcPts val="1400"/>
              </a:lnSpc>
              <a:buNone/>
            </a:pPr>
            <a:r>
              <a:rPr lang="en-US" sz="1050" dirty="0">
                <a:solidFill>
                  <a:srgbClr val="B4B7B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mapped to XDM</a:t>
            </a:r>
            <a:endParaRPr lang="en-US" sz="1050" dirty="0"/>
          </a:p>
        </p:txBody>
      </p:sp>
      <p:sp>
        <p:nvSpPr>
          <p:cNvPr id="20" name="Shape 18"/>
          <p:cNvSpPr/>
          <p:nvPr/>
        </p:nvSpPr>
        <p:spPr>
          <a:xfrm>
            <a:off x="9317736" y="2404872"/>
            <a:ext cx="274320" cy="182880"/>
          </a:xfrm>
          <a:prstGeom prst="rightArrow">
            <a:avLst/>
          </a:prstGeom>
          <a:solidFill>
            <a:srgbClr val="E8551F"/>
          </a:solidFill>
          <a:ln w="12700">
            <a:solidFill>
              <a:srgbClr val="E8551F"/>
            </a:solidFill>
            <a:prstDash val="solid"/>
          </a:ln>
        </p:spPr>
      </p:sp>
      <p:sp>
        <p:nvSpPr>
          <p:cNvPr id="21" name="Shape 19"/>
          <p:cNvSpPr/>
          <p:nvPr/>
        </p:nvSpPr>
        <p:spPr>
          <a:xfrm>
            <a:off x="9582912" y="1810512"/>
            <a:ext cx="1993392" cy="1371600"/>
          </a:xfrm>
          <a:prstGeom prst="roundRect">
            <a:avLst>
              <a:gd name="adj" fmla="val 3333"/>
            </a:avLst>
          </a:prstGeom>
          <a:solidFill>
            <a:srgbClr val="15171B"/>
          </a:solidFill>
          <a:ln w="12700">
            <a:solidFill>
              <a:srgbClr val="15171B"/>
            </a:solidFill>
            <a:prstDash val="solid"/>
          </a:ln>
        </p:spPr>
      </p:sp>
      <p:sp>
        <p:nvSpPr>
          <p:cNvPr id="22" name="Text 20"/>
          <p:cNvSpPr/>
          <p:nvPr/>
        </p:nvSpPr>
        <p:spPr>
          <a:xfrm>
            <a:off x="9747504" y="1956816"/>
            <a:ext cx="1664208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Dashboard &amp; XQL</a:t>
            </a:r>
            <a:endParaRPr lang="en-US" sz="1300" dirty="0"/>
          </a:p>
        </p:txBody>
      </p:sp>
      <p:sp>
        <p:nvSpPr>
          <p:cNvPr id="23" name="Text 21"/>
          <p:cNvSpPr/>
          <p:nvPr/>
        </p:nvSpPr>
        <p:spPr>
          <a:xfrm>
            <a:off x="9747504" y="2286000"/>
            <a:ext cx="1664208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400"/>
              </a:lnSpc>
              <a:buNone/>
            </a:pPr>
            <a:r>
              <a:rPr lang="en-US" sz="1050" dirty="0">
                <a:solidFill>
                  <a:srgbClr val="B4B7B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Hunt, visualize,</a:t>
            </a:r>
            <a:endParaRPr lang="en-US" sz="1050" dirty="0"/>
          </a:p>
          <a:p>
            <a:pPr indent="0" marL="0">
              <a:lnSpc>
                <a:spcPts val="1400"/>
              </a:lnSpc>
              <a:buNone/>
            </a:pPr>
            <a:r>
              <a:rPr lang="en-US" sz="1050" dirty="0">
                <a:solidFill>
                  <a:srgbClr val="B4B7B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correlate</a:t>
            </a:r>
            <a:endParaRPr lang="en-US" sz="1050" dirty="0"/>
          </a:p>
        </p:txBody>
      </p:sp>
      <p:sp>
        <p:nvSpPr>
          <p:cNvPr id="24" name="Text 22"/>
          <p:cNvSpPr/>
          <p:nvPr/>
        </p:nvSpPr>
        <p:spPr>
          <a:xfrm>
            <a:off x="548640" y="3429000"/>
            <a:ext cx="1106424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100" kern="0" dirty="0">
                <a:solidFill>
                  <a:srgbClr val="E8551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Alert-driven automation</a:t>
            </a:r>
            <a:endParaRPr lang="en-US" sz="1200" dirty="0"/>
          </a:p>
        </p:txBody>
      </p:sp>
      <p:sp>
        <p:nvSpPr>
          <p:cNvPr id="25" name="Shape 23"/>
          <p:cNvSpPr/>
          <p:nvPr/>
        </p:nvSpPr>
        <p:spPr>
          <a:xfrm>
            <a:off x="548640" y="3794760"/>
            <a:ext cx="2542032" cy="1188720"/>
          </a:xfrm>
          <a:prstGeom prst="roundRect">
            <a:avLst>
              <a:gd name="adj" fmla="val 3846"/>
            </a:avLst>
          </a:prstGeom>
          <a:solidFill>
            <a:srgbClr val="15171B"/>
          </a:solidFill>
          <a:ln w="12700">
            <a:solidFill>
              <a:srgbClr val="15171B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713232" y="3941064"/>
            <a:ext cx="2212848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KOI alert</a:t>
            </a:r>
            <a:endParaRPr lang="en-US" sz="1300" dirty="0"/>
          </a:p>
        </p:txBody>
      </p:sp>
      <p:sp>
        <p:nvSpPr>
          <p:cNvPr id="27" name="Text 25"/>
          <p:cNvSpPr/>
          <p:nvPr/>
        </p:nvSpPr>
        <p:spPr>
          <a:xfrm>
            <a:off x="713232" y="4270248"/>
            <a:ext cx="2212848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400"/>
              </a:lnSpc>
              <a:buNone/>
            </a:pPr>
            <a:r>
              <a:rPr lang="en-US" sz="1050" dirty="0">
                <a:solidFill>
                  <a:srgbClr val="B4B7B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Ingested into Cortex</a:t>
            </a:r>
            <a:endParaRPr lang="en-US" sz="1050" dirty="0"/>
          </a:p>
        </p:txBody>
      </p:sp>
      <p:sp>
        <p:nvSpPr>
          <p:cNvPr id="28" name="Shape 26"/>
          <p:cNvSpPr/>
          <p:nvPr/>
        </p:nvSpPr>
        <p:spPr>
          <a:xfrm>
            <a:off x="3099816" y="4297680"/>
            <a:ext cx="274320" cy="182880"/>
          </a:xfrm>
          <a:prstGeom prst="rightArrow">
            <a:avLst/>
          </a:prstGeom>
          <a:solidFill>
            <a:srgbClr val="E8551F"/>
          </a:solidFill>
          <a:ln w="12700">
            <a:solidFill>
              <a:srgbClr val="E8551F"/>
            </a:solidFill>
            <a:prstDash val="solid"/>
          </a:ln>
        </p:spPr>
      </p:sp>
      <p:sp>
        <p:nvSpPr>
          <p:cNvPr id="29" name="Shape 27"/>
          <p:cNvSpPr/>
          <p:nvPr/>
        </p:nvSpPr>
        <p:spPr>
          <a:xfrm>
            <a:off x="3383280" y="3794760"/>
            <a:ext cx="2542032" cy="1188720"/>
          </a:xfrm>
          <a:prstGeom prst="roundRect">
            <a:avLst>
              <a:gd name="adj" fmla="val 3846"/>
            </a:avLst>
          </a:prstGeom>
          <a:solidFill>
            <a:srgbClr val="15171B"/>
          </a:solidFill>
          <a:ln w="12700">
            <a:solidFill>
              <a:srgbClr val="15171B"/>
            </a:solidFill>
            <a:prstDash val="solid"/>
          </a:ln>
        </p:spPr>
      </p:sp>
      <p:sp>
        <p:nvSpPr>
          <p:cNvPr id="30" name="Text 28"/>
          <p:cNvSpPr/>
          <p:nvPr/>
        </p:nvSpPr>
        <p:spPr>
          <a:xfrm>
            <a:off x="3547872" y="3941064"/>
            <a:ext cx="2212848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Triage playbook</a:t>
            </a:r>
            <a:endParaRPr lang="en-US" sz="1300" dirty="0"/>
          </a:p>
        </p:txBody>
      </p:sp>
      <p:sp>
        <p:nvSpPr>
          <p:cNvPr id="31" name="Text 29"/>
          <p:cNvSpPr/>
          <p:nvPr/>
        </p:nvSpPr>
        <p:spPr>
          <a:xfrm>
            <a:off x="3547872" y="4270248"/>
            <a:ext cx="2212848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400"/>
              </a:lnSpc>
              <a:buNone/>
            </a:pPr>
            <a:r>
              <a:rPr lang="en-US" sz="1050" dirty="0">
                <a:solidFill>
                  <a:srgbClr val="B4B7B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Investigate + classify</a:t>
            </a:r>
            <a:endParaRPr lang="en-US" sz="1050" dirty="0"/>
          </a:p>
        </p:txBody>
      </p:sp>
      <p:sp>
        <p:nvSpPr>
          <p:cNvPr id="32" name="Shape 30"/>
          <p:cNvSpPr/>
          <p:nvPr/>
        </p:nvSpPr>
        <p:spPr>
          <a:xfrm>
            <a:off x="5934456" y="4297680"/>
            <a:ext cx="274320" cy="182880"/>
          </a:xfrm>
          <a:prstGeom prst="rightArrow">
            <a:avLst/>
          </a:prstGeom>
          <a:solidFill>
            <a:srgbClr val="E8551F"/>
          </a:solidFill>
          <a:ln w="12700">
            <a:solidFill>
              <a:srgbClr val="E8551F"/>
            </a:solidFill>
            <a:prstDash val="solid"/>
          </a:ln>
        </p:spPr>
      </p:sp>
      <p:sp>
        <p:nvSpPr>
          <p:cNvPr id="33" name="Shape 31"/>
          <p:cNvSpPr/>
          <p:nvPr/>
        </p:nvSpPr>
        <p:spPr>
          <a:xfrm>
            <a:off x="6217920" y="3794760"/>
            <a:ext cx="2542032" cy="1188720"/>
          </a:xfrm>
          <a:prstGeom prst="roundRect">
            <a:avLst>
              <a:gd name="adj" fmla="val 3846"/>
            </a:avLst>
          </a:prstGeom>
          <a:solidFill>
            <a:srgbClr val="15171B"/>
          </a:solidFill>
          <a:ln w="12700">
            <a:solidFill>
              <a:srgbClr val="15171B"/>
            </a:solidFill>
            <a:prstDash val="solid"/>
          </a:ln>
        </p:spPr>
      </p:sp>
      <p:sp>
        <p:nvSpPr>
          <p:cNvPr id="34" name="Text 32"/>
          <p:cNvSpPr/>
          <p:nvPr/>
        </p:nvSpPr>
        <p:spPr>
          <a:xfrm>
            <a:off x="6382512" y="3941064"/>
            <a:ext cx="2212848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Verdict</a:t>
            </a:r>
            <a:endParaRPr lang="en-US" sz="1300" dirty="0"/>
          </a:p>
        </p:txBody>
      </p:sp>
      <p:sp>
        <p:nvSpPr>
          <p:cNvPr id="35" name="Text 33"/>
          <p:cNvSpPr/>
          <p:nvPr/>
        </p:nvSpPr>
        <p:spPr>
          <a:xfrm>
            <a:off x="6382512" y="4270248"/>
            <a:ext cx="2212848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400"/>
              </a:lnSpc>
              <a:buNone/>
            </a:pPr>
            <a:r>
              <a:rPr lang="en-US" sz="1050" dirty="0">
                <a:solidFill>
                  <a:srgbClr val="B4B7B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Auto-close or escalate</a:t>
            </a:r>
            <a:endParaRPr lang="en-US" sz="1050" dirty="0"/>
          </a:p>
        </p:txBody>
      </p:sp>
      <p:sp>
        <p:nvSpPr>
          <p:cNvPr id="36" name="Shape 34"/>
          <p:cNvSpPr/>
          <p:nvPr/>
        </p:nvSpPr>
        <p:spPr>
          <a:xfrm>
            <a:off x="8769096" y="4297680"/>
            <a:ext cx="274320" cy="182880"/>
          </a:xfrm>
          <a:prstGeom prst="rightArrow">
            <a:avLst/>
          </a:prstGeom>
          <a:solidFill>
            <a:srgbClr val="E8551F"/>
          </a:solidFill>
          <a:ln w="12700">
            <a:solidFill>
              <a:srgbClr val="E8551F"/>
            </a:solidFill>
            <a:prstDash val="solid"/>
          </a:ln>
        </p:spPr>
      </p:sp>
      <p:sp>
        <p:nvSpPr>
          <p:cNvPr id="37" name="Shape 35"/>
          <p:cNvSpPr/>
          <p:nvPr/>
        </p:nvSpPr>
        <p:spPr>
          <a:xfrm>
            <a:off x="9052560" y="3794760"/>
            <a:ext cx="2542032" cy="1188720"/>
          </a:xfrm>
          <a:prstGeom prst="roundRect">
            <a:avLst>
              <a:gd name="adj" fmla="val 3846"/>
            </a:avLst>
          </a:prstGeom>
          <a:solidFill>
            <a:srgbClr val="15171B"/>
          </a:solidFill>
          <a:ln w="12700">
            <a:solidFill>
              <a:srgbClr val="15171B"/>
            </a:solidFill>
            <a:prstDash val="solid"/>
          </a:ln>
        </p:spPr>
      </p:sp>
      <p:sp>
        <p:nvSpPr>
          <p:cNvPr id="38" name="Text 36"/>
          <p:cNvSpPr/>
          <p:nvPr/>
        </p:nvSpPr>
        <p:spPr>
          <a:xfrm>
            <a:off x="9217152" y="3941064"/>
            <a:ext cx="2212848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Gated response</a:t>
            </a:r>
            <a:endParaRPr lang="en-US" sz="1300" dirty="0"/>
          </a:p>
        </p:txBody>
      </p:sp>
      <p:sp>
        <p:nvSpPr>
          <p:cNvPr id="39" name="Text 37"/>
          <p:cNvSpPr/>
          <p:nvPr/>
        </p:nvSpPr>
        <p:spPr>
          <a:xfrm>
            <a:off x="9217152" y="4270248"/>
            <a:ext cx="2212848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400"/>
              </a:lnSpc>
              <a:buNone/>
            </a:pPr>
            <a:r>
              <a:rPr lang="en-US" sz="1050" dirty="0">
                <a:solidFill>
                  <a:srgbClr val="22D3E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Block only on approval</a:t>
            </a:r>
            <a:endParaRPr lang="en-US" sz="1050" dirty="0"/>
          </a:p>
        </p:txBody>
      </p:sp>
      <p:sp>
        <p:nvSpPr>
          <p:cNvPr id="40" name="Shape 38"/>
          <p:cNvSpPr/>
          <p:nvPr/>
        </p:nvSpPr>
        <p:spPr>
          <a:xfrm>
            <a:off x="548640" y="5257800"/>
            <a:ext cx="11064240" cy="960120"/>
          </a:xfrm>
          <a:prstGeom prst="roundRect">
            <a:avLst>
              <a:gd name="adj" fmla="val 4762"/>
            </a:avLst>
          </a:prstGeom>
          <a:solidFill>
            <a:srgbClr val="1C2026"/>
          </a:solidFill>
          <a:ln w="12700">
            <a:solidFill>
              <a:srgbClr val="1C2026"/>
            </a:solidFill>
            <a:prstDash val="solid"/>
          </a:ln>
        </p:spPr>
      </p:sp>
      <p:sp>
        <p:nvSpPr>
          <p:cNvPr id="41" name="Shape 39"/>
          <p:cNvSpPr/>
          <p:nvPr/>
        </p:nvSpPr>
        <p:spPr>
          <a:xfrm>
            <a:off x="804672" y="5513832"/>
            <a:ext cx="329184" cy="329184"/>
          </a:xfrm>
          <a:prstGeom prst="roundRect">
            <a:avLst>
              <a:gd name="adj" fmla="val 25000"/>
            </a:avLst>
          </a:prstGeom>
          <a:solidFill>
            <a:srgbClr val="E8551F"/>
          </a:solidFill>
          <a:ln w="12700">
            <a:solidFill>
              <a:srgbClr val="E8551F"/>
            </a:solidFill>
            <a:prstDash val="solid"/>
          </a:ln>
        </p:spPr>
      </p:sp>
      <p:sp>
        <p:nvSpPr>
          <p:cNvPr id="42" name="Text 40"/>
          <p:cNvSpPr/>
          <p:nvPr/>
        </p:nvSpPr>
        <p:spPr>
          <a:xfrm>
            <a:off x="804672" y="5513832"/>
            <a:ext cx="32918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!</a:t>
            </a:r>
            <a:endParaRPr lang="en-US" sz="1300" dirty="0"/>
          </a:p>
        </p:txBody>
      </p:sp>
      <p:sp>
        <p:nvSpPr>
          <p:cNvPr id="43" name="Text 41"/>
          <p:cNvSpPr/>
          <p:nvPr/>
        </p:nvSpPr>
        <p:spPr>
          <a:xfrm>
            <a:off x="1335024" y="5413248"/>
            <a:ext cx="2743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Egress matters</a:t>
            </a:r>
            <a:endParaRPr lang="en-US" sz="1250" dirty="0"/>
          </a:p>
        </p:txBody>
      </p:sp>
      <p:sp>
        <p:nvSpPr>
          <p:cNvPr id="44" name="Text 42"/>
          <p:cNvSpPr/>
          <p:nvPr/>
        </p:nvSpPr>
        <p:spPr>
          <a:xfrm>
            <a:off x="1335024" y="5687568"/>
            <a:ext cx="99669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300"/>
              </a:lnSpc>
              <a:buNone/>
            </a:pPr>
            <a:r>
              <a:rPr lang="en-US" sz="1050" dirty="0">
                <a:solidFill>
                  <a:srgbClr val="B4B7B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KOI restricts its sensitive endpoints by source IP. A valid key can still return 403 from a shared cloud egress — run the integration on a Cortex engine whose egress IP KOI accepts. Event collection is unaffected.</a:t>
            </a:r>
            <a:endParaRPr lang="en-US" sz="105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00000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84048"/>
            <a:ext cx="110642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200" kern="0" dirty="0">
                <a:solidFill>
                  <a:srgbClr val="E8551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AUTOMATED TRIAGE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548640" y="640080"/>
            <a:ext cx="1106424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Every alert, investigated before it reaches a human</a:t>
            </a:r>
            <a:endParaRPr lang="en-US" sz="3300" dirty="0"/>
          </a:p>
        </p:txBody>
      </p:sp>
      <p:sp>
        <p:nvSpPr>
          <p:cNvPr id="4" name="Shape 2"/>
          <p:cNvSpPr/>
          <p:nvPr/>
        </p:nvSpPr>
        <p:spPr>
          <a:xfrm>
            <a:off x="548640" y="1572768"/>
            <a:ext cx="2587752" cy="1417320"/>
          </a:xfrm>
          <a:prstGeom prst="roundRect">
            <a:avLst>
              <a:gd name="adj" fmla="val 3226"/>
            </a:avLst>
          </a:prstGeom>
          <a:solidFill>
            <a:srgbClr val="15171B"/>
          </a:solidFill>
          <a:ln w="12700">
            <a:solidFill>
              <a:srgbClr val="15171B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713232" y="1719072"/>
            <a:ext cx="2258568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Extract context</a:t>
            </a:r>
            <a:endParaRPr lang="en-US" sz="1300" dirty="0"/>
          </a:p>
        </p:txBody>
      </p:sp>
      <p:sp>
        <p:nvSpPr>
          <p:cNvPr id="6" name="Text 4"/>
          <p:cNvSpPr/>
          <p:nvPr/>
        </p:nvSpPr>
        <p:spPr>
          <a:xfrm>
            <a:off x="713232" y="2048256"/>
            <a:ext cx="2258568" cy="7955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400"/>
              </a:lnSpc>
              <a:buNone/>
            </a:pPr>
            <a:r>
              <a:rPr lang="en-US" sz="1050" dirty="0">
                <a:solidFill>
                  <a:srgbClr val="B4B7B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Parse the embedded</a:t>
            </a:r>
            <a:endParaRPr lang="en-US" sz="1050" dirty="0"/>
          </a:p>
          <a:p>
            <a:pPr indent="0" marL="0">
              <a:lnSpc>
                <a:spcPts val="1400"/>
              </a:lnSpc>
              <a:buNone/>
            </a:pPr>
            <a:r>
              <a:rPr lang="en-US" sz="1050" dirty="0">
                <a:solidFill>
                  <a:srgbClr val="B4B7B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koi_context payload</a:t>
            </a:r>
            <a:endParaRPr lang="en-US" sz="1050" dirty="0"/>
          </a:p>
        </p:txBody>
      </p:sp>
      <p:sp>
        <p:nvSpPr>
          <p:cNvPr id="7" name="Shape 5"/>
          <p:cNvSpPr/>
          <p:nvPr/>
        </p:nvSpPr>
        <p:spPr>
          <a:xfrm>
            <a:off x="3154680" y="2194560"/>
            <a:ext cx="274320" cy="182880"/>
          </a:xfrm>
          <a:prstGeom prst="rightArrow">
            <a:avLst/>
          </a:prstGeom>
          <a:solidFill>
            <a:srgbClr val="E8551F"/>
          </a:solidFill>
          <a:ln w="12700">
            <a:solidFill>
              <a:srgbClr val="E8551F"/>
            </a:solidFill>
            <a:prstDash val="solid"/>
          </a:ln>
        </p:spPr>
      </p:sp>
      <p:sp>
        <p:nvSpPr>
          <p:cNvPr id="8" name="Shape 6"/>
          <p:cNvSpPr/>
          <p:nvPr/>
        </p:nvSpPr>
        <p:spPr>
          <a:xfrm>
            <a:off x="3438144" y="1572768"/>
            <a:ext cx="2587752" cy="1417320"/>
          </a:xfrm>
          <a:prstGeom prst="roundRect">
            <a:avLst>
              <a:gd name="adj" fmla="val 3226"/>
            </a:avLst>
          </a:prstGeom>
          <a:solidFill>
            <a:srgbClr val="15171B"/>
          </a:solidFill>
          <a:ln w="12700">
            <a:solidFill>
              <a:srgbClr val="15171B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3602736" y="1719072"/>
            <a:ext cx="2258568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Investigate item</a:t>
            </a:r>
            <a:endParaRPr lang="en-US" sz="1300" dirty="0"/>
          </a:p>
        </p:txBody>
      </p:sp>
      <p:sp>
        <p:nvSpPr>
          <p:cNvPr id="10" name="Text 8"/>
          <p:cNvSpPr/>
          <p:nvPr/>
        </p:nvSpPr>
        <p:spPr>
          <a:xfrm>
            <a:off x="3602736" y="2048256"/>
            <a:ext cx="2258568" cy="7955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400"/>
              </a:lnSpc>
              <a:buNone/>
            </a:pPr>
            <a:r>
              <a:rPr lang="en-US" sz="1050" dirty="0">
                <a:solidFill>
                  <a:srgbClr val="B4B7B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Catalog risk, exposure,</a:t>
            </a:r>
            <a:endParaRPr lang="en-US" sz="1050" dirty="0"/>
          </a:p>
          <a:p>
            <a:pPr indent="0" marL="0">
              <a:lnSpc>
                <a:spcPts val="1400"/>
              </a:lnSpc>
              <a:buNone/>
            </a:pPr>
            <a:r>
              <a:rPr lang="en-US" sz="1050" dirty="0">
                <a:solidFill>
                  <a:srgbClr val="B4B7B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governance, history</a:t>
            </a:r>
            <a:endParaRPr lang="en-US" sz="1050" dirty="0"/>
          </a:p>
        </p:txBody>
      </p:sp>
      <p:sp>
        <p:nvSpPr>
          <p:cNvPr id="11" name="Shape 9"/>
          <p:cNvSpPr/>
          <p:nvPr/>
        </p:nvSpPr>
        <p:spPr>
          <a:xfrm>
            <a:off x="6044184" y="2194560"/>
            <a:ext cx="274320" cy="182880"/>
          </a:xfrm>
          <a:prstGeom prst="rightArrow">
            <a:avLst/>
          </a:prstGeom>
          <a:solidFill>
            <a:srgbClr val="E8551F"/>
          </a:solidFill>
          <a:ln w="12700">
            <a:solidFill>
              <a:srgbClr val="E8551F"/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6327648" y="1572768"/>
            <a:ext cx="2587752" cy="1417320"/>
          </a:xfrm>
          <a:prstGeom prst="roundRect">
            <a:avLst>
              <a:gd name="adj" fmla="val 3226"/>
            </a:avLst>
          </a:prstGeom>
          <a:solidFill>
            <a:srgbClr val="15171B"/>
          </a:solidFill>
          <a:ln w="12700">
            <a:solidFill>
              <a:srgbClr val="15171B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6492240" y="1719072"/>
            <a:ext cx="2258568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Investigate device</a:t>
            </a:r>
            <a:endParaRPr lang="en-US" sz="1300" dirty="0"/>
          </a:p>
        </p:txBody>
      </p:sp>
      <p:sp>
        <p:nvSpPr>
          <p:cNvPr id="14" name="Text 12"/>
          <p:cNvSpPr/>
          <p:nvPr/>
        </p:nvSpPr>
        <p:spPr>
          <a:xfrm>
            <a:off x="6492240" y="2048256"/>
            <a:ext cx="2258568" cy="7955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400"/>
              </a:lnSpc>
              <a:buNone/>
            </a:pPr>
            <a:r>
              <a:rPr lang="en-US" sz="1050" dirty="0">
                <a:solidFill>
                  <a:srgbClr val="22D3E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Everything on the host,</a:t>
            </a:r>
            <a:endParaRPr lang="en-US" sz="1050" dirty="0"/>
          </a:p>
          <a:p>
            <a:pPr indent="0" marL="0">
              <a:lnSpc>
                <a:spcPts val="1400"/>
              </a:lnSpc>
              <a:buNone/>
            </a:pPr>
            <a:r>
              <a:rPr lang="en-US" sz="1050" dirty="0">
                <a:solidFill>
                  <a:srgbClr val="22D3E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and what is risky</a:t>
            </a:r>
            <a:endParaRPr lang="en-US" sz="1050" dirty="0"/>
          </a:p>
        </p:txBody>
      </p:sp>
      <p:sp>
        <p:nvSpPr>
          <p:cNvPr id="15" name="Shape 13"/>
          <p:cNvSpPr/>
          <p:nvPr/>
        </p:nvSpPr>
        <p:spPr>
          <a:xfrm>
            <a:off x="8933688" y="2194560"/>
            <a:ext cx="274320" cy="182880"/>
          </a:xfrm>
          <a:prstGeom prst="rightArrow">
            <a:avLst/>
          </a:prstGeom>
          <a:solidFill>
            <a:srgbClr val="E8551F"/>
          </a:solidFill>
          <a:ln w="12700">
            <a:solidFill>
              <a:srgbClr val="E8551F"/>
            </a:solidFill>
            <a:prstDash val="solid"/>
          </a:ln>
        </p:spPr>
      </p:sp>
      <p:sp>
        <p:nvSpPr>
          <p:cNvPr id="16" name="Shape 14"/>
          <p:cNvSpPr/>
          <p:nvPr/>
        </p:nvSpPr>
        <p:spPr>
          <a:xfrm>
            <a:off x="9217152" y="1572768"/>
            <a:ext cx="2587752" cy="1417320"/>
          </a:xfrm>
          <a:prstGeom prst="roundRect">
            <a:avLst>
              <a:gd name="adj" fmla="val 3226"/>
            </a:avLst>
          </a:prstGeom>
          <a:solidFill>
            <a:srgbClr val="15171B"/>
          </a:solidFill>
          <a:ln w="12700">
            <a:solidFill>
              <a:srgbClr val="15171B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9381744" y="1719072"/>
            <a:ext cx="2258568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Verdict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9381744" y="2048256"/>
            <a:ext cx="2258568" cy="7955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400"/>
              </a:lnSpc>
              <a:buNone/>
            </a:pPr>
            <a:r>
              <a:rPr lang="en-US" sz="1050" dirty="0">
                <a:solidFill>
                  <a:srgbClr val="B4B7B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Classify from KOI +</a:t>
            </a:r>
            <a:endParaRPr lang="en-US" sz="1050" dirty="0"/>
          </a:p>
          <a:p>
            <a:pPr indent="0" marL="0">
              <a:lnSpc>
                <a:spcPts val="1400"/>
              </a:lnSpc>
              <a:buNone/>
            </a:pPr>
            <a:r>
              <a:rPr lang="en-US" sz="1050" dirty="0">
                <a:solidFill>
                  <a:srgbClr val="B4B7B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independent catalog risk</a:t>
            </a:r>
            <a:endParaRPr lang="en-US" sz="1050" dirty="0"/>
          </a:p>
        </p:txBody>
      </p:sp>
      <p:sp>
        <p:nvSpPr>
          <p:cNvPr id="19" name="Shape 17"/>
          <p:cNvSpPr/>
          <p:nvPr/>
        </p:nvSpPr>
        <p:spPr>
          <a:xfrm>
            <a:off x="548640" y="3310128"/>
            <a:ext cx="3474720" cy="2487168"/>
          </a:xfrm>
          <a:prstGeom prst="roundRect">
            <a:avLst>
              <a:gd name="adj" fmla="val 1838"/>
            </a:avLst>
          </a:prstGeom>
          <a:solidFill>
            <a:srgbClr val="15171B"/>
          </a:solidFill>
          <a:ln w="12700">
            <a:solidFill>
              <a:srgbClr val="15171B"/>
            </a:solidFill>
            <a:prstDash val="solid"/>
          </a:ln>
        </p:spPr>
      </p:sp>
      <p:sp>
        <p:nvSpPr>
          <p:cNvPr id="20" name="Shape 18"/>
          <p:cNvSpPr/>
          <p:nvPr/>
        </p:nvSpPr>
        <p:spPr>
          <a:xfrm>
            <a:off x="804672" y="3566160"/>
            <a:ext cx="1298448" cy="310896"/>
          </a:xfrm>
          <a:prstGeom prst="roundRect">
            <a:avLst>
              <a:gd name="adj" fmla="val 23529"/>
            </a:avLst>
          </a:prstGeom>
          <a:solidFill>
            <a:srgbClr val="E8551F"/>
          </a:solidFill>
          <a:ln w="12700">
            <a:solidFill>
              <a:srgbClr val="E8551F"/>
            </a:solidFill>
            <a:prstDash val="solid"/>
          </a:ln>
        </p:spPr>
      </p:sp>
      <p:sp>
        <p:nvSpPr>
          <p:cNvPr id="21" name="Text 19"/>
          <p:cNvSpPr/>
          <p:nvPr/>
        </p:nvSpPr>
        <p:spPr>
          <a:xfrm>
            <a:off x="804672" y="3566160"/>
            <a:ext cx="1298448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Malicious</a:t>
            </a:r>
            <a:endParaRPr lang="en-US" sz="1150" dirty="0"/>
          </a:p>
        </p:txBody>
      </p:sp>
      <p:sp>
        <p:nvSpPr>
          <p:cNvPr id="22" name="Text 20"/>
          <p:cNvSpPr/>
          <p:nvPr/>
        </p:nvSpPr>
        <p:spPr>
          <a:xfrm>
            <a:off x="804672" y="4041648"/>
            <a:ext cx="2962656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300"/>
              </a:lnSpc>
              <a:buNone/>
            </a:pPr>
            <a:r>
              <a:rPr lang="en-US" sz="1050" dirty="0">
                <a:solidFill>
                  <a:srgbClr val="B4B7B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Removed from marketplace, publisher compromised, unvetted MCP server, High/Critical risk, or high catalog risk.</a:t>
            </a:r>
            <a:endParaRPr lang="en-US" sz="1050" dirty="0"/>
          </a:p>
        </p:txBody>
      </p:sp>
      <p:sp>
        <p:nvSpPr>
          <p:cNvPr id="23" name="Text 21"/>
          <p:cNvSpPr/>
          <p:nvPr/>
        </p:nvSpPr>
        <p:spPr>
          <a:xfrm>
            <a:off x="804672" y="5120640"/>
            <a:ext cx="2962656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300"/>
              </a:lnSpc>
              <a:buNone/>
            </a:pPr>
            <a:r>
              <a:rPr lang="en-US" sz="10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Raise severity, then open an analyst-gated block.</a:t>
            </a:r>
            <a:endParaRPr lang="en-US" sz="1050" dirty="0"/>
          </a:p>
        </p:txBody>
      </p:sp>
      <p:sp>
        <p:nvSpPr>
          <p:cNvPr id="24" name="Shape 22"/>
          <p:cNvSpPr/>
          <p:nvPr/>
        </p:nvSpPr>
        <p:spPr>
          <a:xfrm>
            <a:off x="4343400" y="3310128"/>
            <a:ext cx="3474720" cy="2487168"/>
          </a:xfrm>
          <a:prstGeom prst="roundRect">
            <a:avLst>
              <a:gd name="adj" fmla="val 1838"/>
            </a:avLst>
          </a:prstGeom>
          <a:solidFill>
            <a:srgbClr val="15171B"/>
          </a:solidFill>
          <a:ln w="12700">
            <a:solidFill>
              <a:srgbClr val="15171B"/>
            </a:solidFill>
            <a:prstDash val="solid"/>
          </a:ln>
        </p:spPr>
      </p:sp>
      <p:sp>
        <p:nvSpPr>
          <p:cNvPr id="25" name="Shape 23"/>
          <p:cNvSpPr/>
          <p:nvPr/>
        </p:nvSpPr>
        <p:spPr>
          <a:xfrm>
            <a:off x="4599432" y="3566160"/>
            <a:ext cx="1298448" cy="310896"/>
          </a:xfrm>
          <a:prstGeom prst="roundRect">
            <a:avLst>
              <a:gd name="adj" fmla="val 23529"/>
            </a:avLst>
          </a:prstGeom>
          <a:solidFill>
            <a:srgbClr val="F5A524"/>
          </a:solidFill>
          <a:ln w="12700">
            <a:solidFill>
              <a:srgbClr val="F5A524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4599432" y="3566160"/>
            <a:ext cx="1298448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Suspicious</a:t>
            </a:r>
            <a:endParaRPr lang="en-US" sz="1150" dirty="0"/>
          </a:p>
        </p:txBody>
      </p:sp>
      <p:sp>
        <p:nvSpPr>
          <p:cNvPr id="27" name="Text 25"/>
          <p:cNvSpPr/>
          <p:nvPr/>
        </p:nvSpPr>
        <p:spPr>
          <a:xfrm>
            <a:off x="4599432" y="4041648"/>
            <a:ext cx="2962656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300"/>
              </a:lnSpc>
              <a:buNone/>
            </a:pPr>
            <a:r>
              <a:rPr lang="en-US" sz="1050" dirty="0">
                <a:solidFill>
                  <a:srgbClr val="B4B7B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Anything that is not clearly benign — the safe default.</a:t>
            </a:r>
            <a:endParaRPr lang="en-US" sz="1050" dirty="0"/>
          </a:p>
        </p:txBody>
      </p:sp>
      <p:sp>
        <p:nvSpPr>
          <p:cNvPr id="28" name="Text 26"/>
          <p:cNvSpPr/>
          <p:nvPr/>
        </p:nvSpPr>
        <p:spPr>
          <a:xfrm>
            <a:off x="4599432" y="5120640"/>
            <a:ext cx="2962656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300"/>
              </a:lnSpc>
              <a:buNone/>
            </a:pPr>
            <a:r>
              <a:rPr lang="en-US" sz="10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Left open for analyst review.</a:t>
            </a:r>
            <a:endParaRPr lang="en-US" sz="1050" dirty="0"/>
          </a:p>
        </p:txBody>
      </p:sp>
      <p:sp>
        <p:nvSpPr>
          <p:cNvPr id="29" name="Shape 27"/>
          <p:cNvSpPr/>
          <p:nvPr/>
        </p:nvSpPr>
        <p:spPr>
          <a:xfrm>
            <a:off x="8138160" y="3310128"/>
            <a:ext cx="3474720" cy="2487168"/>
          </a:xfrm>
          <a:prstGeom prst="roundRect">
            <a:avLst>
              <a:gd name="adj" fmla="val 1838"/>
            </a:avLst>
          </a:prstGeom>
          <a:solidFill>
            <a:srgbClr val="15171B"/>
          </a:solidFill>
          <a:ln w="12700">
            <a:solidFill>
              <a:srgbClr val="15171B"/>
            </a:solidFill>
            <a:prstDash val="solid"/>
          </a:ln>
        </p:spPr>
      </p:sp>
      <p:sp>
        <p:nvSpPr>
          <p:cNvPr id="30" name="Shape 28"/>
          <p:cNvSpPr/>
          <p:nvPr/>
        </p:nvSpPr>
        <p:spPr>
          <a:xfrm>
            <a:off x="8394192" y="3566160"/>
            <a:ext cx="1298448" cy="310896"/>
          </a:xfrm>
          <a:prstGeom prst="roundRect">
            <a:avLst>
              <a:gd name="adj" fmla="val 23529"/>
            </a:avLst>
          </a:prstGeom>
          <a:solidFill>
            <a:srgbClr val="3FB950"/>
          </a:solidFill>
          <a:ln w="12700">
            <a:solidFill>
              <a:srgbClr val="3FB950"/>
            </a:solidFill>
            <a:prstDash val="solid"/>
          </a:ln>
        </p:spPr>
      </p:sp>
      <p:sp>
        <p:nvSpPr>
          <p:cNvPr id="31" name="Text 29"/>
          <p:cNvSpPr/>
          <p:nvPr/>
        </p:nvSpPr>
        <p:spPr>
          <a:xfrm>
            <a:off x="8394192" y="3566160"/>
            <a:ext cx="1298448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Benign</a:t>
            </a:r>
            <a:endParaRPr lang="en-US" sz="1150" dirty="0"/>
          </a:p>
        </p:txBody>
      </p:sp>
      <p:sp>
        <p:nvSpPr>
          <p:cNvPr id="32" name="Text 30"/>
          <p:cNvSpPr/>
          <p:nvPr/>
        </p:nvSpPr>
        <p:spPr>
          <a:xfrm>
            <a:off x="8394192" y="4041648"/>
            <a:ext cx="2962656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300"/>
              </a:lnSpc>
              <a:buNone/>
            </a:pPr>
            <a:r>
              <a:rPr lang="en-US" sz="1050" dirty="0">
                <a:solidFill>
                  <a:srgbClr val="B4B7B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newly observed item whose KOI risk level is Low.</a:t>
            </a:r>
            <a:endParaRPr lang="en-US" sz="1050" dirty="0"/>
          </a:p>
        </p:txBody>
      </p:sp>
      <p:sp>
        <p:nvSpPr>
          <p:cNvPr id="33" name="Text 31"/>
          <p:cNvSpPr/>
          <p:nvPr/>
        </p:nvSpPr>
        <p:spPr>
          <a:xfrm>
            <a:off x="8394192" y="5120640"/>
            <a:ext cx="2962656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300"/>
              </a:lnSpc>
              <a:buNone/>
            </a:pPr>
            <a:r>
              <a:rPr lang="en-US" sz="10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Auto-closed as Resolved.</a:t>
            </a:r>
            <a:endParaRPr lang="en-US" sz="105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00000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84048"/>
            <a:ext cx="110642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200" kern="0" dirty="0">
                <a:solidFill>
                  <a:srgbClr val="E8551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INVESTIGATION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548640" y="640080"/>
            <a:ext cx="1106424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Two investigations, run automatically</a:t>
            </a:r>
            <a:endParaRPr lang="en-US" sz="3300" dirty="0"/>
          </a:p>
        </p:txBody>
      </p:sp>
      <p:sp>
        <p:nvSpPr>
          <p:cNvPr id="4" name="Shape 2"/>
          <p:cNvSpPr/>
          <p:nvPr/>
        </p:nvSpPr>
        <p:spPr>
          <a:xfrm>
            <a:off x="548640" y="1517904"/>
            <a:ext cx="5326380" cy="4434840"/>
          </a:xfrm>
          <a:prstGeom prst="roundRect">
            <a:avLst>
              <a:gd name="adj" fmla="val 1031"/>
            </a:avLst>
          </a:prstGeom>
          <a:solidFill>
            <a:srgbClr val="15171B"/>
          </a:solidFill>
          <a:ln w="12700">
            <a:solidFill>
              <a:srgbClr val="15171B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841248" y="1810512"/>
            <a:ext cx="329184" cy="329184"/>
          </a:xfrm>
          <a:prstGeom prst="roundRect">
            <a:avLst>
              <a:gd name="adj" fmla="val 25000"/>
            </a:avLst>
          </a:prstGeom>
          <a:solidFill>
            <a:srgbClr val="E8551F"/>
          </a:solidFill>
          <a:ln w="12700">
            <a:solidFill>
              <a:srgbClr val="E8551F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841248" y="1810512"/>
            <a:ext cx="32918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</a:t>
            </a:r>
            <a:endParaRPr lang="en-US" sz="1300" dirty="0"/>
          </a:p>
        </p:txBody>
      </p:sp>
      <p:sp>
        <p:nvSpPr>
          <p:cNvPr id="7" name="Text 5"/>
          <p:cNvSpPr/>
          <p:nvPr/>
        </p:nvSpPr>
        <p:spPr>
          <a:xfrm>
            <a:off x="1389888" y="1792224"/>
            <a:ext cx="422910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Item investigation</a:t>
            </a:r>
            <a:endParaRPr lang="en-US" sz="1700" dirty="0"/>
          </a:p>
        </p:txBody>
      </p:sp>
      <p:sp>
        <p:nvSpPr>
          <p:cNvPr id="8" name="Text 6"/>
          <p:cNvSpPr/>
          <p:nvPr/>
        </p:nvSpPr>
        <p:spPr>
          <a:xfrm>
            <a:off x="841248" y="2304288"/>
            <a:ext cx="4741164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i="1" dirty="0">
                <a:solidFill>
                  <a:srgbClr val="E8551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What is this thing, and where is it?</a:t>
            </a:r>
            <a:endParaRPr lang="en-US" sz="1150" dirty="0"/>
          </a:p>
        </p:txBody>
      </p:sp>
      <p:sp>
        <p:nvSpPr>
          <p:cNvPr id="9" name="Text 7"/>
          <p:cNvSpPr/>
          <p:nvPr/>
        </p:nvSpPr>
        <p:spPr>
          <a:xfrm>
            <a:off x="859536" y="2697480"/>
            <a:ext cx="4704588" cy="21945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lnSpc>
                <a:spcPts val="1500"/>
              </a:lnSpc>
              <a:spcAft>
                <a:spcPts val="1600"/>
              </a:spcAft>
              <a:buSzPct val="100000"/>
              <a:buChar char="•"/>
            </a:pPr>
            <a:r>
              <a:rPr lang="en-US" sz="1150" dirty="0">
                <a:solidFill>
                  <a:srgbClr val="B4B7B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Catalog risk score, level and AI-generated risk summary</a:t>
            </a:r>
            <a:endParaRPr lang="en-US" sz="1150" dirty="0"/>
          </a:p>
          <a:p>
            <a:pPr marL="342900" indent="-342900">
              <a:lnSpc>
                <a:spcPts val="1500"/>
              </a:lnSpc>
              <a:spcAft>
                <a:spcPts val="1600"/>
              </a:spcAft>
              <a:buSzPct val="100000"/>
              <a:buChar char="•"/>
            </a:pPr>
            <a:r>
              <a:rPr lang="en-US" sz="1150" dirty="0">
                <a:solidFill>
                  <a:srgbClr val="B4B7B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Organization exposure — installs, publisher, signing status</a:t>
            </a:r>
            <a:endParaRPr lang="en-US" sz="1150" dirty="0"/>
          </a:p>
          <a:p>
            <a:pPr marL="342900" indent="-342900">
              <a:lnSpc>
                <a:spcPts val="1500"/>
              </a:lnSpc>
              <a:spcAft>
                <a:spcPts val="1600"/>
              </a:spcAft>
              <a:buSzPct val="100000"/>
              <a:buChar char="•"/>
            </a:pPr>
            <a:r>
              <a:rPr lang="en-US" sz="1150" dirty="0">
                <a:solidFill>
                  <a:srgbClr val="B4B7B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endpoints it is installed on, and the users affected</a:t>
            </a:r>
            <a:endParaRPr lang="en-US" sz="1150" dirty="0"/>
          </a:p>
          <a:p>
            <a:pPr marL="342900" indent="-342900">
              <a:lnSpc>
                <a:spcPts val="1500"/>
              </a:lnSpc>
              <a:spcAft>
                <a:spcPts val="1600"/>
              </a:spcAft>
              <a:buSzPct val="100000"/>
              <a:buChar char="•"/>
            </a:pPr>
            <a:r>
              <a:rPr lang="en-US" sz="1150" dirty="0">
                <a:solidFill>
                  <a:srgbClr val="B4B7B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Governance state — is it already on the blocklist?</a:t>
            </a:r>
            <a:endParaRPr lang="en-US" sz="1150" dirty="0"/>
          </a:p>
          <a:p>
            <a:pPr marL="342900" indent="-342900">
              <a:lnSpc>
                <a:spcPts val="1500"/>
              </a:lnSpc>
              <a:spcAft>
                <a:spcPts val="1600"/>
              </a:spcAft>
              <a:buSzPct val="100000"/>
              <a:buChar char="•"/>
            </a:pPr>
            <a:r>
              <a:rPr lang="en-US" sz="1150" dirty="0">
                <a:solidFill>
                  <a:srgbClr val="B4B7B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Remediation and prior-approval history for the item</a:t>
            </a:r>
            <a:endParaRPr lang="en-US" sz="1150" dirty="0"/>
          </a:p>
        </p:txBody>
      </p:sp>
      <p:sp>
        <p:nvSpPr>
          <p:cNvPr id="10" name="Text 8"/>
          <p:cNvSpPr/>
          <p:nvPr/>
        </p:nvSpPr>
        <p:spPr>
          <a:xfrm>
            <a:off x="859536" y="5230368"/>
            <a:ext cx="4704588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300"/>
              </a:lnSpc>
              <a:buNone/>
            </a:pPr>
            <a:r>
              <a:rPr lang="en-US" sz="1050" i="1" dirty="0">
                <a:solidFill>
                  <a:srgbClr val="6E747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Runs inside triage, and standalone for an ad-hoc item lookup.</a:t>
            </a:r>
            <a:endParaRPr lang="en-US" sz="1050" dirty="0"/>
          </a:p>
        </p:txBody>
      </p:sp>
      <p:sp>
        <p:nvSpPr>
          <p:cNvPr id="11" name="Shape 9"/>
          <p:cNvSpPr/>
          <p:nvPr/>
        </p:nvSpPr>
        <p:spPr>
          <a:xfrm>
            <a:off x="6286500" y="1517904"/>
            <a:ext cx="5326380" cy="4434840"/>
          </a:xfrm>
          <a:prstGeom prst="roundRect">
            <a:avLst>
              <a:gd name="adj" fmla="val 1031"/>
            </a:avLst>
          </a:prstGeom>
          <a:solidFill>
            <a:srgbClr val="15171B"/>
          </a:solidFill>
          <a:ln w="12700">
            <a:solidFill>
              <a:srgbClr val="15171B"/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6579108" y="1810512"/>
            <a:ext cx="329184" cy="329184"/>
          </a:xfrm>
          <a:prstGeom prst="roundRect">
            <a:avLst>
              <a:gd name="adj" fmla="val 25000"/>
            </a:avLst>
          </a:prstGeom>
          <a:solidFill>
            <a:srgbClr val="22D3EE"/>
          </a:solidFill>
          <a:ln w="12700">
            <a:solidFill>
              <a:srgbClr val="22D3EE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6579108" y="1810512"/>
            <a:ext cx="32918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</a:t>
            </a:r>
            <a:endParaRPr lang="en-US" sz="1300" dirty="0"/>
          </a:p>
        </p:txBody>
      </p:sp>
      <p:sp>
        <p:nvSpPr>
          <p:cNvPr id="14" name="Text 12"/>
          <p:cNvSpPr/>
          <p:nvPr/>
        </p:nvSpPr>
        <p:spPr>
          <a:xfrm>
            <a:off x="7127748" y="1792224"/>
            <a:ext cx="422910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Device investigation</a:t>
            </a:r>
            <a:endParaRPr lang="en-US" sz="1700" dirty="0"/>
          </a:p>
        </p:txBody>
      </p:sp>
      <p:sp>
        <p:nvSpPr>
          <p:cNvPr id="15" name="Text 13"/>
          <p:cNvSpPr/>
          <p:nvPr/>
        </p:nvSpPr>
        <p:spPr>
          <a:xfrm>
            <a:off x="6579108" y="2304288"/>
            <a:ext cx="4741164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i="1" dirty="0">
                <a:solidFill>
                  <a:srgbClr val="22D3E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What else is on the affected host?</a:t>
            </a:r>
            <a:endParaRPr lang="en-US" sz="1150" dirty="0"/>
          </a:p>
        </p:txBody>
      </p:sp>
      <p:sp>
        <p:nvSpPr>
          <p:cNvPr id="16" name="Text 14"/>
          <p:cNvSpPr/>
          <p:nvPr/>
        </p:nvSpPr>
        <p:spPr>
          <a:xfrm>
            <a:off x="6597396" y="2697480"/>
            <a:ext cx="4704588" cy="21945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lnSpc>
                <a:spcPts val="1500"/>
              </a:lnSpc>
              <a:spcAft>
                <a:spcPts val="1600"/>
              </a:spcAft>
              <a:buSzPct val="100000"/>
              <a:buChar char="•"/>
            </a:pPr>
            <a:r>
              <a:rPr lang="en-US" sz="1150" dirty="0">
                <a:solidFill>
                  <a:srgbClr val="B4B7B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Every item installed on the device, with version and path</a:t>
            </a:r>
            <a:endParaRPr lang="en-US" sz="1150" dirty="0"/>
          </a:p>
          <a:p>
            <a:pPr marL="342900" indent="-342900">
              <a:lnSpc>
                <a:spcPts val="1500"/>
              </a:lnSpc>
              <a:spcAft>
                <a:spcPts val="1600"/>
              </a:spcAft>
              <a:buSzPct val="100000"/>
              <a:buChar char="•"/>
            </a:pPr>
            <a:r>
              <a:rPr lang="en-US" sz="1150" dirty="0">
                <a:solidFill>
                  <a:srgbClr val="B4B7B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Which of those sit at or above your risk threshold</a:t>
            </a:r>
            <a:endParaRPr lang="en-US" sz="1150" dirty="0"/>
          </a:p>
          <a:p>
            <a:pPr marL="342900" indent="-342900">
              <a:lnSpc>
                <a:spcPts val="1500"/>
              </a:lnSpc>
              <a:spcAft>
                <a:spcPts val="1600"/>
              </a:spcAft>
              <a:buSzPct val="100000"/>
              <a:buChar char="•"/>
            </a:pPr>
            <a:r>
              <a:rPr lang="en-US" sz="1150" dirty="0">
                <a:solidFill>
                  <a:srgbClr val="B4B7B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Marketplace, publisher and install location per item</a:t>
            </a:r>
            <a:endParaRPr lang="en-US" sz="1150" dirty="0"/>
          </a:p>
          <a:p>
            <a:pPr marL="342900" indent="-342900">
              <a:lnSpc>
                <a:spcPts val="1500"/>
              </a:lnSpc>
              <a:spcAft>
                <a:spcPts val="1600"/>
              </a:spcAft>
              <a:buSzPct val="100000"/>
              <a:buChar char="•"/>
            </a:pPr>
            <a:r>
              <a:rPr lang="en-US" sz="1150" dirty="0">
                <a:solidFill>
                  <a:srgbClr val="B4B7B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Remediations recorded against that host</a:t>
            </a:r>
            <a:endParaRPr lang="en-US" sz="1150" dirty="0"/>
          </a:p>
          <a:p>
            <a:pPr marL="342900" indent="-342900">
              <a:lnSpc>
                <a:spcPts val="1500"/>
              </a:lnSpc>
              <a:spcAft>
                <a:spcPts val="1600"/>
              </a:spcAft>
              <a:buSzPct val="100000"/>
              <a:buChar char="•"/>
            </a:pPr>
            <a:r>
              <a:rPr lang="en-US" sz="1150" dirty="0">
                <a:solidFill>
                  <a:srgbClr val="B4B7B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Turns a single alert into full host posture</a:t>
            </a:r>
            <a:endParaRPr lang="en-US" sz="1150" dirty="0"/>
          </a:p>
        </p:txBody>
      </p:sp>
      <p:sp>
        <p:nvSpPr>
          <p:cNvPr id="17" name="Text 15"/>
          <p:cNvSpPr/>
          <p:nvPr/>
        </p:nvSpPr>
        <p:spPr>
          <a:xfrm>
            <a:off x="6597396" y="5230368"/>
            <a:ext cx="4704588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300"/>
              </a:lnSpc>
              <a:buNone/>
            </a:pPr>
            <a:r>
              <a:rPr lang="en-US" sz="1050" i="1" dirty="0">
                <a:solidFill>
                  <a:srgbClr val="6E747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Runs inside triage, or on any device id you hand it.</a:t>
            </a:r>
            <a:endParaRPr lang="en-US" sz="105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00000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84048"/>
            <a:ext cx="110642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200" kern="0" dirty="0">
                <a:solidFill>
                  <a:srgbClr val="E8551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RESPONSE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548640" y="640080"/>
            <a:ext cx="1106424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Action, gated on a human</a:t>
            </a:r>
            <a:endParaRPr lang="en-US" sz="3300" dirty="0"/>
          </a:p>
        </p:txBody>
      </p:sp>
      <p:sp>
        <p:nvSpPr>
          <p:cNvPr id="4" name="Shape 2"/>
          <p:cNvSpPr/>
          <p:nvPr/>
        </p:nvSpPr>
        <p:spPr>
          <a:xfrm>
            <a:off x="548640" y="1627632"/>
            <a:ext cx="1993392" cy="1371600"/>
          </a:xfrm>
          <a:prstGeom prst="roundRect">
            <a:avLst>
              <a:gd name="adj" fmla="val 3333"/>
            </a:avLst>
          </a:prstGeom>
          <a:solidFill>
            <a:srgbClr val="15171B"/>
          </a:solidFill>
          <a:ln w="12700">
            <a:solidFill>
              <a:srgbClr val="15171B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713232" y="1773936"/>
            <a:ext cx="1664208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Malicious verdict</a:t>
            </a:r>
            <a:endParaRPr lang="en-US" sz="1300" dirty="0"/>
          </a:p>
        </p:txBody>
      </p:sp>
      <p:sp>
        <p:nvSpPr>
          <p:cNvPr id="6" name="Text 4"/>
          <p:cNvSpPr/>
          <p:nvPr/>
        </p:nvSpPr>
        <p:spPr>
          <a:xfrm>
            <a:off x="713232" y="2103120"/>
            <a:ext cx="1664208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400"/>
              </a:lnSpc>
              <a:buNone/>
            </a:pPr>
            <a:r>
              <a:rPr lang="en-US" sz="1050" dirty="0">
                <a:solidFill>
                  <a:srgbClr val="B4B7B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Severity raised</a:t>
            </a:r>
            <a:endParaRPr lang="en-US" sz="1050" dirty="0"/>
          </a:p>
        </p:txBody>
      </p:sp>
      <p:sp>
        <p:nvSpPr>
          <p:cNvPr id="7" name="Shape 5"/>
          <p:cNvSpPr/>
          <p:nvPr/>
        </p:nvSpPr>
        <p:spPr>
          <a:xfrm>
            <a:off x="2542032" y="2221992"/>
            <a:ext cx="274320" cy="182880"/>
          </a:xfrm>
          <a:prstGeom prst="rightArrow">
            <a:avLst/>
          </a:prstGeom>
          <a:solidFill>
            <a:srgbClr val="E8551F"/>
          </a:solidFill>
          <a:ln w="12700">
            <a:solidFill>
              <a:srgbClr val="E8551F"/>
            </a:solidFill>
            <a:prstDash val="solid"/>
          </a:ln>
        </p:spPr>
      </p:sp>
      <p:sp>
        <p:nvSpPr>
          <p:cNvPr id="8" name="Shape 6"/>
          <p:cNvSpPr/>
          <p:nvPr/>
        </p:nvSpPr>
        <p:spPr>
          <a:xfrm>
            <a:off x="2807208" y="1627632"/>
            <a:ext cx="1993392" cy="1371600"/>
          </a:xfrm>
          <a:prstGeom prst="roundRect">
            <a:avLst>
              <a:gd name="adj" fmla="val 3333"/>
            </a:avLst>
          </a:prstGeom>
          <a:solidFill>
            <a:srgbClr val="15171B"/>
          </a:solidFill>
          <a:ln w="12700">
            <a:solidFill>
              <a:srgbClr val="15171B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2971800" y="1773936"/>
            <a:ext cx="1664208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Full investigation</a:t>
            </a:r>
            <a:endParaRPr lang="en-US" sz="1300" dirty="0"/>
          </a:p>
        </p:txBody>
      </p:sp>
      <p:sp>
        <p:nvSpPr>
          <p:cNvPr id="10" name="Text 8"/>
          <p:cNvSpPr/>
          <p:nvPr/>
        </p:nvSpPr>
        <p:spPr>
          <a:xfrm>
            <a:off x="2971800" y="2103120"/>
            <a:ext cx="1664208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400"/>
              </a:lnSpc>
              <a:buNone/>
            </a:pPr>
            <a:r>
              <a:rPr lang="en-US" sz="1050" dirty="0">
                <a:solidFill>
                  <a:srgbClr val="B4B7B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Exposure + governance</a:t>
            </a:r>
            <a:endParaRPr lang="en-US" sz="1050" dirty="0"/>
          </a:p>
        </p:txBody>
      </p:sp>
      <p:sp>
        <p:nvSpPr>
          <p:cNvPr id="11" name="Shape 9"/>
          <p:cNvSpPr/>
          <p:nvPr/>
        </p:nvSpPr>
        <p:spPr>
          <a:xfrm>
            <a:off x="4800600" y="2221992"/>
            <a:ext cx="274320" cy="182880"/>
          </a:xfrm>
          <a:prstGeom prst="rightArrow">
            <a:avLst/>
          </a:prstGeom>
          <a:solidFill>
            <a:srgbClr val="E8551F"/>
          </a:solidFill>
          <a:ln w="12700">
            <a:solidFill>
              <a:srgbClr val="E8551F"/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5065776" y="1627632"/>
            <a:ext cx="1993392" cy="1371600"/>
          </a:xfrm>
          <a:prstGeom prst="roundRect">
            <a:avLst>
              <a:gd name="adj" fmla="val 3333"/>
            </a:avLst>
          </a:prstGeom>
          <a:solidFill>
            <a:srgbClr val="15171B"/>
          </a:solidFill>
          <a:ln w="12700">
            <a:solidFill>
              <a:srgbClr val="15171B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5230368" y="1773936"/>
            <a:ext cx="1664208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Already blocked?</a:t>
            </a:r>
            <a:endParaRPr lang="en-US" sz="1300" dirty="0"/>
          </a:p>
        </p:txBody>
      </p:sp>
      <p:sp>
        <p:nvSpPr>
          <p:cNvPr id="14" name="Text 12"/>
          <p:cNvSpPr/>
          <p:nvPr/>
        </p:nvSpPr>
        <p:spPr>
          <a:xfrm>
            <a:off x="5230368" y="2103120"/>
            <a:ext cx="1664208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400"/>
              </a:lnSpc>
              <a:buNone/>
            </a:pPr>
            <a:r>
              <a:rPr lang="en-US" sz="1050" dirty="0">
                <a:solidFill>
                  <a:srgbClr val="B4B7B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Skip if redundant</a:t>
            </a:r>
            <a:endParaRPr lang="en-US" sz="1050" dirty="0"/>
          </a:p>
        </p:txBody>
      </p:sp>
      <p:sp>
        <p:nvSpPr>
          <p:cNvPr id="15" name="Shape 13"/>
          <p:cNvSpPr/>
          <p:nvPr/>
        </p:nvSpPr>
        <p:spPr>
          <a:xfrm>
            <a:off x="7059168" y="2221992"/>
            <a:ext cx="274320" cy="182880"/>
          </a:xfrm>
          <a:prstGeom prst="rightArrow">
            <a:avLst/>
          </a:prstGeom>
          <a:solidFill>
            <a:srgbClr val="E8551F"/>
          </a:solidFill>
          <a:ln w="12700">
            <a:solidFill>
              <a:srgbClr val="E8551F"/>
            </a:solidFill>
            <a:prstDash val="solid"/>
          </a:ln>
        </p:spPr>
      </p:sp>
      <p:sp>
        <p:nvSpPr>
          <p:cNvPr id="16" name="Shape 14"/>
          <p:cNvSpPr/>
          <p:nvPr/>
        </p:nvSpPr>
        <p:spPr>
          <a:xfrm>
            <a:off x="7324344" y="1627632"/>
            <a:ext cx="1993392" cy="1371600"/>
          </a:xfrm>
          <a:prstGeom prst="roundRect">
            <a:avLst>
              <a:gd name="adj" fmla="val 3333"/>
            </a:avLst>
          </a:prstGeom>
          <a:solidFill>
            <a:srgbClr val="15171B"/>
          </a:solidFill>
          <a:ln w="12700">
            <a:solidFill>
              <a:srgbClr val="15171B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7488936" y="1773936"/>
            <a:ext cx="1664208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Analyst approval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7488936" y="2103120"/>
            <a:ext cx="1664208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400"/>
              </a:lnSpc>
              <a:buNone/>
            </a:pPr>
            <a:r>
              <a:rPr lang="en-US" sz="1050" dirty="0">
                <a:solidFill>
                  <a:srgbClr val="22D3E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Playbook waits here</a:t>
            </a:r>
            <a:endParaRPr lang="en-US" sz="1050" dirty="0"/>
          </a:p>
        </p:txBody>
      </p:sp>
      <p:sp>
        <p:nvSpPr>
          <p:cNvPr id="19" name="Shape 17"/>
          <p:cNvSpPr/>
          <p:nvPr/>
        </p:nvSpPr>
        <p:spPr>
          <a:xfrm>
            <a:off x="9317736" y="2221992"/>
            <a:ext cx="274320" cy="182880"/>
          </a:xfrm>
          <a:prstGeom prst="rightArrow">
            <a:avLst/>
          </a:prstGeom>
          <a:solidFill>
            <a:srgbClr val="E8551F"/>
          </a:solidFill>
          <a:ln w="12700">
            <a:solidFill>
              <a:srgbClr val="E8551F"/>
            </a:solidFill>
            <a:prstDash val="solid"/>
          </a:ln>
        </p:spPr>
      </p:sp>
      <p:sp>
        <p:nvSpPr>
          <p:cNvPr id="20" name="Shape 18"/>
          <p:cNvSpPr/>
          <p:nvPr/>
        </p:nvSpPr>
        <p:spPr>
          <a:xfrm>
            <a:off x="9582912" y="1627632"/>
            <a:ext cx="1993392" cy="1371600"/>
          </a:xfrm>
          <a:prstGeom prst="roundRect">
            <a:avLst>
              <a:gd name="adj" fmla="val 3333"/>
            </a:avLst>
          </a:prstGeom>
          <a:solidFill>
            <a:srgbClr val="15171B"/>
          </a:solidFill>
          <a:ln w="12700">
            <a:solidFill>
              <a:srgbClr val="15171B"/>
            </a:solidFill>
            <a:prstDash val="solid"/>
          </a:ln>
        </p:spPr>
      </p:sp>
      <p:sp>
        <p:nvSpPr>
          <p:cNvPr id="21" name="Text 19"/>
          <p:cNvSpPr/>
          <p:nvPr/>
        </p:nvSpPr>
        <p:spPr>
          <a:xfrm>
            <a:off x="9747504" y="1773936"/>
            <a:ext cx="1664208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Blocklist write</a:t>
            </a:r>
            <a:endParaRPr lang="en-US" sz="1300" dirty="0"/>
          </a:p>
        </p:txBody>
      </p:sp>
      <p:sp>
        <p:nvSpPr>
          <p:cNvPr id="22" name="Text 20"/>
          <p:cNvSpPr/>
          <p:nvPr/>
        </p:nvSpPr>
        <p:spPr>
          <a:xfrm>
            <a:off x="9747504" y="2103120"/>
            <a:ext cx="1664208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400"/>
              </a:lnSpc>
              <a:buNone/>
            </a:pPr>
            <a:r>
              <a:rPr lang="en-US" sz="1050" dirty="0">
                <a:solidFill>
                  <a:srgbClr val="B4B7B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Org-wide, on approval</a:t>
            </a:r>
            <a:endParaRPr lang="en-US" sz="1050" dirty="0"/>
          </a:p>
        </p:txBody>
      </p:sp>
      <p:sp>
        <p:nvSpPr>
          <p:cNvPr id="23" name="Shape 21"/>
          <p:cNvSpPr/>
          <p:nvPr/>
        </p:nvSpPr>
        <p:spPr>
          <a:xfrm>
            <a:off x="548640" y="3401568"/>
            <a:ext cx="11064240" cy="1417320"/>
          </a:xfrm>
          <a:prstGeom prst="roundRect">
            <a:avLst>
              <a:gd name="adj" fmla="val 3226"/>
            </a:avLst>
          </a:prstGeom>
          <a:solidFill>
            <a:srgbClr val="1C2026"/>
          </a:solidFill>
          <a:ln w="12700">
            <a:solidFill>
              <a:srgbClr val="1C2026"/>
            </a:solidFill>
            <a:prstDash val="solid"/>
          </a:ln>
        </p:spPr>
      </p:sp>
      <p:sp>
        <p:nvSpPr>
          <p:cNvPr id="24" name="Text 22"/>
          <p:cNvSpPr/>
          <p:nvPr/>
        </p:nvSpPr>
        <p:spPr>
          <a:xfrm>
            <a:off x="914400" y="3566160"/>
            <a:ext cx="137160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6200" b="1" dirty="0">
                <a:solidFill>
                  <a:srgbClr val="E8551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</a:t>
            </a:r>
            <a:endParaRPr lang="en-US" sz="6200" dirty="0"/>
          </a:p>
        </p:txBody>
      </p:sp>
      <p:sp>
        <p:nvSpPr>
          <p:cNvPr id="25" name="Text 23"/>
          <p:cNvSpPr/>
          <p:nvPr/>
        </p:nvSpPr>
        <p:spPr>
          <a:xfrm>
            <a:off x="2331720" y="3703320"/>
            <a:ext cx="88696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org-wide blocks without an explicit analyst approval</a:t>
            </a:r>
            <a:endParaRPr lang="en-US" sz="1500" dirty="0"/>
          </a:p>
        </p:txBody>
      </p:sp>
      <p:sp>
        <p:nvSpPr>
          <p:cNvPr id="26" name="Text 24"/>
          <p:cNvSpPr/>
          <p:nvPr/>
        </p:nvSpPr>
        <p:spPr>
          <a:xfrm>
            <a:off x="2331720" y="4069080"/>
            <a:ext cx="88696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400"/>
              </a:lnSpc>
              <a:buNone/>
            </a:pPr>
            <a:r>
              <a:rPr lang="en-US" sz="1100" dirty="0">
                <a:solidFill>
                  <a:srgbClr val="B4B7B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Triage always invokes the response playbook with auto_block = false. On a Malicious verdict the run parks on the approval task; the blocklist command does not execute until a human approves. Verified on a live tenant.</a:t>
            </a:r>
            <a:endParaRPr lang="en-US" sz="1100" dirty="0"/>
          </a:p>
        </p:txBody>
      </p:sp>
      <p:sp>
        <p:nvSpPr>
          <p:cNvPr id="27" name="Shape 25"/>
          <p:cNvSpPr/>
          <p:nvPr/>
        </p:nvSpPr>
        <p:spPr>
          <a:xfrm>
            <a:off x="548640" y="5029200"/>
            <a:ext cx="3474720" cy="1207008"/>
          </a:xfrm>
          <a:prstGeom prst="roundRect">
            <a:avLst>
              <a:gd name="adj" fmla="val 3788"/>
            </a:avLst>
          </a:prstGeom>
          <a:solidFill>
            <a:srgbClr val="15171B"/>
          </a:solidFill>
          <a:ln w="12700">
            <a:solidFill>
              <a:srgbClr val="15171B"/>
            </a:solidFill>
            <a:prstDash val="solid"/>
          </a:ln>
        </p:spPr>
      </p:sp>
      <p:sp>
        <p:nvSpPr>
          <p:cNvPr id="28" name="Text 26"/>
          <p:cNvSpPr/>
          <p:nvPr/>
        </p:nvSpPr>
        <p:spPr>
          <a:xfrm>
            <a:off x="786384" y="5212080"/>
            <a:ext cx="299923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22D3E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Safe by default</a:t>
            </a:r>
            <a:endParaRPr lang="en-US" sz="1250" dirty="0"/>
          </a:p>
        </p:txBody>
      </p:sp>
      <p:sp>
        <p:nvSpPr>
          <p:cNvPr id="29" name="Text 27"/>
          <p:cNvSpPr/>
          <p:nvPr/>
        </p:nvSpPr>
        <p:spPr>
          <a:xfrm>
            <a:off x="786384" y="5522976"/>
            <a:ext cx="2999232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300"/>
              </a:lnSpc>
              <a:buNone/>
            </a:pPr>
            <a:r>
              <a:rPr lang="en-US" sz="1050" dirty="0">
                <a:solidFill>
                  <a:srgbClr val="B4B7B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only state-changing command in the set is gated.</a:t>
            </a:r>
            <a:endParaRPr lang="en-US" sz="1050" dirty="0"/>
          </a:p>
        </p:txBody>
      </p:sp>
      <p:sp>
        <p:nvSpPr>
          <p:cNvPr id="30" name="Shape 28"/>
          <p:cNvSpPr/>
          <p:nvPr/>
        </p:nvSpPr>
        <p:spPr>
          <a:xfrm>
            <a:off x="4343400" y="5029200"/>
            <a:ext cx="3474720" cy="1207008"/>
          </a:xfrm>
          <a:prstGeom prst="roundRect">
            <a:avLst>
              <a:gd name="adj" fmla="val 3788"/>
            </a:avLst>
          </a:prstGeom>
          <a:solidFill>
            <a:srgbClr val="15171B"/>
          </a:solidFill>
          <a:ln w="12700">
            <a:solidFill>
              <a:srgbClr val="15171B"/>
            </a:solidFill>
            <a:prstDash val="solid"/>
          </a:ln>
        </p:spPr>
      </p:sp>
      <p:sp>
        <p:nvSpPr>
          <p:cNvPr id="31" name="Text 29"/>
          <p:cNvSpPr/>
          <p:nvPr/>
        </p:nvSpPr>
        <p:spPr>
          <a:xfrm>
            <a:off x="4581144" y="5212080"/>
            <a:ext cx="299923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22D3E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 redundant blocks</a:t>
            </a:r>
            <a:endParaRPr lang="en-US" sz="1250" dirty="0"/>
          </a:p>
        </p:txBody>
      </p:sp>
      <p:sp>
        <p:nvSpPr>
          <p:cNvPr id="32" name="Text 30"/>
          <p:cNvSpPr/>
          <p:nvPr/>
        </p:nvSpPr>
        <p:spPr>
          <a:xfrm>
            <a:off x="4581144" y="5522976"/>
            <a:ext cx="2999232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300"/>
              </a:lnSpc>
              <a:buNone/>
            </a:pPr>
            <a:r>
              <a:rPr lang="en-US" sz="1050" dirty="0">
                <a:solidFill>
                  <a:srgbClr val="B4B7B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Items already on the blocklist short-circuit.</a:t>
            </a:r>
            <a:endParaRPr lang="en-US" sz="1050" dirty="0"/>
          </a:p>
        </p:txBody>
      </p:sp>
      <p:sp>
        <p:nvSpPr>
          <p:cNvPr id="33" name="Shape 31"/>
          <p:cNvSpPr/>
          <p:nvPr/>
        </p:nvSpPr>
        <p:spPr>
          <a:xfrm>
            <a:off x="8138160" y="5029200"/>
            <a:ext cx="3474720" cy="1207008"/>
          </a:xfrm>
          <a:prstGeom prst="roundRect">
            <a:avLst>
              <a:gd name="adj" fmla="val 3788"/>
            </a:avLst>
          </a:prstGeom>
          <a:solidFill>
            <a:srgbClr val="15171B"/>
          </a:solidFill>
          <a:ln w="12700">
            <a:solidFill>
              <a:srgbClr val="15171B"/>
            </a:solidFill>
            <a:prstDash val="solid"/>
          </a:ln>
        </p:spPr>
      </p:sp>
      <p:sp>
        <p:nvSpPr>
          <p:cNvPr id="34" name="Text 32"/>
          <p:cNvSpPr/>
          <p:nvPr/>
        </p:nvSpPr>
        <p:spPr>
          <a:xfrm>
            <a:off x="8375904" y="5212080"/>
            <a:ext cx="299923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22D3E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Full context at the gate</a:t>
            </a:r>
            <a:endParaRPr lang="en-US" sz="1250" dirty="0"/>
          </a:p>
        </p:txBody>
      </p:sp>
      <p:sp>
        <p:nvSpPr>
          <p:cNvPr id="35" name="Text 33"/>
          <p:cNvSpPr/>
          <p:nvPr/>
        </p:nvSpPr>
        <p:spPr>
          <a:xfrm>
            <a:off x="8375904" y="5522976"/>
            <a:ext cx="2999232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300"/>
              </a:lnSpc>
              <a:buNone/>
            </a:pPr>
            <a:r>
              <a:rPr lang="en-US" sz="1050" dirty="0">
                <a:solidFill>
                  <a:srgbClr val="B4B7B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approval shows risk, exposure and history.</a:t>
            </a:r>
            <a:endParaRPr lang="en-US" sz="105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00000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84048"/>
            <a:ext cx="110642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200" kern="0" dirty="0">
                <a:solidFill>
                  <a:srgbClr val="E8551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API SURFACE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548640" y="640080"/>
            <a:ext cx="1106424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26 commands across the KOI platform</a:t>
            </a:r>
            <a:endParaRPr lang="en-US" sz="3300" dirty="0"/>
          </a:p>
        </p:txBody>
      </p:sp>
      <p:sp>
        <p:nvSpPr>
          <p:cNvPr id="4" name="Shape 2"/>
          <p:cNvSpPr/>
          <p:nvPr/>
        </p:nvSpPr>
        <p:spPr>
          <a:xfrm>
            <a:off x="548640" y="1691640"/>
            <a:ext cx="3474720" cy="1783080"/>
          </a:xfrm>
          <a:prstGeom prst="roundRect">
            <a:avLst>
              <a:gd name="adj" fmla="val 2564"/>
            </a:avLst>
          </a:prstGeom>
          <a:solidFill>
            <a:srgbClr val="15171B"/>
          </a:solidFill>
          <a:ln w="12700">
            <a:solidFill>
              <a:srgbClr val="15171B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804672" y="1874520"/>
            <a:ext cx="109728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000" b="1" dirty="0">
                <a:solidFill>
                  <a:srgbClr val="E8551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7</a:t>
            </a:r>
            <a:endParaRPr lang="en-US" sz="4000" dirty="0"/>
          </a:p>
        </p:txBody>
      </p:sp>
      <p:sp>
        <p:nvSpPr>
          <p:cNvPr id="6" name="Text 4"/>
          <p:cNvSpPr/>
          <p:nvPr/>
        </p:nvSpPr>
        <p:spPr>
          <a:xfrm>
            <a:off x="804672" y="2560320"/>
            <a:ext cx="296265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Governance &amp; policies</a:t>
            </a:r>
            <a:endParaRPr lang="en-US" sz="1350" dirty="0"/>
          </a:p>
        </p:txBody>
      </p:sp>
      <p:sp>
        <p:nvSpPr>
          <p:cNvPr id="7" name="Text 5"/>
          <p:cNvSpPr/>
          <p:nvPr/>
        </p:nvSpPr>
        <p:spPr>
          <a:xfrm>
            <a:off x="804672" y="2880360"/>
            <a:ext cx="2962656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300"/>
              </a:lnSpc>
              <a:buNone/>
            </a:pPr>
            <a:r>
              <a:rPr lang="en-US" sz="1050" dirty="0">
                <a:solidFill>
                  <a:srgbClr val="B4B7B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Policies, runtime hardening, findings, approvals, remediations</a:t>
            </a:r>
            <a:endParaRPr lang="en-US" sz="1050" dirty="0"/>
          </a:p>
        </p:txBody>
      </p:sp>
      <p:sp>
        <p:nvSpPr>
          <p:cNvPr id="8" name="Shape 6"/>
          <p:cNvSpPr/>
          <p:nvPr/>
        </p:nvSpPr>
        <p:spPr>
          <a:xfrm>
            <a:off x="4343400" y="1691640"/>
            <a:ext cx="3474720" cy="1783080"/>
          </a:xfrm>
          <a:prstGeom prst="roundRect">
            <a:avLst>
              <a:gd name="adj" fmla="val 2564"/>
            </a:avLst>
          </a:prstGeom>
          <a:solidFill>
            <a:srgbClr val="15171B"/>
          </a:solidFill>
          <a:ln w="12700">
            <a:solidFill>
              <a:srgbClr val="15171B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4599432" y="1874520"/>
            <a:ext cx="109728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000" b="1" dirty="0">
                <a:solidFill>
                  <a:srgbClr val="22D3E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6</a:t>
            </a:r>
            <a:endParaRPr lang="en-US" sz="4000" dirty="0"/>
          </a:p>
        </p:txBody>
      </p:sp>
      <p:sp>
        <p:nvSpPr>
          <p:cNvPr id="10" name="Text 8"/>
          <p:cNvSpPr/>
          <p:nvPr/>
        </p:nvSpPr>
        <p:spPr>
          <a:xfrm>
            <a:off x="4599432" y="2560320"/>
            <a:ext cx="296265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Allowlist &amp; blocklist</a:t>
            </a:r>
            <a:endParaRPr lang="en-US" sz="1350" dirty="0"/>
          </a:p>
        </p:txBody>
      </p:sp>
      <p:sp>
        <p:nvSpPr>
          <p:cNvPr id="11" name="Text 9"/>
          <p:cNvSpPr/>
          <p:nvPr/>
        </p:nvSpPr>
        <p:spPr>
          <a:xfrm>
            <a:off x="4599432" y="2880360"/>
            <a:ext cx="2962656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300"/>
              </a:lnSpc>
              <a:buNone/>
            </a:pPr>
            <a:r>
              <a:rPr lang="en-US" sz="1050" dirty="0">
                <a:solidFill>
                  <a:srgbClr val="B4B7B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Read and modify organization-wide allow and block lists</a:t>
            </a:r>
            <a:endParaRPr lang="en-US" sz="1050" dirty="0"/>
          </a:p>
        </p:txBody>
      </p:sp>
      <p:sp>
        <p:nvSpPr>
          <p:cNvPr id="12" name="Shape 10"/>
          <p:cNvSpPr/>
          <p:nvPr/>
        </p:nvSpPr>
        <p:spPr>
          <a:xfrm>
            <a:off x="8138160" y="1691640"/>
            <a:ext cx="3474720" cy="1783080"/>
          </a:xfrm>
          <a:prstGeom prst="roundRect">
            <a:avLst>
              <a:gd name="adj" fmla="val 2564"/>
            </a:avLst>
          </a:prstGeom>
          <a:solidFill>
            <a:srgbClr val="15171B"/>
          </a:solidFill>
          <a:ln w="12700">
            <a:solidFill>
              <a:srgbClr val="15171B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8394192" y="1874520"/>
            <a:ext cx="109728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000" b="1" dirty="0">
                <a:solidFill>
                  <a:srgbClr val="E8551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</a:t>
            </a:r>
            <a:endParaRPr lang="en-US" sz="4000" dirty="0"/>
          </a:p>
        </p:txBody>
      </p:sp>
      <p:sp>
        <p:nvSpPr>
          <p:cNvPr id="14" name="Text 12"/>
          <p:cNvSpPr/>
          <p:nvPr/>
        </p:nvSpPr>
        <p:spPr>
          <a:xfrm>
            <a:off x="8394192" y="2560320"/>
            <a:ext cx="296265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Devices &amp; organization</a:t>
            </a:r>
            <a:endParaRPr lang="en-US" sz="1350" dirty="0"/>
          </a:p>
        </p:txBody>
      </p:sp>
      <p:sp>
        <p:nvSpPr>
          <p:cNvPr id="15" name="Text 13"/>
          <p:cNvSpPr/>
          <p:nvPr/>
        </p:nvSpPr>
        <p:spPr>
          <a:xfrm>
            <a:off x="8394192" y="2880360"/>
            <a:ext cx="2962656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300"/>
              </a:lnSpc>
              <a:buNone/>
            </a:pPr>
            <a:r>
              <a:rPr lang="en-US" sz="1050" dirty="0">
                <a:solidFill>
                  <a:srgbClr val="B4B7B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Devices, per-device inventory, groups and users</a:t>
            </a:r>
            <a:endParaRPr lang="en-US" sz="1050" dirty="0"/>
          </a:p>
        </p:txBody>
      </p:sp>
      <p:sp>
        <p:nvSpPr>
          <p:cNvPr id="16" name="Shape 14"/>
          <p:cNvSpPr/>
          <p:nvPr/>
        </p:nvSpPr>
        <p:spPr>
          <a:xfrm>
            <a:off x="548640" y="3794760"/>
            <a:ext cx="3474720" cy="1783080"/>
          </a:xfrm>
          <a:prstGeom prst="roundRect">
            <a:avLst>
              <a:gd name="adj" fmla="val 2564"/>
            </a:avLst>
          </a:prstGeom>
          <a:solidFill>
            <a:srgbClr val="15171B"/>
          </a:solidFill>
          <a:ln w="12700">
            <a:solidFill>
              <a:srgbClr val="15171B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804672" y="3977640"/>
            <a:ext cx="109728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000" b="1" dirty="0">
                <a:solidFill>
                  <a:srgbClr val="22D3E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</a:t>
            </a:r>
            <a:endParaRPr lang="en-US" sz="4000" dirty="0"/>
          </a:p>
        </p:txBody>
      </p:sp>
      <p:sp>
        <p:nvSpPr>
          <p:cNvPr id="18" name="Text 16"/>
          <p:cNvSpPr/>
          <p:nvPr/>
        </p:nvSpPr>
        <p:spPr>
          <a:xfrm>
            <a:off x="804672" y="4663440"/>
            <a:ext cx="296265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Inventory</a:t>
            </a:r>
            <a:endParaRPr lang="en-US" sz="1350" dirty="0"/>
          </a:p>
        </p:txBody>
      </p:sp>
      <p:sp>
        <p:nvSpPr>
          <p:cNvPr id="19" name="Text 17"/>
          <p:cNvSpPr/>
          <p:nvPr/>
        </p:nvSpPr>
        <p:spPr>
          <a:xfrm>
            <a:off x="804672" y="4983480"/>
            <a:ext cx="2962656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300"/>
              </a:lnSpc>
              <a:buNone/>
            </a:pPr>
            <a:r>
              <a:rPr lang="en-US" sz="1050" dirty="0">
                <a:solidFill>
                  <a:srgbClr val="B4B7B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Items, item detail, search, and per-item endpoint exposure</a:t>
            </a:r>
            <a:endParaRPr lang="en-US" sz="1050" dirty="0"/>
          </a:p>
        </p:txBody>
      </p:sp>
      <p:sp>
        <p:nvSpPr>
          <p:cNvPr id="20" name="Shape 18"/>
          <p:cNvSpPr/>
          <p:nvPr/>
        </p:nvSpPr>
        <p:spPr>
          <a:xfrm>
            <a:off x="4343400" y="3794760"/>
            <a:ext cx="3474720" cy="1783080"/>
          </a:xfrm>
          <a:prstGeom prst="roundRect">
            <a:avLst>
              <a:gd name="adj" fmla="val 2564"/>
            </a:avLst>
          </a:prstGeom>
          <a:solidFill>
            <a:srgbClr val="15171B"/>
          </a:solidFill>
          <a:ln w="12700">
            <a:solidFill>
              <a:srgbClr val="15171B"/>
            </a:solidFill>
            <a:prstDash val="solid"/>
          </a:ln>
        </p:spPr>
      </p:sp>
      <p:sp>
        <p:nvSpPr>
          <p:cNvPr id="21" name="Text 19"/>
          <p:cNvSpPr/>
          <p:nvPr/>
        </p:nvSpPr>
        <p:spPr>
          <a:xfrm>
            <a:off x="4599432" y="3977640"/>
            <a:ext cx="109728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000" b="1" dirty="0">
                <a:solidFill>
                  <a:srgbClr val="E8551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4000" dirty="0"/>
          </a:p>
        </p:txBody>
      </p:sp>
      <p:sp>
        <p:nvSpPr>
          <p:cNvPr id="22" name="Text 20"/>
          <p:cNvSpPr/>
          <p:nvPr/>
        </p:nvSpPr>
        <p:spPr>
          <a:xfrm>
            <a:off x="4599432" y="4663440"/>
            <a:ext cx="296265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Collector &amp; diagnostics</a:t>
            </a:r>
            <a:endParaRPr lang="en-US" sz="1350" dirty="0"/>
          </a:p>
        </p:txBody>
      </p:sp>
      <p:sp>
        <p:nvSpPr>
          <p:cNvPr id="23" name="Text 21"/>
          <p:cNvSpPr/>
          <p:nvPr/>
        </p:nvSpPr>
        <p:spPr>
          <a:xfrm>
            <a:off x="4599432" y="4983480"/>
            <a:ext cx="2962656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300"/>
              </a:lnSpc>
              <a:buNone/>
            </a:pPr>
            <a:r>
              <a:rPr lang="en-US" sz="1050" dirty="0">
                <a:solidFill>
                  <a:srgbClr val="B4B7B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Manual event pulls and fetch-state inspection</a:t>
            </a:r>
            <a:endParaRPr lang="en-US" sz="1050" dirty="0"/>
          </a:p>
        </p:txBody>
      </p:sp>
      <p:sp>
        <p:nvSpPr>
          <p:cNvPr id="24" name="Shape 22"/>
          <p:cNvSpPr/>
          <p:nvPr/>
        </p:nvSpPr>
        <p:spPr>
          <a:xfrm>
            <a:off x="8138160" y="3794760"/>
            <a:ext cx="3474720" cy="1783080"/>
          </a:xfrm>
          <a:prstGeom prst="roundRect">
            <a:avLst>
              <a:gd name="adj" fmla="val 2564"/>
            </a:avLst>
          </a:prstGeom>
          <a:solidFill>
            <a:srgbClr val="15171B"/>
          </a:solidFill>
          <a:ln w="12700">
            <a:solidFill>
              <a:srgbClr val="15171B"/>
            </a:solidFill>
            <a:prstDash val="solid"/>
          </a:ln>
        </p:spPr>
      </p:sp>
      <p:sp>
        <p:nvSpPr>
          <p:cNvPr id="25" name="Text 23"/>
          <p:cNvSpPr/>
          <p:nvPr/>
        </p:nvSpPr>
        <p:spPr>
          <a:xfrm>
            <a:off x="8394192" y="3977640"/>
            <a:ext cx="109728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000" b="1" dirty="0">
                <a:solidFill>
                  <a:srgbClr val="22D3E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4000" dirty="0"/>
          </a:p>
        </p:txBody>
      </p:sp>
      <p:sp>
        <p:nvSpPr>
          <p:cNvPr id="26" name="Text 24"/>
          <p:cNvSpPr/>
          <p:nvPr/>
        </p:nvSpPr>
        <p:spPr>
          <a:xfrm>
            <a:off x="8394192" y="4663440"/>
            <a:ext cx="296265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Koidex catalog</a:t>
            </a:r>
            <a:endParaRPr lang="en-US" sz="1350" dirty="0"/>
          </a:p>
        </p:txBody>
      </p:sp>
      <p:sp>
        <p:nvSpPr>
          <p:cNvPr id="27" name="Text 25"/>
          <p:cNvSpPr/>
          <p:nvPr/>
        </p:nvSpPr>
        <p:spPr>
          <a:xfrm>
            <a:off x="8394192" y="4983480"/>
            <a:ext cx="2962656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300"/>
              </a:lnSpc>
              <a:buNone/>
            </a:pPr>
            <a:r>
              <a:rPr lang="en-US" sz="1050" dirty="0">
                <a:solidFill>
                  <a:srgbClr val="B4B7B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Catalog search and full item risk reports</a:t>
            </a:r>
            <a:endParaRPr lang="en-US" sz="1050" dirty="0"/>
          </a:p>
        </p:txBody>
      </p:sp>
      <p:sp>
        <p:nvSpPr>
          <p:cNvPr id="28" name="Text 26"/>
          <p:cNvSpPr/>
          <p:nvPr/>
        </p:nvSpPr>
        <p:spPr>
          <a:xfrm>
            <a:off x="548640" y="5806440"/>
            <a:ext cx="110642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i="1" dirty="0">
                <a:solidFill>
                  <a:srgbClr val="6E747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Read-only by default — only the allow/block list and policy-status commands change tenant state.</a:t>
            </a:r>
            <a:endParaRPr lang="en-US" sz="11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00000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84048"/>
            <a:ext cx="110642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200" kern="0" dirty="0">
                <a:solidFill>
                  <a:srgbClr val="E8551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DEPLOYMENT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548640" y="640080"/>
            <a:ext cx="1106424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Getting it running</a:t>
            </a:r>
            <a:endParaRPr lang="en-US" sz="3300" dirty="0"/>
          </a:p>
        </p:txBody>
      </p:sp>
      <p:sp>
        <p:nvSpPr>
          <p:cNvPr id="4" name="Shape 2"/>
          <p:cNvSpPr/>
          <p:nvPr/>
        </p:nvSpPr>
        <p:spPr>
          <a:xfrm>
            <a:off x="548640" y="1554480"/>
            <a:ext cx="3474720" cy="2606040"/>
          </a:xfrm>
          <a:prstGeom prst="roundRect">
            <a:avLst>
              <a:gd name="adj" fmla="val 1754"/>
            </a:avLst>
          </a:prstGeom>
          <a:solidFill>
            <a:srgbClr val="15171B"/>
          </a:solidFill>
          <a:ln w="12700">
            <a:solidFill>
              <a:srgbClr val="15171B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822960" y="1810512"/>
            <a:ext cx="329184" cy="329184"/>
          </a:xfrm>
          <a:prstGeom prst="roundRect">
            <a:avLst>
              <a:gd name="adj" fmla="val 25000"/>
            </a:avLst>
          </a:prstGeom>
          <a:solidFill>
            <a:srgbClr val="E8551F"/>
          </a:solidFill>
          <a:ln w="12700">
            <a:solidFill>
              <a:srgbClr val="E8551F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822960" y="1810512"/>
            <a:ext cx="32918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1300" dirty="0"/>
          </a:p>
        </p:txBody>
      </p:sp>
      <p:sp>
        <p:nvSpPr>
          <p:cNvPr id="7" name="Text 5"/>
          <p:cNvSpPr/>
          <p:nvPr/>
        </p:nvSpPr>
        <p:spPr>
          <a:xfrm>
            <a:off x="1371600" y="1792224"/>
            <a:ext cx="237744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Marketplace</a:t>
            </a:r>
            <a:endParaRPr lang="en-US" sz="1600" dirty="0"/>
          </a:p>
        </p:txBody>
      </p:sp>
      <p:sp>
        <p:nvSpPr>
          <p:cNvPr id="8" name="Text 6"/>
          <p:cNvSpPr/>
          <p:nvPr/>
        </p:nvSpPr>
        <p:spPr>
          <a:xfrm>
            <a:off x="841248" y="2304288"/>
            <a:ext cx="2889504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lnSpc>
                <a:spcPts val="1400"/>
              </a:lnSpc>
              <a:spcAft>
                <a:spcPts val="2200"/>
              </a:spcAft>
              <a:buSzPct val="100000"/>
              <a:buChar char="•"/>
            </a:pPr>
            <a:r>
              <a:rPr lang="en-US" sz="1100" dirty="0">
                <a:solidFill>
                  <a:srgbClr val="B4B7B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Search for KOI and install</a:t>
            </a:r>
            <a:endParaRPr lang="en-US" sz="1100" dirty="0"/>
          </a:p>
          <a:p>
            <a:pPr marL="342900" indent="-342900">
              <a:lnSpc>
                <a:spcPts val="1400"/>
              </a:lnSpc>
              <a:spcAft>
                <a:spcPts val="2200"/>
              </a:spcAft>
              <a:buSzPct val="100000"/>
              <a:buChar char="•"/>
            </a:pPr>
            <a:r>
              <a:rPr lang="en-US" sz="1100" dirty="0">
                <a:solidFill>
                  <a:srgbClr val="B4B7B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Integration, rules and dashboard land together</a:t>
            </a:r>
            <a:endParaRPr lang="en-US" sz="1100" dirty="0"/>
          </a:p>
          <a:p>
            <a:pPr marL="342900" indent="-342900">
              <a:lnSpc>
                <a:spcPts val="1400"/>
              </a:lnSpc>
              <a:spcAft>
                <a:spcPts val="2200"/>
              </a:spcAft>
              <a:buSzPct val="100000"/>
              <a:buChar char="•"/>
            </a:pPr>
            <a:r>
              <a:rPr lang="en-US" sz="1100" dirty="0">
                <a:solidFill>
                  <a:srgbClr val="B4B7B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Recommended for production tenants</a:t>
            </a:r>
            <a:endParaRPr lang="en-US" sz="1100" dirty="0"/>
          </a:p>
        </p:txBody>
      </p:sp>
      <p:sp>
        <p:nvSpPr>
          <p:cNvPr id="9" name="Shape 7"/>
          <p:cNvSpPr/>
          <p:nvPr/>
        </p:nvSpPr>
        <p:spPr>
          <a:xfrm>
            <a:off x="4343400" y="1554480"/>
            <a:ext cx="3474720" cy="2606040"/>
          </a:xfrm>
          <a:prstGeom prst="roundRect">
            <a:avLst>
              <a:gd name="adj" fmla="val 1754"/>
            </a:avLst>
          </a:prstGeom>
          <a:solidFill>
            <a:srgbClr val="15171B"/>
          </a:solidFill>
          <a:ln w="12700">
            <a:solidFill>
              <a:srgbClr val="15171B"/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>
            <a:off x="4617720" y="1810512"/>
            <a:ext cx="329184" cy="329184"/>
          </a:xfrm>
          <a:prstGeom prst="roundRect">
            <a:avLst>
              <a:gd name="adj" fmla="val 25000"/>
            </a:avLst>
          </a:prstGeom>
          <a:solidFill>
            <a:srgbClr val="22D3EE"/>
          </a:solidFill>
          <a:ln w="12700">
            <a:solidFill>
              <a:srgbClr val="22D3EE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4617720" y="1810512"/>
            <a:ext cx="32918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1300" dirty="0"/>
          </a:p>
        </p:txBody>
      </p:sp>
      <p:sp>
        <p:nvSpPr>
          <p:cNvPr id="12" name="Text 10"/>
          <p:cNvSpPr/>
          <p:nvPr/>
        </p:nvSpPr>
        <p:spPr>
          <a:xfrm>
            <a:off x="5166360" y="1792224"/>
            <a:ext cx="237744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Pack zip</a:t>
            </a:r>
            <a:endParaRPr lang="en-US" sz="1600" dirty="0"/>
          </a:p>
        </p:txBody>
      </p:sp>
      <p:sp>
        <p:nvSpPr>
          <p:cNvPr id="13" name="Text 11"/>
          <p:cNvSpPr/>
          <p:nvPr/>
        </p:nvSpPr>
        <p:spPr>
          <a:xfrm>
            <a:off x="4636008" y="2304288"/>
            <a:ext cx="2889504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lnSpc>
                <a:spcPts val="1400"/>
              </a:lnSpc>
              <a:spcAft>
                <a:spcPts val="2200"/>
              </a:spcAft>
              <a:buSzPct val="100000"/>
              <a:buChar char="•"/>
            </a:pPr>
            <a:r>
              <a:rPr lang="en-US" sz="1100" dirty="0">
                <a:solidFill>
                  <a:srgbClr val="B4B7B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Build with demisto-sdk zip-packs</a:t>
            </a:r>
            <a:endParaRPr lang="en-US" sz="1100" dirty="0"/>
          </a:p>
          <a:p>
            <a:pPr marL="342900" indent="-342900">
              <a:lnSpc>
                <a:spcPts val="1400"/>
              </a:lnSpc>
              <a:spcAft>
                <a:spcPts val="2200"/>
              </a:spcAft>
              <a:buSzPct val="100000"/>
              <a:buChar char="•"/>
            </a:pPr>
            <a:r>
              <a:rPr lang="en-US" sz="1100" dirty="0">
                <a:solidFill>
                  <a:srgbClr val="B4B7B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Upload as a single object</a:t>
            </a:r>
            <a:endParaRPr lang="en-US" sz="1100" dirty="0"/>
          </a:p>
          <a:p>
            <a:pPr marL="342900" indent="-342900">
              <a:lnSpc>
                <a:spcPts val="1400"/>
              </a:lnSpc>
              <a:spcAft>
                <a:spcPts val="2200"/>
              </a:spcAft>
              <a:buSzPct val="100000"/>
              <a:buChar char="•"/>
            </a:pPr>
            <a:r>
              <a:rPr lang="en-US" sz="1100" dirty="0">
                <a:solidFill>
                  <a:srgbClr val="B4B7B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Best for dev/test and CI pipelines</a:t>
            </a:r>
            <a:endParaRPr lang="en-US" sz="1100" dirty="0"/>
          </a:p>
        </p:txBody>
      </p:sp>
      <p:sp>
        <p:nvSpPr>
          <p:cNvPr id="14" name="Shape 12"/>
          <p:cNvSpPr/>
          <p:nvPr/>
        </p:nvSpPr>
        <p:spPr>
          <a:xfrm>
            <a:off x="8138160" y="1554480"/>
            <a:ext cx="3474720" cy="2606040"/>
          </a:xfrm>
          <a:prstGeom prst="roundRect">
            <a:avLst>
              <a:gd name="adj" fmla="val 1754"/>
            </a:avLst>
          </a:prstGeom>
          <a:solidFill>
            <a:srgbClr val="15171B"/>
          </a:solidFill>
          <a:ln w="12700">
            <a:solidFill>
              <a:srgbClr val="15171B"/>
            </a:solidFill>
            <a:prstDash val="solid"/>
          </a:ln>
        </p:spPr>
      </p:sp>
      <p:sp>
        <p:nvSpPr>
          <p:cNvPr id="15" name="Shape 13"/>
          <p:cNvSpPr/>
          <p:nvPr/>
        </p:nvSpPr>
        <p:spPr>
          <a:xfrm>
            <a:off x="8412480" y="1810512"/>
            <a:ext cx="329184" cy="329184"/>
          </a:xfrm>
          <a:prstGeom prst="roundRect">
            <a:avLst>
              <a:gd name="adj" fmla="val 25000"/>
            </a:avLst>
          </a:prstGeom>
          <a:solidFill>
            <a:srgbClr val="E8551F"/>
          </a:solidFill>
          <a:ln w="12700">
            <a:solidFill>
              <a:srgbClr val="E8551F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8412480" y="1810512"/>
            <a:ext cx="32918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1300" dirty="0"/>
          </a:p>
        </p:txBody>
      </p:sp>
      <p:sp>
        <p:nvSpPr>
          <p:cNvPr id="17" name="Text 15"/>
          <p:cNvSpPr/>
          <p:nvPr/>
        </p:nvSpPr>
        <p:spPr>
          <a:xfrm>
            <a:off x="8961120" y="1792224"/>
            <a:ext cx="237744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Manual items</a:t>
            </a:r>
            <a:endParaRPr lang="en-US" sz="1600" dirty="0"/>
          </a:p>
        </p:txBody>
      </p:sp>
      <p:sp>
        <p:nvSpPr>
          <p:cNvPr id="18" name="Text 16"/>
          <p:cNvSpPr/>
          <p:nvPr/>
        </p:nvSpPr>
        <p:spPr>
          <a:xfrm>
            <a:off x="8430768" y="2304288"/>
            <a:ext cx="2889504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lnSpc>
                <a:spcPts val="1400"/>
              </a:lnSpc>
              <a:spcAft>
                <a:spcPts val="2200"/>
              </a:spcAft>
              <a:buSzPct val="100000"/>
              <a:buChar char="•"/>
            </a:pPr>
            <a:r>
              <a:rPr lang="en-US" sz="1100" dirty="0">
                <a:solidFill>
                  <a:srgbClr val="B4B7B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Import individual playbooks and rules</a:t>
            </a:r>
            <a:endParaRPr lang="en-US" sz="1100" dirty="0"/>
          </a:p>
          <a:p>
            <a:pPr marL="342900" indent="-342900">
              <a:lnSpc>
                <a:spcPts val="1400"/>
              </a:lnSpc>
              <a:spcAft>
                <a:spcPts val="2200"/>
              </a:spcAft>
              <a:buSzPct val="100000"/>
              <a:buChar char="•"/>
            </a:pPr>
            <a:r>
              <a:rPr lang="en-US" sz="1100" dirty="0">
                <a:solidFill>
                  <a:srgbClr val="B4B7B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Import sub-playbooks before their callers</a:t>
            </a:r>
            <a:endParaRPr lang="en-US" sz="1100" dirty="0"/>
          </a:p>
          <a:p>
            <a:pPr marL="342900" indent="-342900">
              <a:lnSpc>
                <a:spcPts val="1400"/>
              </a:lnSpc>
              <a:spcAft>
                <a:spcPts val="2200"/>
              </a:spcAft>
              <a:buSzPct val="100000"/>
              <a:buChar char="•"/>
            </a:pPr>
            <a:r>
              <a:rPr lang="en-US" sz="1100" dirty="0">
                <a:solidFill>
                  <a:srgbClr val="B4B7B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Keep item names unchanged</a:t>
            </a:r>
            <a:endParaRPr lang="en-US" sz="1100" dirty="0"/>
          </a:p>
        </p:txBody>
      </p:sp>
      <p:sp>
        <p:nvSpPr>
          <p:cNvPr id="19" name="Shape 17"/>
          <p:cNvSpPr/>
          <p:nvPr/>
        </p:nvSpPr>
        <p:spPr>
          <a:xfrm>
            <a:off x="548640" y="4389120"/>
            <a:ext cx="11064240" cy="1417320"/>
          </a:xfrm>
          <a:prstGeom prst="roundRect">
            <a:avLst>
              <a:gd name="adj" fmla="val 3226"/>
            </a:avLst>
          </a:prstGeom>
          <a:solidFill>
            <a:srgbClr val="1C2026"/>
          </a:solidFill>
          <a:ln w="12700">
            <a:solidFill>
              <a:srgbClr val="1C2026"/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841248" y="4544568"/>
            <a:ext cx="36576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Then prove it works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841248" y="4873752"/>
            <a:ext cx="10479024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500"/>
              </a:lnSpc>
              <a:buNone/>
            </a:pPr>
            <a:r>
              <a:rPr lang="en-US" sz="1100" dirty="0">
                <a:solidFill>
                  <a:srgbClr val="22D3E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!koi-devices-list limit=5</a:t>
            </a:r>
            <a:endParaRPr lang="en-US" sz="1100" dirty="0"/>
          </a:p>
          <a:p>
            <a:pPr indent="0" marL="0">
              <a:lnSpc>
                <a:spcPts val="1500"/>
              </a:lnSpc>
              <a:buNone/>
            </a:pPr>
            <a:r>
              <a:rPr lang="en-US" sz="1100" dirty="0">
                <a:solidFill>
                  <a:srgbClr val="22D3E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dataset = koi_koi_raw | comp count() as events by source_log_type</a:t>
            </a:r>
            <a:endParaRPr lang="en-US" sz="1100" dirty="0"/>
          </a:p>
          <a:p>
            <a:pPr indent="0" marL="0">
              <a:lnSpc>
                <a:spcPts val="1500"/>
              </a:lnSpc>
              <a:buNone/>
            </a:pPr>
            <a:r>
              <a:rPr lang="en-US" sz="1100" dirty="0">
                <a:solidFill>
                  <a:srgbClr val="B4B7B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Attach KOI - Alert Triage to a KOI alert and confirm the investigation summaries and verdict appear in the war room.</a:t>
            </a:r>
            <a:endParaRPr lang="en-US" sz="11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00000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84048"/>
            <a:ext cx="110642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200" kern="0" dirty="0">
                <a:solidFill>
                  <a:srgbClr val="E8551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VALIDATION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548640" y="640080"/>
            <a:ext cx="1106424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Proven on a live tenant</a:t>
            </a:r>
            <a:endParaRPr lang="en-US" sz="3300" dirty="0"/>
          </a:p>
        </p:txBody>
      </p:sp>
      <p:sp>
        <p:nvSpPr>
          <p:cNvPr id="4" name="Shape 2"/>
          <p:cNvSpPr/>
          <p:nvPr/>
        </p:nvSpPr>
        <p:spPr>
          <a:xfrm>
            <a:off x="548640" y="1737360"/>
            <a:ext cx="2560320" cy="2286000"/>
          </a:xfrm>
          <a:prstGeom prst="roundRect">
            <a:avLst>
              <a:gd name="adj" fmla="val 2000"/>
            </a:avLst>
          </a:prstGeom>
          <a:solidFill>
            <a:srgbClr val="15171B"/>
          </a:solidFill>
          <a:ln w="12700">
            <a:solidFill>
              <a:srgbClr val="15171B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786384" y="1975104"/>
            <a:ext cx="2084832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600" b="1" dirty="0">
                <a:solidFill>
                  <a:srgbClr val="E8551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11/11</a:t>
            </a:r>
            <a:endParaRPr lang="en-US" sz="4600" dirty="0"/>
          </a:p>
        </p:txBody>
      </p:sp>
      <p:sp>
        <p:nvSpPr>
          <p:cNvPr id="6" name="Text 4"/>
          <p:cNvSpPr/>
          <p:nvPr/>
        </p:nvSpPr>
        <p:spPr>
          <a:xfrm>
            <a:off x="786384" y="2852928"/>
            <a:ext cx="2084832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400"/>
              </a:lnSpc>
              <a:buNone/>
            </a:pPr>
            <a:r>
              <a:rPr lang="en-US" sz="1100" dirty="0">
                <a:solidFill>
                  <a:srgbClr val="B4B7B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read commands returned live data — zero 403s once egress was correct</a:t>
            </a:r>
            <a:endParaRPr lang="en-US" sz="1100" dirty="0"/>
          </a:p>
        </p:txBody>
      </p:sp>
      <p:sp>
        <p:nvSpPr>
          <p:cNvPr id="7" name="Shape 5"/>
          <p:cNvSpPr/>
          <p:nvPr/>
        </p:nvSpPr>
        <p:spPr>
          <a:xfrm>
            <a:off x="3383280" y="1737360"/>
            <a:ext cx="2560320" cy="2286000"/>
          </a:xfrm>
          <a:prstGeom prst="roundRect">
            <a:avLst>
              <a:gd name="adj" fmla="val 2000"/>
            </a:avLst>
          </a:prstGeom>
          <a:solidFill>
            <a:srgbClr val="15171B"/>
          </a:solidFill>
          <a:ln w="12700">
            <a:solidFill>
              <a:srgbClr val="15171B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3621024" y="1975104"/>
            <a:ext cx="2084832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600" b="1" dirty="0">
                <a:solidFill>
                  <a:srgbClr val="22D3E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500</a:t>
            </a:r>
            <a:endParaRPr lang="en-US" sz="4600" dirty="0"/>
          </a:p>
        </p:txBody>
      </p:sp>
      <p:sp>
        <p:nvSpPr>
          <p:cNvPr id="9" name="Text 7"/>
          <p:cNvSpPr/>
          <p:nvPr/>
        </p:nvSpPr>
        <p:spPr>
          <a:xfrm>
            <a:off x="3621024" y="2852928"/>
            <a:ext cx="2084832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400"/>
              </a:lnSpc>
              <a:buNone/>
            </a:pPr>
            <a:r>
              <a:rPr lang="en-US" sz="1100" dirty="0">
                <a:solidFill>
                  <a:srgbClr val="B4B7B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items inventoried on a single host, 35 of them flagged high risk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6217920" y="1737360"/>
            <a:ext cx="2560320" cy="2286000"/>
          </a:xfrm>
          <a:prstGeom prst="roundRect">
            <a:avLst>
              <a:gd name="adj" fmla="val 2000"/>
            </a:avLst>
          </a:prstGeom>
          <a:solidFill>
            <a:srgbClr val="15171B"/>
          </a:solidFill>
          <a:ln w="12700">
            <a:solidFill>
              <a:srgbClr val="15171B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6455664" y="1975104"/>
            <a:ext cx="2084832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600" b="1" dirty="0">
                <a:solidFill>
                  <a:srgbClr val="E8551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4600" dirty="0"/>
          </a:p>
        </p:txBody>
      </p:sp>
      <p:sp>
        <p:nvSpPr>
          <p:cNvPr id="12" name="Text 10"/>
          <p:cNvSpPr/>
          <p:nvPr/>
        </p:nvSpPr>
        <p:spPr>
          <a:xfrm>
            <a:off x="6455664" y="2852928"/>
            <a:ext cx="2084832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400"/>
              </a:lnSpc>
              <a:buNone/>
            </a:pPr>
            <a:r>
              <a:rPr lang="en-US" sz="1100" dirty="0">
                <a:solidFill>
                  <a:srgbClr val="B4B7B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playbook stages per alert — extract, item and device investigation</a:t>
            </a:r>
            <a:endParaRPr lang="en-US" sz="1100" dirty="0"/>
          </a:p>
        </p:txBody>
      </p:sp>
      <p:sp>
        <p:nvSpPr>
          <p:cNvPr id="13" name="Shape 11"/>
          <p:cNvSpPr/>
          <p:nvPr/>
        </p:nvSpPr>
        <p:spPr>
          <a:xfrm>
            <a:off x="9052560" y="1737360"/>
            <a:ext cx="2560320" cy="2286000"/>
          </a:xfrm>
          <a:prstGeom prst="roundRect">
            <a:avLst>
              <a:gd name="adj" fmla="val 2000"/>
            </a:avLst>
          </a:prstGeom>
          <a:solidFill>
            <a:srgbClr val="15171B"/>
          </a:solidFill>
          <a:ln w="12700">
            <a:solidFill>
              <a:srgbClr val="15171B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9290304" y="1975104"/>
            <a:ext cx="2084832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600" b="1" dirty="0">
                <a:solidFill>
                  <a:srgbClr val="22D3E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</a:t>
            </a:r>
            <a:endParaRPr lang="en-US" sz="4600" dirty="0"/>
          </a:p>
        </p:txBody>
      </p:sp>
      <p:sp>
        <p:nvSpPr>
          <p:cNvPr id="15" name="Text 13"/>
          <p:cNvSpPr/>
          <p:nvPr/>
        </p:nvSpPr>
        <p:spPr>
          <a:xfrm>
            <a:off x="9290304" y="2852928"/>
            <a:ext cx="2084832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400"/>
              </a:lnSpc>
              <a:buNone/>
            </a:pPr>
            <a:r>
              <a:rPr lang="en-US" sz="1100" dirty="0">
                <a:solidFill>
                  <a:srgbClr val="B4B7B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blocklist writes fired before an analyst approved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548640" y="4251960"/>
            <a:ext cx="11064240" cy="1965960"/>
          </a:xfrm>
          <a:prstGeom prst="roundRect">
            <a:avLst>
              <a:gd name="adj" fmla="val 2326"/>
            </a:avLst>
          </a:prstGeom>
          <a:solidFill>
            <a:srgbClr val="1C2026"/>
          </a:solidFill>
          <a:ln w="12700">
            <a:solidFill>
              <a:srgbClr val="1C2026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859536" y="4434840"/>
            <a:ext cx="54864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End-to-end run on a real alert</a:t>
            </a:r>
            <a:endParaRPr lang="en-US" sz="1400" dirty="0"/>
          </a:p>
        </p:txBody>
      </p:sp>
      <p:sp>
        <p:nvSpPr>
          <p:cNvPr id="18" name="Text 16"/>
          <p:cNvSpPr/>
          <p:nvPr/>
        </p:nvSpPr>
        <p:spPr>
          <a:xfrm>
            <a:off x="859536" y="4800600"/>
            <a:ext cx="10442448" cy="12344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600"/>
              </a:lnSpc>
              <a:buNone/>
            </a:pPr>
            <a:r>
              <a:rPr lang="en-US" sz="1150" dirty="0">
                <a:solidFill>
                  <a:srgbClr val="B4B7B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vulnerable-dependency alert on a package whose catalog risk is High was escalated to </a:t>
            </a:r>
            <a:pPr indent="0" marL="0">
              <a:lnSpc>
                <a:spcPts val="1600"/>
              </a:lnSpc>
              <a:buNone/>
            </a:pPr>
            <a:r>
              <a:rPr lang="en-US" sz="1150" b="1" dirty="0">
                <a:solidFill>
                  <a:srgbClr val="E8551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Malicious</a:t>
            </a:r>
            <a:pPr indent="0" marL="0">
              <a:lnSpc>
                <a:spcPts val="1600"/>
              </a:lnSpc>
              <a:buNone/>
            </a:pPr>
            <a:r>
              <a:rPr lang="en-US" sz="1150" dirty="0">
                <a:solidFill>
                  <a:srgbClr val="B4B7B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— driven by real KOI catalog data, not the alert's own severity. The run then opened an analyst-gated block and parked on the approval task, with the blocklist command unexecuted.</a:t>
            </a:r>
            <a:endParaRPr lang="en-US" sz="1150" dirty="0"/>
          </a:p>
          <a:p>
            <a:pPr indent="0" marL="0">
              <a:lnSpc>
                <a:spcPts val="1600"/>
              </a:lnSpc>
              <a:buNone/>
            </a:pPr>
            <a:r>
              <a:rPr lang="en-US" sz="800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</a:t>
            </a:r>
            <a:endParaRPr lang="en-US" sz="1150" dirty="0"/>
          </a:p>
          <a:p>
            <a:pPr indent="0" marL="0">
              <a:lnSpc>
                <a:spcPts val="1600"/>
              </a:lnSpc>
              <a:buNone/>
            </a:pPr>
            <a:r>
              <a:rPr lang="en-US" sz="1100" i="1" dirty="0">
                <a:solidFill>
                  <a:srgbClr val="6E747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Both investigations posted their summaries to the war room; the playbook completed cleanly.</a:t>
            </a:r>
            <a:endParaRPr lang="en-US" sz="115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00000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9326880" y="-2011680"/>
            <a:ext cx="4937760" cy="4937760"/>
          </a:xfrm>
          <a:prstGeom prst="ellipse">
            <a:avLst/>
          </a:prstGeom>
          <a:solidFill>
            <a:srgbClr val="E8551F">
              <a:alpha val="8000"/>
            </a:srgbClr>
          </a:solidFill>
          <a:ln w="12700">
            <a:solidFill>
              <a:srgbClr val="E8551F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548640" y="1554480"/>
            <a:ext cx="110642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300" kern="0" dirty="0">
                <a:solidFill>
                  <a:srgbClr val="E8551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WHERE TO GO NEXT</a:t>
            </a:r>
            <a:endParaRPr lang="en-US" sz="1200" dirty="0"/>
          </a:p>
        </p:txBody>
      </p:sp>
      <p:sp>
        <p:nvSpPr>
          <p:cNvPr id="4" name="Text 2"/>
          <p:cNvSpPr/>
          <p:nvPr/>
        </p:nvSpPr>
        <p:spPr>
          <a:xfrm>
            <a:off x="548640" y="1874520"/>
            <a:ext cx="8595360" cy="1554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4400"/>
              </a:lnSpc>
              <a:buNone/>
            </a:pPr>
            <a:r>
              <a:rPr lang="en-US" sz="3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Install it, point it at KOI, attach the triage.</a:t>
            </a:r>
            <a:endParaRPr lang="en-US" sz="3800" dirty="0"/>
          </a:p>
        </p:txBody>
      </p:sp>
      <p:sp>
        <p:nvSpPr>
          <p:cNvPr id="5" name="Shape 3"/>
          <p:cNvSpPr/>
          <p:nvPr/>
        </p:nvSpPr>
        <p:spPr>
          <a:xfrm>
            <a:off x="548640" y="3520440"/>
            <a:ext cx="3474720" cy="1691640"/>
          </a:xfrm>
          <a:prstGeom prst="roundRect">
            <a:avLst>
              <a:gd name="adj" fmla="val 2703"/>
            </a:avLst>
          </a:prstGeom>
          <a:solidFill>
            <a:srgbClr val="15171B"/>
          </a:solidFill>
          <a:ln w="12700">
            <a:solidFill>
              <a:srgbClr val="15171B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804672" y="3749040"/>
            <a:ext cx="329184" cy="329184"/>
          </a:xfrm>
          <a:prstGeom prst="roundRect">
            <a:avLst>
              <a:gd name="adj" fmla="val 25000"/>
            </a:avLst>
          </a:prstGeom>
          <a:solidFill>
            <a:srgbClr val="E8551F"/>
          </a:solidFill>
          <a:ln w="12700">
            <a:solidFill>
              <a:srgbClr val="E8551F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804672" y="3749040"/>
            <a:ext cx="32918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1300" dirty="0"/>
          </a:p>
        </p:txBody>
      </p:sp>
      <p:sp>
        <p:nvSpPr>
          <p:cNvPr id="8" name="Text 6"/>
          <p:cNvSpPr/>
          <p:nvPr/>
        </p:nvSpPr>
        <p:spPr>
          <a:xfrm>
            <a:off x="804672" y="4187952"/>
            <a:ext cx="2962656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Customer guide</a:t>
            </a:r>
            <a:endParaRPr lang="en-US" sz="1350" dirty="0"/>
          </a:p>
        </p:txBody>
      </p:sp>
      <p:sp>
        <p:nvSpPr>
          <p:cNvPr id="9" name="Text 7"/>
          <p:cNvSpPr/>
          <p:nvPr/>
        </p:nvSpPr>
        <p:spPr>
          <a:xfrm>
            <a:off x="804672" y="4498848"/>
            <a:ext cx="2962656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300"/>
              </a:lnSpc>
              <a:buNone/>
            </a:pPr>
            <a:r>
              <a:rPr lang="en-US" sz="1050" dirty="0">
                <a:solidFill>
                  <a:srgbClr val="B4B7B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Install, configure, all 26 commands, playbooks, validation and troubleshooting — Word and PDF.</a:t>
            </a:r>
            <a:endParaRPr lang="en-US" sz="1050" dirty="0"/>
          </a:p>
        </p:txBody>
      </p:sp>
      <p:sp>
        <p:nvSpPr>
          <p:cNvPr id="10" name="Shape 8"/>
          <p:cNvSpPr/>
          <p:nvPr/>
        </p:nvSpPr>
        <p:spPr>
          <a:xfrm>
            <a:off x="4343400" y="3520440"/>
            <a:ext cx="3474720" cy="1691640"/>
          </a:xfrm>
          <a:prstGeom prst="roundRect">
            <a:avLst>
              <a:gd name="adj" fmla="val 2703"/>
            </a:avLst>
          </a:prstGeom>
          <a:solidFill>
            <a:srgbClr val="15171B"/>
          </a:solidFill>
          <a:ln w="12700">
            <a:solidFill>
              <a:srgbClr val="15171B"/>
            </a:solidFill>
            <a:prstDash val="solid"/>
          </a:ln>
        </p:spPr>
      </p:sp>
      <p:sp>
        <p:nvSpPr>
          <p:cNvPr id="11" name="Shape 9"/>
          <p:cNvSpPr/>
          <p:nvPr/>
        </p:nvSpPr>
        <p:spPr>
          <a:xfrm>
            <a:off x="4599432" y="3749040"/>
            <a:ext cx="329184" cy="329184"/>
          </a:xfrm>
          <a:prstGeom prst="roundRect">
            <a:avLst>
              <a:gd name="adj" fmla="val 25000"/>
            </a:avLst>
          </a:prstGeom>
          <a:solidFill>
            <a:srgbClr val="22D3EE"/>
          </a:solidFill>
          <a:ln w="12700">
            <a:solidFill>
              <a:srgbClr val="22D3EE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4599432" y="3749040"/>
            <a:ext cx="32918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1300" dirty="0"/>
          </a:p>
        </p:txBody>
      </p:sp>
      <p:sp>
        <p:nvSpPr>
          <p:cNvPr id="13" name="Text 11"/>
          <p:cNvSpPr/>
          <p:nvPr/>
        </p:nvSpPr>
        <p:spPr>
          <a:xfrm>
            <a:off x="4599432" y="4187952"/>
            <a:ext cx="2962656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Playbooks reference</a:t>
            </a:r>
            <a:endParaRPr lang="en-US" sz="1350" dirty="0"/>
          </a:p>
        </p:txBody>
      </p:sp>
      <p:sp>
        <p:nvSpPr>
          <p:cNvPr id="14" name="Text 12"/>
          <p:cNvSpPr/>
          <p:nvPr/>
        </p:nvSpPr>
        <p:spPr>
          <a:xfrm>
            <a:off x="4599432" y="4498848"/>
            <a:ext cx="2962656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300"/>
              </a:lnSpc>
              <a:buNone/>
            </a:pPr>
            <a:r>
              <a:rPr lang="en-US" sz="1050" dirty="0">
                <a:solidFill>
                  <a:srgbClr val="B4B7B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Architecture and configuration for both playbook suites.</a:t>
            </a:r>
            <a:endParaRPr lang="en-US" sz="1050" dirty="0"/>
          </a:p>
        </p:txBody>
      </p:sp>
      <p:sp>
        <p:nvSpPr>
          <p:cNvPr id="15" name="Shape 13"/>
          <p:cNvSpPr/>
          <p:nvPr/>
        </p:nvSpPr>
        <p:spPr>
          <a:xfrm>
            <a:off x="8138160" y="3520440"/>
            <a:ext cx="3474720" cy="1691640"/>
          </a:xfrm>
          <a:prstGeom prst="roundRect">
            <a:avLst>
              <a:gd name="adj" fmla="val 2703"/>
            </a:avLst>
          </a:prstGeom>
          <a:solidFill>
            <a:srgbClr val="15171B"/>
          </a:solidFill>
          <a:ln w="12700">
            <a:solidFill>
              <a:srgbClr val="15171B"/>
            </a:solidFill>
            <a:prstDash val="solid"/>
          </a:ln>
        </p:spPr>
      </p:sp>
      <p:sp>
        <p:nvSpPr>
          <p:cNvPr id="16" name="Shape 14"/>
          <p:cNvSpPr/>
          <p:nvPr/>
        </p:nvSpPr>
        <p:spPr>
          <a:xfrm>
            <a:off x="8394192" y="3749040"/>
            <a:ext cx="329184" cy="329184"/>
          </a:xfrm>
          <a:prstGeom prst="roundRect">
            <a:avLst>
              <a:gd name="adj" fmla="val 25000"/>
            </a:avLst>
          </a:prstGeom>
          <a:solidFill>
            <a:srgbClr val="E8551F"/>
          </a:solidFill>
          <a:ln w="12700">
            <a:solidFill>
              <a:srgbClr val="E8551F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8394192" y="3749040"/>
            <a:ext cx="32918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8394192" y="4187952"/>
            <a:ext cx="2962656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Pack repository</a:t>
            </a:r>
            <a:endParaRPr lang="en-US" sz="1350" dirty="0"/>
          </a:p>
        </p:txBody>
      </p:sp>
      <p:sp>
        <p:nvSpPr>
          <p:cNvPr id="19" name="Text 17"/>
          <p:cNvSpPr/>
          <p:nvPr/>
        </p:nvSpPr>
        <p:spPr>
          <a:xfrm>
            <a:off x="8394192" y="4498848"/>
            <a:ext cx="2962656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300"/>
              </a:lnSpc>
              <a:buNone/>
            </a:pPr>
            <a:r>
              <a:rPr lang="en-US" sz="1050" dirty="0">
                <a:solidFill>
                  <a:srgbClr val="B4B7B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Source for the integration, rules, dashboard and playbooks.</a:t>
            </a:r>
            <a:endParaRPr lang="en-US" sz="1050" dirty="0"/>
          </a:p>
        </p:txBody>
      </p:sp>
      <p:sp>
        <p:nvSpPr>
          <p:cNvPr id="20" name="Text 18"/>
          <p:cNvSpPr/>
          <p:nvPr/>
        </p:nvSpPr>
        <p:spPr>
          <a:xfrm>
            <a:off x="548640" y="5806440"/>
            <a:ext cx="110642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6E747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KOI content pack  ·  Cortex XSIAM</a:t>
            </a:r>
            <a:endParaRPr lang="en-US" sz="11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12</Slides>
  <Notes>12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12</vt:i4>
      </vt:variant>
    </vt:vector>
  </HeadingPairs>
  <TitlesOfParts>
    <vt:vector size="15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KOI Content Pack — Overview</dc:title>
  <dc:subject>PptxGenJS Presentation</dc:subject>
  <dc:creator>Cortex XSIAM</dc:creator>
  <cp:lastModifiedBy>Cortex XSIAM</cp:lastModifiedBy>
  <cp:revision>1</cp:revision>
  <dcterms:created xsi:type="dcterms:W3CDTF">2026-07-20T08:48:21Z</dcterms:created>
  <dcterms:modified xsi:type="dcterms:W3CDTF">2026-07-20T08:48:21Z</dcterms:modified>
</cp:coreProperties>
</file>